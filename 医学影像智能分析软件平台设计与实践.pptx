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66" autoAdjust="0"/>
    <p:restoredTop sz="94660"/>
  </p:normalViewPr>
  <p:slideViewPr>
    <p:cSldViewPr snapToGrid="0">
      <p:cViewPr>
        <p:scale>
          <a:sx n="100" d="100"/>
          <a:sy n="100" d="100"/>
        </p:scale>
        <p:origin x="723" y="78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大家好，欢迎来到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《</a:t>
            </a:r>
            <a:r>
              <a:rPr lang="zh-CN" altLang="zh-CN" sz="1800" kern="100" dirty="0">
                <a:solidFill>
                  <a:srgbClr val="222222"/>
                </a:solidFill>
                <a:effectLst/>
                <a:ea typeface="仿宋" panose="02010609060101010101" pitchFamily="49" charset="-122"/>
                <a:cs typeface="Arial" panose="020B0604020202020204" pitchFamily="34" charset="0"/>
              </a:rPr>
              <a:t>医学影像智能分析软件平台设计与实践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》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课程。本课程将带领大家深入探索如何利用C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++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和MITK平台，结合前沿的AI算法，开发专业的医学影像分析软件。我们将从理论基础到实际开发，全面提升大家的工程能力和创新思维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四个部分。首先，我们将明确本课程的教学要求，包括知识、能力和素养三个维度。接着，我会详细介绍四大教学模块的具体内容。之后，是具体的教学计划安排。最后，我们将了解课程的考核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首先，我们来看第一部分：教学要求。本课程遵循“理论与应用并重、基础与前沿结合”的原则，从知识、能力、素养三个层面提出了明确的培养目标。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知识掌握层面，我们将围绕三大核心展开。首先是C++编程能力，重点是面向对象、STL、智能指针和CMake。其次是MITK平台知识，包括其设计哲学、核心数据模型和插件系统。最后是AI算法原理，涵盖U-Net、CNN以及影像组学等关键技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知识，我们更注重能力的培养。这包括在MITK中进行二次开发的能力、将AI算法集成到软件中的能力，以及专业的调试与优化能力。同时，我们强调工程素养，要求大家编写规范的代码，并树立正确的伦理意识，确保技术应用的安全性和合规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接下来，我们详细了解一下课程的四大核心教学模块。这些内容将构成我们整个学期学习的主体，共计32学时。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块一和模块二是基础。模块一将夯实大家的C++编程能力，并介绍医学影像数据的基础知识，如DICOM标准和CT值。模块二将深入讲解MITK平台的架构，包括其核心数据结构、插件系统以及交互渲染机制，为后续开发打下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块三和模块四是课程的核心和进阶部分。模块三将带领大家亲手开发三个AI辅助功能插件，涵盖分割、分类和量化计算，这是本课程的重点实践环节。模块四则关注软件的质量与性能，学习如何进行有效的测试和性能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了解了教学内容后，我们来看一下具体的教学计划。这张表格清晰地展示了每节课的教学内容、形式以及相应的实践环节。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教学计划的节选。我们可以看到，课程安排循序渐进，从基础环境配置开始，到C++和MITK的核心知识，再到三个核心插件的开发，最后以测试优化和期末答辩收尾。每个知识点都配有相应的实践环节，确保大家学以致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最后，我们来了解一下本课程的考核办法。我们采用过程性评价与结果性评价相结合的多元化考核体系，旨在全面考察大家的实践能力与创新思维。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成绩由过程性评价和结果性评价两部分组成，各占50%。过程性评价包括平时表现和三次关键的实验报告。结果性评价则包括项目设计方案和最终的综合实践报告。大家可以看到，实验报告的评分标准非常注重代码规范性和功能实现的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终的综合实践报告是本课程的重头戏。要求大家以小组为单位，整合所学知识，完成一个完整的AI医学影像分析案例。报告需要结构完整，逻辑清晰，并包含详细的实验结果与讨论。这不仅是对大家学习成果的检验，更是一次宝贵的项目开发经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我的介绍到此结束。希望通过本课程，大家都能成为一名优秀的医学影像AI工程师。现在是问答环节，欢迎大家提问。感谢大家的聆听！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2.jpe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25.jpe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3" Type="http://schemas.openxmlformats.org/officeDocument/2006/relationships/image" Target="../media/image2.jpeg"/><Relationship Id="rId7" Type="http://schemas.openxmlformats.org/officeDocument/2006/relationships/image" Target="../media/image27.jpe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jpeg"/><Relationship Id="rId11" Type="http://schemas.openxmlformats.org/officeDocument/2006/relationships/image" Target="../media/image31.svg"/><Relationship Id="rId5" Type="http://schemas.openxmlformats.org/officeDocument/2006/relationships/image" Target="../media/image21.svg"/><Relationship Id="rId10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jpe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Relationship Id="rId9" Type="http://schemas.openxmlformats.org/officeDocument/2006/relationships/image" Target="../media/image3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jpe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4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医学影像</a:t>
            </a:r>
            <a:r>
              <a:rPr lang="zh-CN" alt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</a:t>
            </a: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分析</a:t>
            </a:r>
            <a:r>
              <a:rPr lang="zh-CN" alt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软件</a:t>
            </a: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r>
              <a:rPr lang="zh-CN" alt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设计与实践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461000" y="4191000"/>
            <a:ext cx="1270000" cy="381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8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课程</a:t>
            </a:r>
            <a:r>
              <a:rPr lang="zh-CN" altLang="en-US" sz="18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</a:t>
            </a:r>
            <a:r>
              <a:rPr lang="en-US" sz="18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zh-CN" altLang="en-US" sz="18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***、***</a:t>
            </a:r>
            <a:r>
              <a:rPr lang="en-US" sz="18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2026年春季学期 | </a:t>
            </a:r>
            <a:r>
              <a:rPr lang="zh-CN" alt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创新课堂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905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095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0574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教学要求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795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984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聚焦知识掌握、能力提升与素养培育三个核心维度，构建全方位、多层次的人才培养目标体系，确保理论与实践并重发展。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1905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13500" y="1905000"/>
            <a:ext cx="76200" cy="1905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2095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29500" y="20574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教学内容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731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731000" y="2984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精心设计四大核心教学模块，整合前沿理论与经典案例，共计32学时，形成结构完整、逻辑严密且循序渐进的课程知识体系。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" y="4508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78000" y="44704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教学计划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79509" y="520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39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科学规划理论授课进度与实践操作环节，通过阶段性任务与专题研讨，保障教学过程的连贯性与实效性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413500" y="4318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13500" y="431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1000" y="45085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29500" y="44704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考核办法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731009" y="520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731000" y="539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采用过程性评价与结果性评价相结合的多元化考核方式，综合课堂表现、实践作业与期末成果，全面客观评定学习成效。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016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48D1CC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教学要求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55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Knowledge, Ability and Literacy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4445000"/>
            <a:ext cx="1524000" cy="381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5080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5080000"/>
            <a:ext cx="76200" cy="1270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70000" y="5207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夯实知识基础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构建系统的学科理论框架，掌握核心概念与前沿知识，筑牢专业发展根基。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5080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5080000"/>
            <a:ext cx="76200" cy="1270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99000" y="5207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提升综合能力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强化实践应用与创新思维，培养解决复杂问题的能力，实现知行合一的转化。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874000" y="5080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874000" y="5080000"/>
            <a:ext cx="76200" cy="1270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5207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涵养核心素养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塑造科学精神与人文情怀，培育终身学习的意识，达成全面发展的育人目标。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教学要求：知识掌握层面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8D1CC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450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3571" b="3571"/>
          <a:stretch>
            <a:fillRect/>
          </a:stretch>
        </p:blipFill>
        <p:spPr>
          <a:xfrm>
            <a:off x="952500" y="1905000"/>
            <a:ext cx="1397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540000" y="1968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C++语言</a:t>
            </a:r>
            <a:b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编程能力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952513" y="3549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89000" y="3810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核心基础：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深入掌握面向对象的封装、继承与多态特性；熟练运用STL容器、迭代器与算法库。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5080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工程实践：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理解智能指针(unique_ptr/shared_ptr)的资源管理机制，掌握CMake跨平台构建工具的配置与使用。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1651000"/>
            <a:ext cx="3429000" cy="450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81500" y="1651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 l="15733" r="15733"/>
          <a:stretch>
            <a:fillRect/>
          </a:stretch>
        </p:blipFill>
        <p:spPr>
          <a:xfrm>
            <a:off x="4572000" y="1905000"/>
            <a:ext cx="1397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096000" y="1968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MITK平台</a:t>
            </a:r>
            <a:b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323">
            <a:off x="4572013" y="3549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08500" y="3810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架构与模型：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理解MITK对VTK/ITK的统一封装哲学，掌握mitk::Image、DataNode与DataStorage的核心数据关系。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08500" y="5080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开发与应用：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熟悉BlueBerry微服务插件架构及生成器，掌握Segmentation Framework医学图像分割工具的底层机制。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01000" y="1651000"/>
            <a:ext cx="3429000" cy="450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001000" y="1651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rcRect l="24546" r="24546"/>
          <a:stretch>
            <a:fillRect/>
          </a:stretch>
        </p:blipFill>
        <p:spPr>
          <a:xfrm>
            <a:off x="8191500" y="1905000"/>
            <a:ext cx="1397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9715500" y="1968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AI算法</a:t>
            </a:r>
            <a:b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323">
            <a:off x="8191513" y="3549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128000" y="3810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模型应用：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深入理解U-Net在医学图像分割中的网络结构，掌握CNN在病灶分类任务中的特征提取与分类机制。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128000" y="5080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交叉融合：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掌握影像组学的CT表型量化分析方法，熟悉CT值(HU)定义与窗宽窗位技术对算法预处理的影响。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教学要求：能力培养与工程素养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8D1CC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796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二次开发能力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深入掌握MITK框架架构，独立编写功能插件并集成Qt可视化界面，理解医学影像软件模块化开发的核心逻辑，具备从需求分析到功能实现的完整开发能力。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619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5306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算法集成能力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攻克AI模型落地难点，将ONNX、LibTorch格式的预训练模型无缝集成至C++工程中，实现Python算法后端与C++应用前端的高效数据桥接与交互协同。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080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27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51816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调试与优化能力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熟练运用GDB调试程序逻辑，借助Valgrind分析内存问题；深入理解多线程并发处理机制，掌握内存管理与软件性能调优的关键工程策略。</a:t>
            </a:r>
          </a:p>
        </p:txBody>
      </p:sp>
      <p:cxnSp>
        <p:nvCxnSpPr>
          <p:cNvPr id="14" name="Connector 14"/>
          <p:cNvCxnSpPr/>
          <p:nvPr/>
        </p:nvCxnSpPr>
        <p:spPr>
          <a:xfrm rot="5390581">
            <a:off x="4032250" y="4089409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1778000"/>
            <a:ext cx="482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94500" y="1968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66000" y="1879600"/>
            <a:ext cx="3937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代码规范：工业级开发标准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严格遵循MITK社区编码风格，编写高可读性、高复用性的工业级代码。养成规范的注释习惯与完善的技术文档撰写能力，建立工程化、标准化的软件开发思维模式。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604000" y="3810000"/>
            <a:ext cx="482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94500" y="4000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366000" y="3911600"/>
            <a:ext cx="3937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伦理意识：技术向善的基石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明确AI在医疗场景中“辅助工具”的定位，绝不替代临床决策。强化患者数据隐私保护意识，树立严谨的临床安全责任意识，确保技术应用始终符合伦理规范与人文关怀。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604000" y="5842000"/>
            <a:ext cx="2349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rcRect l="11492" r="11492"/>
          <a:stretch>
            <a:fillRect/>
          </a:stretch>
        </p:blipFill>
        <p:spPr>
          <a:xfrm>
            <a:off x="6731000" y="5943600"/>
            <a:ext cx="6350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7493000" y="59055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CMake构建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跨平台编译工具链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080500" y="5842000"/>
            <a:ext cx="2349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5"/>
          <a:srcRect l="18750" r="18750"/>
          <a:stretch>
            <a:fillRect/>
          </a:stretch>
        </p:blipFill>
        <p:spPr>
          <a:xfrm>
            <a:off x="9207500" y="5994400"/>
            <a:ext cx="7620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10033000" y="59055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Qt 框架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C++ 图形界面开发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01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48D1CC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教学内容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55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5555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FOUR CORE MODULES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4445000"/>
            <a:ext cx="1270000" cy="50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5080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课程聚焦四大核心知识模块，构建完整的学习体系，共计32学时。内容涵盖理论基础、实践应用、创新思维与项目落地，旨在全方位提升学习者的综合能力与专业素养。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教学内容：模块一 &amp; 二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90708">
            <a:off x="3746500" y="3867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524000"/>
            <a:ext cx="5080000" cy="508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76200" cy="508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15240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/ C++与医学影像基础 (6学时)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413000"/>
            <a:ext cx="508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603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25654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C++核心进阶 (4学时)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952509" y="310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952500" y="32004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深入掌握智能指针、STL深度应用与泛型编程，熟练运用Lambda表达式简化代码，为医学影像处理提供高效、安全的编程基础。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l="7493" r="7493"/>
          <a:stretch>
            <a:fillRect/>
          </a:stretch>
        </p:blipFill>
        <p:spPr>
          <a:xfrm>
            <a:off x="762000" y="4445000"/>
            <a:ext cx="1714500" cy="1587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 l="20468" r="20468"/>
          <a:stretch>
            <a:fillRect/>
          </a:stretch>
        </p:blipFill>
        <p:spPr>
          <a:xfrm>
            <a:off x="2667000" y="4445000"/>
            <a:ext cx="1714500" cy="1587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4572000" y="4445000"/>
            <a:ext cx="1270000" cy="1587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635500" y="4572000"/>
            <a:ext cx="1143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医学影像基础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解析DICOM标准、CT值物理意义，掌握窗宽窗位技术与常见影像格式(NIFTI/NRRD)。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1524000"/>
            <a:ext cx="5080000" cy="508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350000" y="1524000"/>
            <a:ext cx="76200" cy="508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540500" y="15240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/ MITK平台架构 (8学时)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24130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2603500"/>
            <a:ext cx="330200" cy="330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25654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MITK整体框架 (2学时)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291">
            <a:off x="6540509" y="304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540500" y="311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理解MITK“以数据为中心”的设计哲学，掌握Image、DataNode、DataStorage三大核心数据结构的关系与使用。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38100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4000500"/>
            <a:ext cx="330200" cy="330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985000" y="39624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插件与微服务架构 (3学时)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291">
            <a:off x="6540509" y="443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540500" y="4508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基于CppMicroServices实现模块化开发，熟练使用插件生成器，掌握View视图与Activator插件生命周期管理。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51435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0500" y="5270500"/>
            <a:ext cx="330200" cy="3302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985000" y="52324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交互与可视化渲染机制 (3学时)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9291">
            <a:off x="6540509" y="570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6540500" y="57531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深入Tool交互框架，掌握MPR、体渲染等可视化技术及分割图层管理，实现高效的医学影像交互分析。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教学内容：模块三 &amp; 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48D1CC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5875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6969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模块三：AI辅助功能插件开发 (14学时) —— 核心实践环节，从框架集成到功能落地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603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AI辅助分割 (5学时) —— 推理框架集成与实现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基于U-Net架构，集成ONNX Runtime与LibTorch推理框架。完成界面开发、模型加载、数据桥接与分割后处理，掌握医疗影像语义分割的端到端开发流程。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4254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AI辅助分类 (4学时) —— CNN模型应用与可视化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基于CNN实现病灶ROI自动裁剪与分类模型调用，集成Grad-CAM热力图技术，直观可视化模型决策的关注区域，提升诊断结果的可解释性与可信度。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9768" b="9768"/>
          <a:stretch>
            <a:fillRect/>
          </a:stretch>
        </p:blipFill>
        <p:spPr>
          <a:xfrm>
            <a:off x="6350000" y="2540000"/>
            <a:ext cx="2603500" cy="1397000"/>
          </a:xfrm>
          <a:prstGeom prst="rect">
            <a:avLst/>
          </a:prstGeom>
          <a:noFill/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 l="14442" r="14442"/>
          <a:stretch>
            <a:fillRect/>
          </a:stretch>
        </p:blipFill>
        <p:spPr>
          <a:xfrm>
            <a:off x="9080500" y="2540000"/>
            <a:ext cx="2603500" cy="1397000"/>
          </a:xfrm>
          <a:prstGeom prst="rect">
            <a:avLst/>
          </a:prstGeom>
          <a:noFill/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350000" y="4191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350000" y="419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540500" y="4254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CT表型量化计算 (4学时) —— 影像组学特征提取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基于影像组学方法，自动提取病灶的一阶统计特征与二阶纹理特征，结合临床指标生成结构化量化分析报告，为医生提供客观、精准的量化诊断依据。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778500"/>
            <a:ext cx="52070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" y="59182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33500" y="5842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模块四 · 测试策略 (2学时)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采用Google Test进行单元测试，覆盖核心算法与业务逻辑；实施集成测试与界面渲染测试，确保插件功能稳定可靠。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350000" y="5778500"/>
            <a:ext cx="53340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59182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21500" y="58420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模块四 · 性能优化 (2学时)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通过多线程并行处理提升吞吐量，优化内存分配减少泄漏；利用ONNX Runtime GPU加速推理，大幅降低AI模型的运行延迟。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8D1C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教学计划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7188">
            <a:off x="4826016" y="5454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8D1C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0505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TEACHING SCHEDULE — 科学规划每一步，让学习更高效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教学计划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8D1CC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5334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762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714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课程导论与开发环境配置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讲授+实操 · 2学时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实践环节：编译第一个MITK Workbench，掌握开发环境搭建与基础工程配置流程。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334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2794000"/>
            <a:ext cx="762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2857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C++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与MITK数据结构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讲授+实验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· 4学时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实践环节：编写图像像素管理类，完成DICOM</a:t>
            </a:r>
            <a:r>
              <a:rPr 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2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NIFTI文件加载程序，理解DataStorage核心架构</a:t>
            </a:r>
            <a:r>
              <a:rPr 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334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3937000"/>
            <a:ext cx="762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4000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插件开发基础与期中汇报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讲授+研讨 · 4学时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实践环节：创建Hello World插件，搭建分类插件界面框架，分组展示阶段性项目成果。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5334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762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5143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分割插件与量化计算插件开发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讲授+实验 · 4学时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实践环节：实现图像格式互转工具函数，开发CT值直方图统计及影像组学特征提取插件。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477000" y="1651000"/>
            <a:ext cx="5334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77000" y="1651000"/>
            <a:ext cx="762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731000" y="1714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05. 测试调试与工程质量保障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讲授+实验 · 2学时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实践环节：利用Google Test编写分割Dice系数计算的单元测试，使用GDB/Valgrind排查内存问题。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477000" y="2794000"/>
            <a:ext cx="5334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77000" y="2794000"/>
            <a:ext cx="762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731000" y="2857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06. 深度学习模型集成进阶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专题研讨 · 2学时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实践环节：探讨ONNX模型在MITK插件中的部署流程，优化分类与分割模型的推理效率与精度。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477000" y="3937000"/>
            <a:ext cx="5334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77000" y="3937000"/>
            <a:ext cx="762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731000" y="4000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07. 系统集成与功能联调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实战演练 · 2学时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实践环节：整合分类、分割、量化三大核心插件，解决模块间通信与数据流转的关键问题。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77000" y="5080000"/>
            <a:ext cx="5334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477000" y="5080000"/>
            <a:ext cx="762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731000" y="5143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08. 期末答辩与成果展示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综合答辩 · 4学时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实践环节：现场演示完整插件系统功能，提交项目源码、技术报告，进行综合评价与总结。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0" b="1" i="0" u="none" strike="noStrike">
                <a:solidFill>
                  <a:srgbClr val="48D1CC">
                    <a:alpha val="2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考核办法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Assessment Methods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6159500"/>
            <a:ext cx="1016000" cy="50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考核办法：成绩构成与实验报告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过程性评价 (占比 50%)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27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413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平时表现 10%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包含课程出勤、课堂互动参与度及Git版本管理工具的使用规范性，注重学习过程的积累。</a:t>
            </a:r>
          </a:p>
        </p:txBody>
      </p:sp>
      <p:cxnSp>
        <p:nvCxnSpPr>
          <p:cNvPr id="9" name="Connector 9"/>
          <p:cNvCxnSpPr/>
          <p:nvPr/>
        </p:nvCxnSpPr>
        <p:spPr>
          <a:xfrm rot="5361804">
            <a:off x="2794000" y="2978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492500" y="2413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三次实验报告 40%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围绕分类、分割、量化计算三个核心实验展开，考察技术落地能力与文档撰写的完整性。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76200" cy="2095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419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结果性评价 (占比 50%)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1016009" y="469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4826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方案设计 10%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针对课程项目的整体设计方案文档，重点考察方案的可行性、创新性与逻辑完整性。</a:t>
            </a:r>
          </a:p>
        </p:txBody>
      </p:sp>
      <p:cxnSp>
        <p:nvCxnSpPr>
          <p:cNvPr id="16" name="Connector 16"/>
          <p:cNvCxnSpPr/>
          <p:nvPr/>
        </p:nvCxnSpPr>
        <p:spPr>
          <a:xfrm rot="5361804">
            <a:off x="2794000" y="5391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492500" y="4826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综合实践报告 40%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包含完整的项目开发流程文档、功能演示成果及总结反思，是对课程知识综合应用的最终检验。</a:t>
            </a:r>
          </a:p>
        </p:txBody>
      </p:sp>
      <p:cxnSp>
        <p:nvCxnSpPr>
          <p:cNvPr id="18" name="Connector 18"/>
          <p:cNvCxnSpPr/>
          <p:nvPr/>
        </p:nvCxnSpPr>
        <p:spPr>
          <a:xfrm rot="5390316">
            <a:off x="3905250" y="3898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350000" y="1651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18034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1778000"/>
            <a:ext cx="4254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实验一：分类插件开发 (占比 10%)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65405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540500" y="23495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重点考察UI设计合理性(30%)、模型推理准确率(40%)及代码结构规范性(30%)，确保插件功能可用且交互友好。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3302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34544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85000" y="3429000"/>
            <a:ext cx="4254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实验二：分割插件开发 (占比 20%)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291">
            <a:off x="6540509" y="386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540500" y="40005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核心评分项为代码规范性(40%)，其次关注分割处理速度与交互流畅度(30%)，以及算法在复杂场景下的鲁棒性(30%)。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0" y="4953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51054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985000" y="5080000"/>
            <a:ext cx="4254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实验三：图像量化计算 (占比 10%)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291">
            <a:off x="6540509" y="5518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540500" y="56515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评价维度包括代码规范性(30%)、统计学指标计算的正确性(30%)，以及数据导出格式的可读性与友好度(40%)。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考核办法：综合实践报告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0313" r="10313"/>
          <a:stretch>
            <a:fillRect/>
          </a:stretch>
        </p:blipFill>
        <p:spPr>
          <a:xfrm>
            <a:off x="762000" y="1778000"/>
            <a:ext cx="2603500" cy="2159000"/>
          </a:xfrm>
          <a:prstGeom prst="rect">
            <a:avLst/>
          </a:prstGeom>
          <a:noFill/>
          <a:ln w="25400" cap="flat" cmpd="sng">
            <a:solidFill>
              <a:srgbClr val="48D1CC">
                <a:alpha val="60000"/>
              </a:srgbClr>
            </a:solidFill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l="5014" r="5014"/>
          <a:stretch>
            <a:fillRect/>
          </a:stretch>
        </p:blipFill>
        <p:spPr>
          <a:xfrm>
            <a:off x="3619500" y="1778000"/>
            <a:ext cx="2603500" cy="2159000"/>
          </a:xfrm>
          <a:prstGeom prst="rect">
            <a:avLst/>
          </a:prstGeom>
          <a:noFill/>
          <a:ln w="25400" cap="flat" cmpd="sng">
            <a:solidFill>
              <a:srgbClr val="48D1CC">
                <a:alpha val="6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318000"/>
            <a:ext cx="5461000" cy="1778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4508500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通过整合CT影像数据处理、AI模型训练与结果分析，实现从病灶检出到量化评估的全流程闭环。左图展示了典型的肺部CT扫描影像与Grad-CAM热力图分析，直观呈现AI模型对病灶区域的关注与识别能力。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89889">
            <a:off x="4445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858000" y="1778000"/>
            <a:ext cx="4572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85800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048500" y="18415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实践形式与成果提交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以小组为单位协作完成，最终提交完整的项目报告，附件中需包含核心算法源码或关键代码片段，确保成果可复现、可验证。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858000" y="3111500"/>
            <a:ext cx="4572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858000" y="3111500"/>
            <a:ext cx="76200" cy="1206500"/>
          </a:xfrm>
          <a:prstGeom prst="roundRect">
            <a:avLst>
              <a:gd name="adj" fmla="val 0"/>
            </a:avLst>
          </a:prstGeom>
          <a:solidFill>
            <a:srgbClr val="48D1C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048500" y="3175000"/>
            <a:ext cx="425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选题方向与核心要求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结合CT表型量化与分类/分割技术，完成如“肝囊肿/肺结节自动检出-分割-分类-量化”的综合案例，必须涵盖数据输入、AI处理、结果可视化及报告生成的全流程。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858000" y="4572000"/>
            <a:ext cx="4572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0" y="4572000"/>
            <a:ext cx="76200" cy="1587500"/>
          </a:xfrm>
          <a:prstGeom prst="roundRect">
            <a:avLst>
              <a:gd name="adj" fmla="val 0"/>
            </a:avLst>
          </a:prstGeom>
          <a:solidFill>
            <a:srgbClr val="48D1C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048500" y="4635500"/>
            <a:ext cx="4254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标准报告结构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包含问题背景与意义、文献综述、系统设计与实现、实验结果（含性能对比）、总结与展望五大核心章节，确保逻辑严密，论证充分。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064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· 欢迎提问交流，共同探索医学影像AI的无限可能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1243</Words>
  <Application>Microsoft Office PowerPoint</Application>
  <PresentationFormat>宽屏</PresentationFormat>
  <Paragraphs>162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***</dc:creator>
  <cp:lastModifiedBy>***</cp:lastModifiedBy>
  <cp:revision>5</cp:revision>
  <dcterms:modified xsi:type="dcterms:W3CDTF">2026-06-30T23:48:41Z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{"Label":"1","ContentProducer":"001191110102MACQD9K64010000","ProduceID":"7657337428977912792","ReservedCode1":"","ContentPropagator":"","PropagateID":"","ReservedCode2":""}</vt:lpwstr>
  </property>
</Properties>
</file>