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6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981" y="133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本次《Python、NumPy与PyTorch简明知识点教程》。本教程旨在为希望入门数据科学、机器学习和深度学习的初学者提供一份全面而简明的学习材料。我们将从Python基础语法开始，逐步深入到科学计算核心库NumPy，最后掌握强大的深度学习框架PyTorch。希望通过这次学习，大家能快速掌握这些强大的工具，开启数据科学之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教程将分为四个主要部分。首先，我们将回顾Python的编程基础，包括环境搭建和核心语法。接着，我们会深入学习NumPy库，掌握科学计算的核心工具。然后，我们将进入深度学习领域，学习PyTorch框架的核心概念和使用方法。最后，通过一个综合实战案例——线性回归，将前面学到的知识融会贯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正式进入第一部分：Python编程基础。Python是一门优雅、明确且功能强大的编程语言，其设计哲学强调代码的可读性，是数据科学和人工智能领域最受欢迎的语言之一。本章将帮助大家快速回顾或掌握Python的核心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开始编写代码之前，我们首先需要搭建Python的开发环境。最直接的方式是从Python官网下载安装。但更推荐大家使用Anaconda，它集成了大量科学计算包，可以省去很多配置麻烦。对于开发工具，专业的IDE如PyCharm功能强大，而Jupyter Notebook则非常适合交互式探索和教学演示。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里我们直观地看一下这三个推荐工具的Logo。Anaconda的绿色标识代表着它丰富的生态系统；PyCharm的多彩Logo象征着其强大而全面的功能；Jupyter的橙色图标则体现了其交互式和动态的特性。大家可以根据自己的需求选择合适的工具组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进入Python的基础语法。首先是变量和数据类型。Python的一大特点是动态类型，我们不需要像C++或Java那样声明变量类型。基本类型包括整数、浮点数、字符串和布尔值。更重要的是容器类型，如列表、元组、字典和集合，它们是Python处理数据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来看一些具体的代码示例。这里展示了如何定义不同类型的变量，并使用type()函数查看它们的类型。对于容器类型，我们演示了如何创建列表、元组、字典和集合，并通过索引或键来访问其中的元素。注意集合会自动去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控制流是编程的核心，它决定了代码的执行顺序。Python提供了标准的if-elif-else条件语句来实现分支逻辑。循环方面，for循环非常适合遍历数据集合，而while循环则在满足特定条件时持续运行。此外，break和continue关键字可以更精细地控制循环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一个典型的if-elif-else例子。我们根据分数score的值来判断等级。代码从上到下依次检查条件，一旦找到第一个满足的条件，就执行对应的代码块并结束整个条件判断。这个例子中，85分落在80到90之间，所以输出“良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里展示了`for`和`while`循环的用法。`for`循环非常直观，它逐个取出列表中的元素并执行操作。`while`循环则依赖于一个条件表达式，只要条件为真，就会一直循环下去。这里我们用它来从0数到4。注意在循环体内必须有改变条件的语句，比如`count += 1`，否则会陷入无限循环。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函数是组织代码的核心单元，它将一段逻辑封装起来，实现代码的复用。在Python中，我们用def来定义函数。函数的参数非常灵活，支持普通参数、默认参数，以及强大的可变参数*args和**kwargs，它们允许函数接收任意数量的输入。return语句用于将结果返回给调用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个例子展示了函数的多种用法。`greet`函数有一个默认参数`greeting`，调用时可以省略。我们也展示了如何使用关键字参数来传递值，这样可以不按顺序。`calculate_sum`函数使用了`*args`，它可以接收任意多个数字作为参数，并计算它们的总和，非常灵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接下来我们接触一个更高级的概念：函数式编程。它是一种编程范式，强调使用纯函数和不可变数据。Python虽然不是纯函数式语言，但提供了很多支持函数式编程的特性，比如高阶函数。lambda, map, filter, 和 reduce 是函数式编程中非常常用的工具，它们可以让代码更简洁、更具表达力。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ambda表达式，也叫匿名函数，是创建简单函数的快捷方式。它的语法非常简洁，lambda后面跟参数，冒号后面是返回的表达式。虽然它可以赋值给一个变量像普通函数一样使用，但更常见的用法是作为参数传递给其他函数，比如我们后面会看到的map和fil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map`和`filter`是两个非常实用的高阶函数。`map`就像一个加工厂，把一个函数应用到序列的每一个元素上，产出新的序列。`filter`则像一个筛子，用一个判断函数去检查每个元素，只保留那些返回`True`的元素。它们都返回一个迭代器，通常我们用`list()`将其转换为列表来查看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reduce函数的作用是“归约”或“累积”。它接收一个二元函数和一个序列，然后从左到右依次将函数应用到前一个结果和下一个元素上，最终把整个序列缩减成一个单一的值。比如，我们可以用它来计算一个列表所有元素的乘积或总和。它还可以接受一个初始值，作为计算的起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生成器是Python中一个非常强大且节省内存的特性。想象一下，如果你需要生成一个包含一百万个元素的列表，这会占用大量内存。而生成器则是按需生成元素，用一个生成一个，非常高效。它通过yield关键字实现，使得函数可以“暂停”并返回一个值，下次调用时再从暂停的地方继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个例子定义了一个count_up_to生成器函数，它能生成从1到n的整数。当我们调用count_up_to(3)时，它返回一个生成器对象，函数体并未立即执行。每次调用next()，函数才会执行到yield语句，返回当前的count值并暂停。生成器也是可迭代对象，所以我们可以方便地用for循环来遍历它产生的所有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掌握了Python基础后，我们进入第二部分，学习Python科学计算的基石——NumPy库。NumPy提供了高性能的多维数组对象和一系列用于处理这些数组的工具，是后续学习Pandas、Matplotlib以及深度学习框架的基础。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umPy的核心是`ndarray`对象，即多维数组。与Python的列表不同，`ndarray`要求所有元素类型一致，这使得它在存储和计算上都极为高效。它的向量化运算能力意味着我们可以直接对整个数组进行加减乘除等操作，代码更简洁，运行速度也更快。在使用NumPy之前，我们通常使用`import numpy as np`来导入它。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创建`ndarray`最简单的方法就是使用`np.array()`函数，并传入一个Python列表。如果传入的是嵌套列表，就会创建一个多维数组。除了手动创建，NumPy还提供了很多内置函数来生成特定类型的数组，这在实际应用中更为常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里展示了几个非常有用的创建函数。np.zeros()和np.ones()分别创建指定形状的全零和全一数组。np.eye()用于创建单位矩阵，这在线性代数中非常常用。np.random.rand()则用来生成指定形状的随机数数组，这在初始化模型参数或生成模拟数据时经常用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了解数组的属性至关重要。`ndim`告诉我们数组是几维的。`shape`返回一个元组，表示每个维度的大小，比如(2, 3)代表一个2行3列的二维数组。`size`是数组中元素的总个数。`dtype`则指明了数组中元素的数据类型，比如整数(int64)或浮点数(float64)。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umPy数组最强大的特性之一就是向量化运算。这意味着我们可以像操作单个数字一样操作整个数组。比如，将两个数组相加，NumPy会自动将它们对应位置的元素相加，这在底层是用高度优化的C语言实现的，速度非常快，避免了Python循环的开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来看具体的例子。数组a和b进行加减乘除运算，都是对应元素之间的操作。a * b得到的是元素级的乘积，而不是线性代数中的矩阵乘法，这一点需要特别注意。我们还可以将数组与一个标量（单个数字）进行运算，标量会自动与数组的每个元素进行计算。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访问数组中的元素是另一个核心操作。对于一维数组，索引和切片的用法和Python列表一模一样。对于多维数组，我们需要用逗号来分隔不同维度的索引。例如，对于一个二维数组，arr[i, j]表示第i行第j列的元素。切片操作同样适用，可以用来获取数组的子区域。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这个例子展示了多维数组索引的强大之处。arr[0]获取第一行。arr[:, 1]中，冒号:表示“所有行”，所以这行代码获取了第二列。我们还可以通过切片获取一个子矩阵，比如arr[1:3, 0:2]。最后，NumPy支持非常强大的布尔索引，arr[arr &gt; 5]会返回所有大于5的元素，这在数据筛选中非常有用。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广播是NumPy中一个非常巧妙的特性。它允许我们对形状不完全相同的数组进行运算。NumPy会自动调整较小数组的形状，使其能够与较大的数组进行逐元素操作。这背后遵循着一套严格的规则，核心是从右往左比较维度，并且维度大小要么相等，要么其中一个是1。理解广播机制对于写出高效、简洁的NumPy代码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最常见的广播场景是标量与数组的运算。当我们将一个数组乘以一个标量时，NumPy会自动将这个标量“广播”到整个数组的每个元素上，然后进行乘法运算。这使得代码非常简洁，无需像其他语言那样编写循环。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再看一个稍微复杂的例子。一个(2, 3)的二维数组a和一个(3,)的一维数组b相加。根据广播规则，从右往左看，最后一个维度都是3，是兼容的。NumPy会自动将b复制一份，变成一个(2, 3)的数组，然后再和a相加。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这是一个更复杂的广播例子。数组a的形状是(3, 1)，数组b的形状是(2,)。根据规则，从右往左比较，1和2虽然不相等，但因为其中一个是1，所以它们是兼容的。NumPy会将a的列复制一份，将b的行复制两份，使它们都变成(3, 2)的形状，然后再相加。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umPy不仅用于数值计算，其`linalg`模块也是一个功能强大的线性代工具箱。我们可以轻松地进行矩阵乘法、求解线性方程组、计算矩阵的逆和特征值等操作。这些都是机器学习算法，特别是深度学习中经常用到的数学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矩阵乘法是深度学习中卷积和全连接层计算的基础。在NumPy中，我们可以使用np.dot()函数或者更简洁的@运算符来执行矩阵乘法。需要再次强调的是，*运算符执行的是元素级乘法，不要混淆。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求解线性方程组是另一个常见任务。给定系数矩阵A和结果向量b，np.linalg.solve()函数可以高效地求出未知数向量x。这个例子中，我们求解了一个二元一次方程组，并验证了解的正确性。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计算矩阵的逆和特征值在很多算法中都有应用。np.linalg.inv()用于计算矩阵的逆，我们可以通过将原矩阵与其逆矩阵相乘得到单位矩阵来验证。np.linalg.eig()则返回一个包含特征值和特征向量的元组，特征值和特征向量在主成分分析（PCA）等算法中扮演着关键角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最激动人心的部分——PyTorch深度学习框架。PyTorch是一个基于Python的科学计算包，它不仅可以看作是能使用GPU的NumPy，更是一个提供了最大灵活性和速度的深度学习研究平台。本章将介绍PyTorch的核心概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PyTorch的核心是Tensor，你可以把它想象成一个超级增强版的NumPy数组。它的API设计与NumPy非常相似，所以如果你熟悉NumPy，上手PyTorch会非常快。Tensor最大的优势在于两点：一是它可以轻松地在CPU和GPU之间切换，利用GPU的强大算力；二是它内置了自动微分功能，这是实现深度学习模型训练的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创建Tensor的方式与NumPy非常相似。我们可以直接从Python列表或NumPy数组创建。PyTorch也提供了像torch.rand(), torch.ones(), torch.zeros()这样的函数来创建特定类型的张量。这些函数的参数通常是一个表示形状的元组。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Tensor的属性如shape, dtype和device分别告诉我们张量的形状、数据类型以及存储在哪个设备上（CPU或GPU）。索引、切片、拼接和算术运算等操作也几乎和NumPy一样。@运算符同样用于矩阵乘法，*用于元素级乘法。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device`属性是PyTorch中一个非常重要的概念。我们可以通过`.to('cuda')`方法将张量从CPU移动到GPU。`torch.cuda.is_available()`用于检查系统是否有可用的GPU。记住，在进行计算时，所有相关的张量都必须位于同一个设备上，否则会报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PyTorch和NumPy的互操作性非常好。我们可以使用.numpy()方法将Tensor转换为NumPy数组。一个非常重要的点是，这种转换在默认情况下是共享内存的。这意味着，如果你修改了其中一个，另一个也会跟着改变。这在处理数据时需要特别注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反过来，我们也可以使用`torch.from_numpy()`函数将NumPy数组转换为Tensor。同样地，这个新生成的Tensor也与原始的NumPy数组共享内存。这种设计使得数据在两个库之间流转非常高效，无需复制数据。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Autograd是PyTorch的灵魂。它允许我们定义一个复杂的计算过程，然后自动计算其中所有参数的梯度。我们只需要在创建需要求导的张量时设置requires_grad=True，PyTorch就会自动构建一个计算图。当我们在最终的损失值上调用.backward()时，所有相关参数的梯度就会被自动计算出来，这极大地简化了神经网络的训练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我们来看一个简单的例子。首先创建一个requires_grad=True的张量x。然后对它进行一系列运算得到y和z，最后得到标量out。注意，y和z的grad_fn属性都记录了它们是如何被创建的，这构成了计算图的链条。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在最终的标量out上调用.backward()。PyTorch会自动沿着计算图反向传播，计算out相对于x的梯度，并将结果存储在x.grad中。我们手动计算一下导数，可以发现结果和自动求导的结果完全一致，这证明了Autograd的正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PyTorch中，我们通过`nn.Module`来构建神经网络。这是一个面向对象的方法，非常直观。我们需要做的就是定义一个继承自`nn.Module`的类，在`__init__`函数里搭建好网络的结构（也就是层），然后在`forward`函数里告诉PyTorch数据是如何在这些层之间流动的。PyTorch会自动处理反向传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一个经典的LeNet网络的简化版。在__init__中，我们定义了两个卷积层和三个全连接层。在forward方法中，我们定义了数据的流动路径：输入图像经过两次卷积、ReLU激活和池化，然后被展平成一维向量，最后通过三个全连接层得到输出。这个num_flat_features函数用来计算展平后的特征数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图直观地展示了神经网络的结构。数据从左侧的输入层进入，经过中间一个或多个隐藏层的复杂变换，最后从右侧的输出层输出结果。我们代码中定义的卷积层和全连接层，就是在构建这样的网络结构。训练的过程，就是不断调整这些连接上的权重和每个神经元的偏置，使得网络的输出越来越接近真实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模型训练的流程非常标准化。首先，我们需要选择一个损失函数来量化预测的错误程度。然后，选择一个优化器，它知道如何根据梯度来调整模型参数。核心是训练循环，在每一轮循环中，我们都执行前向传播、计算损失、反向传播和参数更新这四个步骤。特别要注意的是，在每次循环开始前必须清空梯度，否则梯度会累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训练流程的代码示例。我们选择了均方误差作为损失函数，随机梯度下降（SGD）作为优化器。在训练循环中，我们首先进行前向传播得到输出，然后计算损失。接着，我们清空梯度，执行反向传播计算新的梯度，最后让优化器更新模型参数。通过不断重复这个过程，模型的损失会逐渐降低，性能越来越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学习之后，让我们通过一个综合实战案例来巩固所学知识。我们将使用NumPy生成和预处理数据，然后使用PyTorch构建、训练和评估一个简单的线性回归模型。这个案例将完整地展示一个机器学习项目的工作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要解决的问题是预测房价。假设房价和面积之间存在线性关系，我们的模型就是一个简单的线性函数。我们的目标就是通过数据学习到这个函数的斜率w和截距b。这是机器学习中最基础也是最重要的一个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首先是数据准备阶段。我们使用NumPy来生成一些模拟数据。我们假设真实的房价公式是`价格 = 2 * 面积 + 3`，并加入一些正态分布的噪声来模拟真实世界的数据。这样我们就有了特征`X_np`和标签`y_np`。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训练模型之前，可视化数据是一个非常好的习惯。通过Matplotlib绘制散点图，我们可以直观地看到面积和价格之间的线性关系。数据点虽然有波动，但整体趋势非常明显，这说明我们选择线性回归是合适的。我们的目标就是找到那条穿过这些点中间的绿色直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需要将NumPy数组转换为PyTorch张量，因为PyTorch的模型只能处理张量。我们使用torch.from_numpy()函数进行转换，并指定数据类型为float。然后，我们检查系统是否有可用的GPU，并将数据张量移动到相应的设备上，为后续的模型训练做好准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现在开始构建模型。对于线性回归，PyTorch已经为我们提供了`nn.Linear`层，它就是一个`y = wx + b`的实现。我们只需要指定输入特征数为1，输出特征数为1。然后，我们选择均方误差作为损失函数，随机梯度下降作为优化器。学习率`lr`是一个重要的超参数，需要根据实际情况调整。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核心的训练循环。我们设定训练1000个周期（epochs）。在每个周期内，我们都执行标准的四步操作：前向传播得到预测值，计算损失，反向传播计算梯度，然后更新参数。我们还记录下每个周期的损失值，以便后续分析模型的训练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训练完成后，我们可以绘制损失函数随时间变化的曲线。一个健康的训练过程应该是损失值持续下降并最终收敛。从图中可以看到，我们的损失值从一个较高的数值快速下降，然后趋于平缓，这说明模型训练得很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训练完成后，我们来评估模型。我们可以从模型中提取出学习到的权重w和偏置b，并与我们设定的真实值进行比较。可以看到，预测值非常接近真实值。然后，我们就可以用这个模型来进行新的预测了，比如预测一个120平米房子的价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将模型拟合出的直线绘制在原始数据上。可以看到，这条红色的直线非常好地代表了数据的趋势。这直观地证明了我们的模型训练是成功的。至此，我们完成了一个从数据生成、模型构建、训练到评估的完整机器学习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方便大家回顾，这里汇总了本次教程中提到的一些核心概念和函数。从Python的基础数据结构，到NumPy的数组操作，再到PyTorch的张量、自动微分和神经网络模块，这些都是数据科学和深度学习领域的基石。希望这个表格能成为大家的速查手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本教程的内容主要参考了Python、NumPy和PyTorch的官方文档和教程，这些是最权威、最全面的学习资源。此外，也借鉴了一些优秀技术社区上的文章。强烈建议大家在课后访问这些链接，进行更深入的学习。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本次教程到此结束，感谢大家的观看。现在是问答环节，如果大家对今天的内容有任何疑问，欢迎随时提出。希望这次教程能帮助大家顺利开启数据科学和深度学习的大门。谢谢！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5.sv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jpeg"/><Relationship Id="rId7" Type="http://schemas.openxmlformats.org/officeDocument/2006/relationships/image" Target="../media/image19.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jpeg"/><Relationship Id="rId7" Type="http://schemas.openxmlformats.org/officeDocument/2006/relationships/image" Target="../media/image25.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29.sv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jpeg"/><Relationship Id="rId7" Type="http://schemas.openxmlformats.org/officeDocument/2006/relationships/image" Target="../media/image33.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 Id="rId9" Type="http://schemas.openxmlformats.org/officeDocument/2006/relationships/image" Target="../media/image35.sv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3" Type="http://schemas.openxmlformats.org/officeDocument/2006/relationships/image" Target="../media/image2.jpeg"/><Relationship Id="rId7" Type="http://schemas.openxmlformats.org/officeDocument/2006/relationships/image" Target="../media/image39.svg"/><Relationship Id="rId12" Type="http://schemas.openxmlformats.org/officeDocument/2006/relationships/image" Target="../media/image44.png"/><Relationship Id="rId17" Type="http://schemas.openxmlformats.org/officeDocument/2006/relationships/image" Target="../media/image49.svg"/><Relationship Id="rId2" Type="http://schemas.openxmlformats.org/officeDocument/2006/relationships/notesSlide" Target="../notesSlides/notesSlide13.xml"/><Relationship Id="rId16" Type="http://schemas.openxmlformats.org/officeDocument/2006/relationships/image" Target="../media/image48.png"/><Relationship Id="rId1" Type="http://schemas.openxmlformats.org/officeDocument/2006/relationships/slideLayout" Target="../slideLayouts/slideLayout12.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5" Type="http://schemas.openxmlformats.org/officeDocument/2006/relationships/image" Target="../media/image4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2.jpeg"/><Relationship Id="rId7" Type="http://schemas.openxmlformats.org/officeDocument/2006/relationships/image" Target="../media/image53.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 Id="rId9" Type="http://schemas.openxmlformats.org/officeDocument/2006/relationships/image" Target="../media/image55.sv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57.svg"/><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2.jpeg"/><Relationship Id="rId7" Type="http://schemas.openxmlformats.org/officeDocument/2006/relationships/image" Target="../media/image61.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60.svg"/><Relationship Id="rId5" Type="http://schemas.openxmlformats.org/officeDocument/2006/relationships/image" Target="../media/image59.png"/><Relationship Id="rId10" Type="http://schemas.openxmlformats.org/officeDocument/2006/relationships/image" Target="../media/image64.svg"/><Relationship Id="rId4" Type="http://schemas.openxmlformats.org/officeDocument/2006/relationships/image" Target="../media/image58.jpeg"/><Relationship Id="rId9" Type="http://schemas.openxmlformats.org/officeDocument/2006/relationships/image" Target="../media/image63.png"/></Relationships>
</file>

<file path=ppt/slides/_rels/slide21.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jpeg"/><Relationship Id="rId7" Type="http://schemas.openxmlformats.org/officeDocument/2006/relationships/image" Target="../media/image68.sv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67.png"/><Relationship Id="rId11" Type="http://schemas.openxmlformats.org/officeDocument/2006/relationships/image" Target="../media/image72.svg"/><Relationship Id="rId5" Type="http://schemas.openxmlformats.org/officeDocument/2006/relationships/image" Target="../media/image66.sv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sv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2.jpeg"/><Relationship Id="rId7" Type="http://schemas.openxmlformats.org/officeDocument/2006/relationships/image" Target="../media/image74.sv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73.png"/><Relationship Id="rId11" Type="http://schemas.openxmlformats.org/officeDocument/2006/relationships/image" Target="../media/image78.svg"/><Relationship Id="rId5" Type="http://schemas.openxmlformats.org/officeDocument/2006/relationships/image" Target="../media/image62.svg"/><Relationship Id="rId10" Type="http://schemas.openxmlformats.org/officeDocument/2006/relationships/image" Target="../media/image77.png"/><Relationship Id="rId4" Type="http://schemas.openxmlformats.org/officeDocument/2006/relationships/image" Target="../media/image61.png"/><Relationship Id="rId9" Type="http://schemas.openxmlformats.org/officeDocument/2006/relationships/image" Target="../media/image76.sv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57.svg"/><Relationship Id="rId4" Type="http://schemas.openxmlformats.org/officeDocument/2006/relationships/image" Target="../media/image56.pn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2.jpeg"/><Relationship Id="rId7" Type="http://schemas.openxmlformats.org/officeDocument/2006/relationships/image" Target="../media/image80.sv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79.png"/><Relationship Id="rId11" Type="http://schemas.openxmlformats.org/officeDocument/2006/relationships/image" Target="../media/image78.svg"/><Relationship Id="rId5" Type="http://schemas.openxmlformats.org/officeDocument/2006/relationships/image" Target="../media/image51.svg"/><Relationship Id="rId10" Type="http://schemas.openxmlformats.org/officeDocument/2006/relationships/image" Target="../media/image77.png"/><Relationship Id="rId4" Type="http://schemas.openxmlformats.org/officeDocument/2006/relationships/image" Target="../media/image50.png"/><Relationship Id="rId9" Type="http://schemas.openxmlformats.org/officeDocument/2006/relationships/image" Target="../media/image82.sv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86.sv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85.png"/><Relationship Id="rId5" Type="http://schemas.openxmlformats.org/officeDocument/2006/relationships/image" Target="../media/image84.svg"/><Relationship Id="rId4" Type="http://schemas.openxmlformats.org/officeDocument/2006/relationships/image" Target="../media/image83.pn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2.jpeg"/><Relationship Id="rId7" Type="http://schemas.openxmlformats.org/officeDocument/2006/relationships/image" Target="../media/image90.sv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89.png"/><Relationship Id="rId5" Type="http://schemas.openxmlformats.org/officeDocument/2006/relationships/image" Target="../media/image88.svg"/><Relationship Id="rId4" Type="http://schemas.openxmlformats.org/officeDocument/2006/relationships/image" Target="../media/image87.png"/><Relationship Id="rId9" Type="http://schemas.openxmlformats.org/officeDocument/2006/relationships/image" Target="../media/image92.svg"/></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image" Target="../media/image29.sv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8" Type="http://schemas.openxmlformats.org/officeDocument/2006/relationships/image" Target="../media/image97.svg"/><Relationship Id="rId3" Type="http://schemas.openxmlformats.org/officeDocument/2006/relationships/image" Target="../media/image2.jpeg"/><Relationship Id="rId7" Type="http://schemas.openxmlformats.org/officeDocument/2006/relationships/image" Target="../media/image96.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93.jpeg"/></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0.xml"/><Relationship Id="rId1" Type="http://schemas.openxmlformats.org/officeDocument/2006/relationships/slideLayout" Target="../slideLayouts/slideLayout12.xml"/><Relationship Id="rId5" Type="http://schemas.openxmlformats.org/officeDocument/2006/relationships/image" Target="../media/image57.svg"/><Relationship Id="rId4" Type="http://schemas.openxmlformats.org/officeDocument/2006/relationships/image" Target="../media/image56.png"/></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1.xml"/><Relationship Id="rId1" Type="http://schemas.openxmlformats.org/officeDocument/2006/relationships/slideLayout" Target="../slideLayouts/slideLayout12.xml"/><Relationship Id="rId5" Type="http://schemas.openxmlformats.org/officeDocument/2006/relationships/image" Target="../media/image57.svg"/><Relationship Id="rId4" Type="http://schemas.openxmlformats.org/officeDocument/2006/relationships/image" Target="../media/image56.png"/></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image" Target="../media/image64.svg"/><Relationship Id="rId4" Type="http://schemas.openxmlformats.org/officeDocument/2006/relationships/image" Target="../media/image63.png"/></Relationships>
</file>

<file path=ppt/slides/_rels/slide43.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2.jpeg"/><Relationship Id="rId7" Type="http://schemas.openxmlformats.org/officeDocument/2006/relationships/image" Target="../media/image33.sv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svg"/><Relationship Id="rId5" Type="http://schemas.openxmlformats.org/officeDocument/2006/relationships/image" Target="../media/image99.svg"/><Relationship Id="rId10" Type="http://schemas.openxmlformats.org/officeDocument/2006/relationships/image" Target="../media/image102.png"/><Relationship Id="rId4" Type="http://schemas.openxmlformats.org/officeDocument/2006/relationships/image" Target="../media/image98.png"/><Relationship Id="rId9" Type="http://schemas.openxmlformats.org/officeDocument/2006/relationships/image" Target="../media/image101.svg"/></Relationships>
</file>

<file path=ppt/slides/_rels/slide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4.xml"/><Relationship Id="rId1" Type="http://schemas.openxmlformats.org/officeDocument/2006/relationships/slideLayout" Target="../slideLayouts/slideLayout12.xml"/><Relationship Id="rId5" Type="http://schemas.openxmlformats.org/officeDocument/2006/relationships/image" Target="../media/image105.svg"/><Relationship Id="rId4" Type="http://schemas.openxmlformats.org/officeDocument/2006/relationships/image" Target="../media/image104.png"/></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2.jpeg"/><Relationship Id="rId7" Type="http://schemas.openxmlformats.org/officeDocument/2006/relationships/image" Target="../media/image99.sv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98.png"/><Relationship Id="rId5" Type="http://schemas.openxmlformats.org/officeDocument/2006/relationships/image" Target="../media/image37.svg"/><Relationship Id="rId4" Type="http://schemas.openxmlformats.org/officeDocument/2006/relationships/image" Target="../media/image36.png"/><Relationship Id="rId9" Type="http://schemas.openxmlformats.org/officeDocument/2006/relationships/image" Target="../media/image107.svg"/></Relationships>
</file>

<file path=ppt/slides/_rels/slide4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8" Type="http://schemas.openxmlformats.org/officeDocument/2006/relationships/image" Target="../media/image112.svg"/><Relationship Id="rId3" Type="http://schemas.openxmlformats.org/officeDocument/2006/relationships/image" Target="../media/image2.jpeg"/><Relationship Id="rId7" Type="http://schemas.openxmlformats.org/officeDocument/2006/relationships/image" Target="../media/image111.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110.svg"/><Relationship Id="rId5" Type="http://schemas.openxmlformats.org/officeDocument/2006/relationships/image" Target="../media/image109.png"/><Relationship Id="rId10" Type="http://schemas.openxmlformats.org/officeDocument/2006/relationships/image" Target="../media/image114.svg"/><Relationship Id="rId4" Type="http://schemas.openxmlformats.org/officeDocument/2006/relationships/image" Target="../media/image108.jpeg"/><Relationship Id="rId9" Type="http://schemas.openxmlformats.org/officeDocument/2006/relationships/image" Target="../media/image113.png"/></Relationships>
</file>

<file path=ppt/slides/_rels/slide49.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2.jpeg"/><Relationship Id="rId7" Type="http://schemas.openxmlformats.org/officeDocument/2006/relationships/image" Target="../media/image118.sv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117.png"/><Relationship Id="rId5" Type="http://schemas.openxmlformats.org/officeDocument/2006/relationships/image" Target="../media/image116.svg"/><Relationship Id="rId4" Type="http://schemas.openxmlformats.org/officeDocument/2006/relationships/image" Target="../media/image115.png"/><Relationship Id="rId9" Type="http://schemas.openxmlformats.org/officeDocument/2006/relationships/image" Target="../media/image120.svg"/></Relationships>
</file>

<file path=ppt/slides/_rels/slide5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2.jpeg"/><Relationship Id="rId7" Type="http://schemas.openxmlformats.org/officeDocument/2006/relationships/image" Target="../media/image124.svg"/><Relationship Id="rId2" Type="http://schemas.openxmlformats.org/officeDocument/2006/relationships/notesSlide" Target="../notesSlides/notesSlide52.xml"/><Relationship Id="rId1" Type="http://schemas.openxmlformats.org/officeDocument/2006/relationships/slideLayout" Target="../slideLayouts/slideLayout12.xml"/><Relationship Id="rId6" Type="http://schemas.openxmlformats.org/officeDocument/2006/relationships/image" Target="../media/image123.png"/><Relationship Id="rId5" Type="http://schemas.openxmlformats.org/officeDocument/2006/relationships/image" Target="../media/image122.svg"/><Relationship Id="rId4" Type="http://schemas.openxmlformats.org/officeDocument/2006/relationships/image" Target="../media/image121.png"/><Relationship Id="rId9" Type="http://schemas.openxmlformats.org/officeDocument/2006/relationships/image" Target="../media/image126.svg"/></Relationships>
</file>

<file path=ppt/slides/_rels/slide5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4.xml"/><Relationship Id="rId1" Type="http://schemas.openxmlformats.org/officeDocument/2006/relationships/slideLayout" Target="../slideLayouts/slideLayout12.xml"/><Relationship Id="rId4" Type="http://schemas.openxmlformats.org/officeDocument/2006/relationships/image" Target="../media/image127.jpeg"/></Relationships>
</file>

<file path=ppt/slides/_rels/slide5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5.xml"/><Relationship Id="rId1" Type="http://schemas.openxmlformats.org/officeDocument/2006/relationships/slideLayout" Target="../slideLayouts/slideLayout12.xml"/><Relationship Id="rId5" Type="http://schemas.openxmlformats.org/officeDocument/2006/relationships/image" Target="../media/image129.svg"/><Relationship Id="rId4" Type="http://schemas.openxmlformats.org/officeDocument/2006/relationships/image" Target="../media/image128.png"/></Relationships>
</file>

<file path=ppt/slides/_rels/slide5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6.xml"/><Relationship Id="rId1" Type="http://schemas.openxmlformats.org/officeDocument/2006/relationships/slideLayout" Target="../slideLayouts/slideLayout12.xml"/><Relationship Id="rId5" Type="http://schemas.openxmlformats.org/officeDocument/2006/relationships/image" Target="../media/image131.svg"/><Relationship Id="rId4" Type="http://schemas.openxmlformats.org/officeDocument/2006/relationships/image" Target="../media/image130.png"/></Relationships>
</file>

<file path=ppt/slides/_rels/slide5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35.svg"/><Relationship Id="rId2" Type="http://schemas.openxmlformats.org/officeDocument/2006/relationships/notesSlide" Target="../notesSlides/notesSlide58.xml"/><Relationship Id="rId1" Type="http://schemas.openxmlformats.org/officeDocument/2006/relationships/slideLayout" Target="../slideLayouts/slideLayout12.xml"/><Relationship Id="rId6" Type="http://schemas.openxmlformats.org/officeDocument/2006/relationships/image" Target="../media/image134.png"/><Relationship Id="rId5" Type="http://schemas.openxmlformats.org/officeDocument/2006/relationships/image" Target="../media/image133.svg"/><Relationship Id="rId4" Type="http://schemas.openxmlformats.org/officeDocument/2006/relationships/image" Target="../media/image132.png"/></Relationships>
</file>

<file path=ppt/slides/_rels/slide5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openxmlformats.org/officeDocument/2006/relationships/image" Target="../media/image127.jpeg"/></Relationships>
</file>

<file path=ppt/slides/_rels/slide6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svg"/><Relationship Id="rId3" Type="http://schemas.openxmlformats.org/officeDocument/2006/relationships/image" Target="../media/image2.jpeg"/><Relationship Id="rId7" Type="http://schemas.openxmlformats.org/officeDocument/2006/relationships/image" Target="../media/image76.svg"/><Relationship Id="rId12" Type="http://schemas.openxmlformats.org/officeDocument/2006/relationships/image" Target="../media/image142.png"/><Relationship Id="rId2" Type="http://schemas.openxmlformats.org/officeDocument/2006/relationships/notesSlide" Target="../notesSlides/notesSlide62.xml"/><Relationship Id="rId1" Type="http://schemas.openxmlformats.org/officeDocument/2006/relationships/slideLayout" Target="../slideLayouts/slideLayout12.xml"/><Relationship Id="rId6" Type="http://schemas.openxmlformats.org/officeDocument/2006/relationships/image" Target="../media/image75.png"/><Relationship Id="rId11" Type="http://schemas.openxmlformats.org/officeDocument/2006/relationships/image" Target="../media/image141.svg"/><Relationship Id="rId5" Type="http://schemas.openxmlformats.org/officeDocument/2006/relationships/image" Target="../media/image137.svg"/><Relationship Id="rId10" Type="http://schemas.openxmlformats.org/officeDocument/2006/relationships/image" Target="../media/image140.png"/><Relationship Id="rId4" Type="http://schemas.openxmlformats.org/officeDocument/2006/relationships/image" Target="../media/image136.png"/><Relationship Id="rId9" Type="http://schemas.openxmlformats.org/officeDocument/2006/relationships/image" Target="../media/image139.svg"/></Relationships>
</file>

<file path=ppt/slides/_rels/slide63.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393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286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5600" b="1" i="0" u="none" strike="noStrike">
                <a:solidFill>
                  <a:srgbClr val="FFFFFF"/>
                </a:solidFill>
                <a:latin typeface="Noto Sans SC"/>
                <a:ea typeface="Noto Sans SC"/>
                <a:cs typeface="Noto Sans SC"/>
                <a:sym typeface="Noto Sans SC"/>
              </a:rPr>
              <a:t>Python、NumPy与PyTorch</a:t>
            </a:r>
            <a:endParaRPr lang="en-US" sz="1100"/>
          </a:p>
        </p:txBody>
      </p:sp>
      <p:sp>
        <p:nvSpPr>
          <p:cNvPr id="4" name="AutoShape 4"/>
          <p:cNvSpPr/>
          <p:nvPr/>
        </p:nvSpPr>
        <p:spPr>
          <a:xfrm>
            <a:off x="0" y="3937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0" i="0" u="none" strike="noStrike">
                <a:solidFill>
                  <a:srgbClr val="FFFFFF">
                    <a:alpha val="85098"/>
                  </a:srgbClr>
                </a:solidFill>
                <a:latin typeface="Noto Sans SC"/>
                <a:ea typeface="Noto Sans SC"/>
                <a:cs typeface="Noto Sans SC"/>
                <a:sym typeface="Noto Sans SC"/>
              </a:rPr>
              <a:t>简明知识点教程</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目录 CONTENTS</a:t>
            </a:r>
            <a:endParaRPr lang="en-US" sz="1100"/>
          </a:p>
        </p:txBody>
      </p:sp>
      <p:sp>
        <p:nvSpPr>
          <p:cNvPr id="4" name="AutoShape 4"/>
          <p:cNvSpPr/>
          <p:nvPr/>
        </p:nvSpPr>
        <p:spPr>
          <a:xfrm>
            <a:off x="762000" y="1905000"/>
            <a:ext cx="5207000" cy="1968500"/>
          </a:xfrm>
          <a:prstGeom prst="roundRect">
            <a:avLst>
              <a:gd name="adj" fmla="val 0"/>
            </a:avLst>
          </a:prstGeom>
          <a:solidFill>
            <a:srgbClr val="FFFFFF">
              <a:alpha val="6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095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alpha val="14902"/>
                  </a:srgbClr>
                </a:solidFill>
                <a:latin typeface="Noto Sans SC"/>
                <a:ea typeface="Noto Sans SC"/>
                <a:cs typeface="Noto Sans SC"/>
                <a:sym typeface="Noto Sans SC"/>
              </a:rPr>
              <a:t>01</a:t>
            </a:r>
            <a:endParaRPr lang="en-US" sz="1100"/>
          </a:p>
        </p:txBody>
      </p:sp>
      <p:sp>
        <p:nvSpPr>
          <p:cNvPr id="6" name="AutoShape 6"/>
          <p:cNvSpPr/>
          <p:nvPr/>
        </p:nvSpPr>
        <p:spPr>
          <a:xfrm>
            <a:off x="1778000" y="21336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Python编程基础</a:t>
            </a:r>
            <a:endParaRPr lang="en-US" sz="1100"/>
          </a:p>
        </p:txBody>
      </p:sp>
      <p:cxnSp>
        <p:nvCxnSpPr>
          <p:cNvPr id="7" name="Connector 7"/>
          <p:cNvCxnSpPr/>
          <p:nvPr/>
        </p:nvCxnSpPr>
        <p:spPr>
          <a:xfrm rot="-9291">
            <a:off x="1016009" y="2660650"/>
            <a:ext cx="4699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8" name="AutoShape 8"/>
          <p:cNvSpPr/>
          <p:nvPr/>
        </p:nvSpPr>
        <p:spPr>
          <a:xfrm>
            <a:off x="1016000" y="2794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 配置开发环境，掌握变量、流程控制等核心语法基础</a:t>
            </a:r>
            <a:br>
              <a:rPr lang="en-US" sz="1400" b="0" i="0" u="none" strike="noStrike">
                <a:solidFill>
                  <a:srgbClr val="4B5563"/>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 深入理解函数式编程范式，熟练运用生成器优化内存</a:t>
            </a:r>
            <a:endParaRPr lang="en-US" sz="1100"/>
          </a:p>
        </p:txBody>
      </p:sp>
      <p:sp>
        <p:nvSpPr>
          <p:cNvPr id="9" name="AutoShape 9"/>
          <p:cNvSpPr/>
          <p:nvPr/>
        </p:nvSpPr>
        <p:spPr>
          <a:xfrm>
            <a:off x="6223000" y="1905000"/>
            <a:ext cx="5207000" cy="1968500"/>
          </a:xfrm>
          <a:prstGeom prst="roundRect">
            <a:avLst>
              <a:gd name="adj" fmla="val 0"/>
            </a:avLst>
          </a:prstGeom>
          <a:solidFill>
            <a:srgbClr val="FFFFFF">
              <a:alpha val="6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77000" y="2095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alpha val="14902"/>
                  </a:srgbClr>
                </a:solidFill>
                <a:latin typeface="Noto Sans SC"/>
                <a:ea typeface="Noto Sans SC"/>
                <a:cs typeface="Noto Sans SC"/>
                <a:sym typeface="Noto Sans SC"/>
              </a:rPr>
              <a:t>02</a:t>
            </a:r>
            <a:endParaRPr lang="en-US" sz="1100"/>
          </a:p>
        </p:txBody>
      </p:sp>
      <p:sp>
        <p:nvSpPr>
          <p:cNvPr id="11" name="AutoShape 11"/>
          <p:cNvSpPr/>
          <p:nvPr/>
        </p:nvSpPr>
        <p:spPr>
          <a:xfrm>
            <a:off x="7239000" y="21336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NumPy科学计算库</a:t>
            </a:r>
            <a:endParaRPr lang="en-US" sz="1100"/>
          </a:p>
        </p:txBody>
      </p:sp>
      <p:cxnSp>
        <p:nvCxnSpPr>
          <p:cNvPr id="12" name="Connector 12"/>
          <p:cNvCxnSpPr/>
          <p:nvPr/>
        </p:nvCxnSpPr>
        <p:spPr>
          <a:xfrm rot="-9291">
            <a:off x="6477009" y="2660650"/>
            <a:ext cx="4699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3" name="AutoShape 13"/>
          <p:cNvSpPr/>
          <p:nvPr/>
        </p:nvSpPr>
        <p:spPr>
          <a:xfrm>
            <a:off x="6477000" y="2794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 解析ndarray多维数组对象，掌握数据类型与形状操作</a:t>
            </a:r>
            <a:br>
              <a:rPr lang="en-US" sz="1400" b="0" i="0" u="none" strike="noStrike">
                <a:solidFill>
                  <a:srgbClr val="4B5563"/>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 理解广播机制原理，运用线性代数工具解决矩阵运算问题</a:t>
            </a:r>
            <a:endParaRPr lang="en-US" sz="1100"/>
          </a:p>
        </p:txBody>
      </p:sp>
      <p:sp>
        <p:nvSpPr>
          <p:cNvPr id="14" name="AutoShape 14"/>
          <p:cNvSpPr/>
          <p:nvPr/>
        </p:nvSpPr>
        <p:spPr>
          <a:xfrm>
            <a:off x="762000" y="4191000"/>
            <a:ext cx="5207000" cy="1968500"/>
          </a:xfrm>
          <a:prstGeom prst="roundRect">
            <a:avLst>
              <a:gd name="adj" fmla="val 0"/>
            </a:avLst>
          </a:prstGeom>
          <a:solidFill>
            <a:srgbClr val="FFFFFF">
              <a:alpha val="6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016000" y="4381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alpha val="14902"/>
                  </a:srgbClr>
                </a:solidFill>
                <a:latin typeface="Noto Sans SC"/>
                <a:ea typeface="Noto Sans SC"/>
                <a:cs typeface="Noto Sans SC"/>
                <a:sym typeface="Noto Sans SC"/>
              </a:rPr>
              <a:t>03</a:t>
            </a:r>
            <a:endParaRPr lang="en-US" sz="1100"/>
          </a:p>
        </p:txBody>
      </p:sp>
      <p:sp>
        <p:nvSpPr>
          <p:cNvPr id="16" name="AutoShape 16"/>
          <p:cNvSpPr/>
          <p:nvPr/>
        </p:nvSpPr>
        <p:spPr>
          <a:xfrm>
            <a:off x="1778000" y="44196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PyTorch深度学习框架</a:t>
            </a:r>
            <a:endParaRPr lang="en-US" sz="1100"/>
          </a:p>
        </p:txBody>
      </p:sp>
      <p:cxnSp>
        <p:nvCxnSpPr>
          <p:cNvPr id="17" name="Connector 17"/>
          <p:cNvCxnSpPr/>
          <p:nvPr/>
        </p:nvCxnSpPr>
        <p:spPr>
          <a:xfrm rot="-9291">
            <a:off x="1016009" y="4946650"/>
            <a:ext cx="4699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8" name="AutoShape 18"/>
          <p:cNvSpPr/>
          <p:nvPr/>
        </p:nvSpPr>
        <p:spPr>
          <a:xfrm>
            <a:off x="1016000" y="5080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 熟悉张量(Tensor)的创建、运算及CPU/GPU设备迁移</a:t>
            </a:r>
            <a:br>
              <a:rPr lang="en-US" sz="1400" b="0" i="0" u="none" strike="noStrike">
                <a:solidFill>
                  <a:srgbClr val="4B5563"/>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 利用Autograd实现自动微分，基于nn.Module搭建网络结构</a:t>
            </a:r>
            <a:endParaRPr lang="en-US" sz="1100"/>
          </a:p>
        </p:txBody>
      </p:sp>
      <p:sp>
        <p:nvSpPr>
          <p:cNvPr id="19" name="AutoShape 19"/>
          <p:cNvSpPr/>
          <p:nvPr/>
        </p:nvSpPr>
        <p:spPr>
          <a:xfrm>
            <a:off x="6223000" y="4191000"/>
            <a:ext cx="5207000" cy="1968500"/>
          </a:xfrm>
          <a:prstGeom prst="roundRect">
            <a:avLst>
              <a:gd name="adj" fmla="val 0"/>
            </a:avLst>
          </a:prstGeom>
          <a:solidFill>
            <a:srgbClr val="FFFFFF">
              <a:alpha val="6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477000" y="43815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alpha val="14902"/>
                  </a:srgbClr>
                </a:solidFill>
                <a:latin typeface="Noto Sans SC"/>
                <a:ea typeface="Noto Sans SC"/>
                <a:cs typeface="Noto Sans SC"/>
                <a:sym typeface="Noto Sans SC"/>
              </a:rPr>
              <a:t>04</a:t>
            </a:r>
            <a:endParaRPr lang="en-US" sz="1100"/>
          </a:p>
        </p:txBody>
      </p:sp>
      <p:sp>
        <p:nvSpPr>
          <p:cNvPr id="21" name="AutoShape 21"/>
          <p:cNvSpPr/>
          <p:nvPr/>
        </p:nvSpPr>
        <p:spPr>
          <a:xfrm>
            <a:off x="7239000" y="44196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综合实战：线性回归</a:t>
            </a:r>
            <a:endParaRPr lang="en-US" sz="1100"/>
          </a:p>
        </p:txBody>
      </p:sp>
      <p:cxnSp>
        <p:nvCxnSpPr>
          <p:cNvPr id="22" name="Connector 22"/>
          <p:cNvCxnSpPr/>
          <p:nvPr/>
        </p:nvCxnSpPr>
        <p:spPr>
          <a:xfrm rot="-9291">
            <a:off x="6477009" y="4946650"/>
            <a:ext cx="4699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23" name="AutoShape 23"/>
          <p:cNvSpPr/>
          <p:nvPr/>
        </p:nvSpPr>
        <p:spPr>
          <a:xfrm>
            <a:off x="6477000" y="5080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 完成数据集的预处理、加载与模型的定义和实例化</a:t>
            </a:r>
            <a:br>
              <a:rPr lang="en-US" sz="1400" b="0" i="0" u="none" strike="noStrike">
                <a:solidFill>
                  <a:srgbClr val="4B5563"/>
                </a:solidFill>
                <a:latin typeface="Noto Sans SC"/>
                <a:ea typeface="Noto Sans SC"/>
                <a:cs typeface="Noto Sans SC"/>
                <a:sym typeface="Noto Sans SC"/>
              </a:rPr>
            </a:br>
            <a:r>
              <a:rPr lang="en-US" sz="1400" b="0" i="0" u="none" strike="noStrike">
                <a:solidFill>
                  <a:srgbClr val="4B5563"/>
                </a:solidFill>
                <a:latin typeface="Noto Sans SC"/>
                <a:ea typeface="Noto Sans SC"/>
                <a:cs typeface="Noto Sans SC"/>
                <a:sym typeface="Noto Sans SC"/>
              </a:rPr>
              <a:t>• 执行完整的训练循环，分析损失变化并评估模型拟合效果</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286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1F2937">
                    <a:alpha val="30196"/>
                  </a:srgbClr>
                </a:solidFill>
                <a:latin typeface="Noto Sans SC"/>
                <a:ea typeface="Noto Sans SC"/>
                <a:cs typeface="Noto Sans SC"/>
                <a:sym typeface="Noto Sans SC"/>
              </a:rPr>
              <a:t>PART 01</a:t>
            </a:r>
            <a:endParaRPr lang="en-US" sz="1100"/>
          </a:p>
        </p:txBody>
      </p:sp>
      <p:sp>
        <p:nvSpPr>
          <p:cNvPr id="4" name="AutoShape 4"/>
          <p:cNvSpPr/>
          <p:nvPr/>
        </p:nvSpPr>
        <p:spPr>
          <a:xfrm>
            <a:off x="0" y="3810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1F2937"/>
                </a:solidFill>
                <a:latin typeface="Noto Sans SC"/>
                <a:ea typeface="Noto Sans SC"/>
                <a:cs typeface="Noto Sans SC"/>
                <a:sym typeface="Noto Sans SC"/>
              </a:rPr>
              <a:t>Python编程基础</a:t>
            </a:r>
            <a:endParaRPr lang="en-US" sz="1100"/>
          </a:p>
        </p:txBody>
      </p:sp>
      <p:sp>
        <p:nvSpPr>
          <p:cNvPr id="5" name="AutoShape 5"/>
          <p:cNvSpPr/>
          <p:nvPr/>
        </p:nvSpPr>
        <p:spPr>
          <a:xfrm>
            <a:off x="5588000" y="5207000"/>
            <a:ext cx="1016000" cy="50800"/>
          </a:xfrm>
          <a:prstGeom prst="roundRect">
            <a:avLst>
              <a:gd name="adj" fmla="val 0"/>
            </a:avLst>
          </a:prstGeom>
          <a:solidFill>
            <a:srgbClr val="1F2937">
              <a:alpha val="100000"/>
            </a:srgbClr>
          </a:solidFill>
          <a:ln cap="flat" cmpd="sng">
            <a:solidFill>
              <a:srgbClr val="0E141E">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56515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4B5563"/>
                </a:solidFill>
                <a:latin typeface="Noto Sans SC"/>
                <a:ea typeface="Noto Sans SC"/>
                <a:cs typeface="Noto Sans SC"/>
                <a:sym typeface="Noto Sans SC"/>
              </a:rPr>
              <a:t>简洁优雅的语法特性 · 广泛的应用场景 · 通往AI与数据科学的必经之路</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1.1 环境搭建</a:t>
            </a:r>
            <a:endParaRPr lang="en-US" sz="1100"/>
          </a:p>
        </p:txBody>
      </p:sp>
      <p:sp>
        <p:nvSpPr>
          <p:cNvPr id="4" name="AutoShape 4"/>
          <p:cNvSpPr/>
          <p:nvPr/>
        </p:nvSpPr>
        <p:spPr>
          <a:xfrm>
            <a:off x="762000" y="1778000"/>
            <a:ext cx="10668000" cy="1587500"/>
          </a:xfrm>
          <a:prstGeom prst="roundRect">
            <a:avLst>
              <a:gd name="adj" fmla="val 0"/>
            </a:avLst>
          </a:prstGeom>
          <a:solidFill>
            <a:srgbClr val="FFFFFF">
              <a:alpha val="65000"/>
            </a:srgbClr>
          </a:solidFill>
          <a:ln w="12700" cap="flat" cmpd="sng">
            <a:solidFill>
              <a:srgbClr val="1F2937">
                <a:alpha val="1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2032000"/>
            <a:ext cx="457200" cy="457200"/>
          </a:xfrm>
          <a:prstGeom prst="rect">
            <a:avLst/>
          </a:prstGeom>
        </p:spPr>
      </p:pic>
      <p:sp>
        <p:nvSpPr>
          <p:cNvPr id="6" name="AutoShape 6"/>
          <p:cNvSpPr/>
          <p:nvPr/>
        </p:nvSpPr>
        <p:spPr>
          <a:xfrm>
            <a:off x="1714500" y="2057400"/>
            <a:ext cx="889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下载与安装：从官网获取纯净环境</a:t>
            </a:r>
            <a:endParaRPr lang="en-US" sz="1100"/>
          </a:p>
        </p:txBody>
      </p:sp>
      <p:sp>
        <p:nvSpPr>
          <p:cNvPr id="7" name="AutoShape 7"/>
          <p:cNvSpPr/>
          <p:nvPr/>
        </p:nvSpPr>
        <p:spPr>
          <a:xfrm>
            <a:off x="1079500" y="2603500"/>
            <a:ext cx="965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访问 Python 官方网站下载最新稳定版。安装时</a:t>
            </a:r>
            <a:r>
              <a:rPr lang="en-US" sz="1400" b="1" i="0" u="none" strike="noStrike">
                <a:solidFill>
                  <a:srgbClr val="DC2626"/>
                </a:solidFill>
                <a:latin typeface="Noto Sans SC"/>
                <a:ea typeface="Noto Sans SC"/>
                <a:cs typeface="Noto Sans SC"/>
                <a:sym typeface="Noto Sans SC"/>
              </a:rPr>
              <a:t>务必勾选「Add Python to PATH」</a:t>
            </a:r>
            <a:r>
              <a:rPr lang="en-US" sz="1400" b="0" i="0" u="none" strike="noStrike">
                <a:solidFill>
                  <a:srgbClr val="4B5563"/>
                </a:solidFill>
                <a:latin typeface="Noto Sans SC"/>
                <a:ea typeface="Noto Sans SC"/>
                <a:cs typeface="Noto Sans SC"/>
                <a:sym typeface="Noto Sans SC"/>
              </a:rPr>
              <a:t>，这是在终端直接调用 Python 的关键步骤，可避免后续手动配置环境变量的繁琐操作。</a:t>
            </a:r>
            <a:endParaRPr lang="en-US" sz="1100"/>
          </a:p>
        </p:txBody>
      </p:sp>
      <p:sp>
        <p:nvSpPr>
          <p:cNvPr id="8" name="AutoShape 8"/>
          <p:cNvSpPr/>
          <p:nvPr/>
        </p:nvSpPr>
        <p:spPr>
          <a:xfrm>
            <a:off x="762000" y="3683000"/>
            <a:ext cx="3429000" cy="2413000"/>
          </a:xfrm>
          <a:prstGeom prst="roundRect">
            <a:avLst>
              <a:gd name="adj" fmla="val 0"/>
            </a:avLst>
          </a:prstGeom>
          <a:solidFill>
            <a:srgbClr val="FFFFFF">
              <a:alpha val="60000"/>
            </a:srgbClr>
          </a:solidFill>
          <a:ln w="12700" cap="flat" cmpd="sng">
            <a:solidFill>
              <a:srgbClr val="1F2937">
                <a:alpha val="8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937000"/>
            <a:ext cx="355600" cy="355600"/>
          </a:xfrm>
          <a:prstGeom prst="rect">
            <a:avLst/>
          </a:prstGeom>
        </p:spPr>
      </p:pic>
      <p:sp>
        <p:nvSpPr>
          <p:cNvPr id="10" name="AutoShape 10"/>
          <p:cNvSpPr/>
          <p:nvPr/>
        </p:nvSpPr>
        <p:spPr>
          <a:xfrm>
            <a:off x="1460500" y="39370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F2937"/>
                </a:solidFill>
                <a:latin typeface="Noto Sans SC"/>
                <a:ea typeface="Noto Sans SC"/>
                <a:cs typeface="Noto Sans SC"/>
                <a:sym typeface="Noto Sans SC"/>
              </a:rPr>
              <a:t>Anaconda 科学发行版</a:t>
            </a:r>
            <a:endParaRPr lang="en-US" sz="1100"/>
          </a:p>
        </p:txBody>
      </p:sp>
      <p:sp>
        <p:nvSpPr>
          <p:cNvPr id="11" name="AutoShape 11"/>
          <p:cNvSpPr/>
          <p:nvPr/>
        </p:nvSpPr>
        <p:spPr>
          <a:xfrm>
            <a:off x="1016000" y="45085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专为数据科学设计，预装 NumPy、Pandas 等 180+ 科学计算包。自带 Conda 环境管理器，轻松解决多版本依赖冲突，是数据分析与机器学习的首选环境。</a:t>
            </a:r>
            <a:endParaRPr lang="en-US" sz="1100"/>
          </a:p>
        </p:txBody>
      </p:sp>
      <p:sp>
        <p:nvSpPr>
          <p:cNvPr id="12" name="AutoShape 12"/>
          <p:cNvSpPr/>
          <p:nvPr/>
        </p:nvSpPr>
        <p:spPr>
          <a:xfrm>
            <a:off x="4381500" y="3683000"/>
            <a:ext cx="3429000" cy="2413000"/>
          </a:xfrm>
          <a:prstGeom prst="roundRect">
            <a:avLst>
              <a:gd name="adj" fmla="val 0"/>
            </a:avLst>
          </a:prstGeom>
          <a:solidFill>
            <a:srgbClr val="FFFFFF">
              <a:alpha val="60000"/>
            </a:srgbClr>
          </a:solidFill>
          <a:ln w="12700" cap="flat" cmpd="sng">
            <a:solidFill>
              <a:srgbClr val="1F2937">
                <a:alpha val="8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35500" y="3937000"/>
            <a:ext cx="355600" cy="355600"/>
          </a:xfrm>
          <a:prstGeom prst="rect">
            <a:avLst/>
          </a:prstGeom>
        </p:spPr>
      </p:pic>
      <p:sp>
        <p:nvSpPr>
          <p:cNvPr id="14" name="AutoShape 14"/>
          <p:cNvSpPr/>
          <p:nvPr/>
        </p:nvSpPr>
        <p:spPr>
          <a:xfrm>
            <a:off x="5080000" y="39370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F2937"/>
                </a:solidFill>
                <a:latin typeface="Noto Sans SC"/>
                <a:ea typeface="Noto Sans SC"/>
                <a:cs typeface="Noto Sans SC"/>
                <a:sym typeface="Noto Sans SC"/>
              </a:rPr>
              <a:t>PyCharm 专业开发 IDE</a:t>
            </a:r>
            <a:endParaRPr lang="en-US" sz="1100"/>
          </a:p>
        </p:txBody>
      </p:sp>
      <p:sp>
        <p:nvSpPr>
          <p:cNvPr id="15" name="AutoShape 15"/>
          <p:cNvSpPr/>
          <p:nvPr/>
        </p:nvSpPr>
        <p:spPr>
          <a:xfrm>
            <a:off x="4635500" y="45085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JetBrains 出品的智能开发工具，提供代码智能补全、可视化断点调试、Git 版本控制集成及性能分析功能，极大提升大型项目的开发效率与代码规范性。</a:t>
            </a:r>
            <a:endParaRPr lang="en-US" sz="1100"/>
          </a:p>
        </p:txBody>
      </p:sp>
      <p:sp>
        <p:nvSpPr>
          <p:cNvPr id="16" name="AutoShape 16"/>
          <p:cNvSpPr/>
          <p:nvPr/>
        </p:nvSpPr>
        <p:spPr>
          <a:xfrm>
            <a:off x="8001000" y="3683000"/>
            <a:ext cx="3429000" cy="2413000"/>
          </a:xfrm>
          <a:prstGeom prst="roundRect">
            <a:avLst>
              <a:gd name="adj" fmla="val 0"/>
            </a:avLst>
          </a:prstGeom>
          <a:solidFill>
            <a:srgbClr val="FFFFFF">
              <a:alpha val="60000"/>
            </a:srgbClr>
          </a:solidFill>
          <a:ln w="12700" cap="flat" cmpd="sng">
            <a:solidFill>
              <a:srgbClr val="1F2937">
                <a:alpha val="8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255000" y="3937000"/>
            <a:ext cx="355600" cy="355600"/>
          </a:xfrm>
          <a:prstGeom prst="rect">
            <a:avLst/>
          </a:prstGeom>
        </p:spPr>
      </p:pic>
      <p:sp>
        <p:nvSpPr>
          <p:cNvPr id="18" name="AutoShape 18"/>
          <p:cNvSpPr/>
          <p:nvPr/>
        </p:nvSpPr>
        <p:spPr>
          <a:xfrm>
            <a:off x="8699500" y="39370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1F2937"/>
                </a:solidFill>
                <a:latin typeface="Noto Sans SC"/>
                <a:ea typeface="Noto Sans SC"/>
                <a:cs typeface="Noto Sans SC"/>
                <a:sym typeface="Noto Sans SC"/>
              </a:rPr>
              <a:t>Jupyter 交互式笔记本</a:t>
            </a:r>
            <a:endParaRPr lang="en-US" sz="1100"/>
          </a:p>
        </p:txBody>
      </p:sp>
      <p:sp>
        <p:nvSpPr>
          <p:cNvPr id="19" name="AutoShape 19"/>
          <p:cNvSpPr/>
          <p:nvPr/>
        </p:nvSpPr>
        <p:spPr>
          <a:xfrm>
            <a:off x="8255000" y="4508500"/>
            <a:ext cx="292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网页版交互式编程环境，支持实时运行代码、撰写 Markdown 说明、插入数学公式与图表。完美适配教学演示、数据分析报告撰写及算法原型的快速验证。</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推荐工具一览</a:t>
            </a:r>
            <a:endParaRPr lang="en-US" sz="1100"/>
          </a:p>
        </p:txBody>
      </p:sp>
      <p:sp>
        <p:nvSpPr>
          <p:cNvPr id="4" name="AutoShape 4"/>
          <p:cNvSpPr/>
          <p:nvPr/>
        </p:nvSpPr>
        <p:spPr>
          <a:xfrm>
            <a:off x="762000" y="2032000"/>
            <a:ext cx="3378200" cy="40640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t="30" b="30"/>
          <a:stretch>
            <a:fillRect/>
          </a:stretch>
        </p:blipFill>
        <p:spPr>
          <a:xfrm>
            <a:off x="1498600" y="2286000"/>
            <a:ext cx="1905000" cy="1435100"/>
          </a:xfrm>
          <a:prstGeom prst="rect">
            <a:avLst/>
          </a:prstGeom>
          <a:noFill/>
          <a:ln w="25400" cap="flat" cmpd="sng">
            <a:noFill/>
            <a:prstDash val="solid"/>
            <a:round/>
          </a:ln>
        </p:spPr>
      </p:pic>
      <p:sp>
        <p:nvSpPr>
          <p:cNvPr id="6" name="AutoShape 6"/>
          <p:cNvSpPr/>
          <p:nvPr/>
        </p:nvSpPr>
        <p:spPr>
          <a:xfrm>
            <a:off x="889000" y="3937000"/>
            <a:ext cx="3124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1F2937"/>
                </a:solidFill>
                <a:latin typeface="Noto Sans SC"/>
                <a:ea typeface="Noto Sans SC"/>
                <a:cs typeface="Noto Sans SC"/>
                <a:sym typeface="Noto Sans SC"/>
              </a:rPr>
              <a:t>Anaconda</a:t>
            </a:r>
            <a:endParaRPr lang="en-US" sz="1100"/>
          </a:p>
        </p:txBody>
      </p:sp>
      <p:cxnSp>
        <p:nvCxnSpPr>
          <p:cNvPr id="7" name="Connector 7"/>
          <p:cNvCxnSpPr/>
          <p:nvPr/>
        </p:nvCxnSpPr>
        <p:spPr>
          <a:xfrm rot="-15211">
            <a:off x="1016014" y="44386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8" name="AutoShape 8"/>
          <p:cNvSpPr/>
          <p:nvPr/>
        </p:nvSpPr>
        <p:spPr>
          <a:xfrm>
            <a:off x="952500" y="4635500"/>
            <a:ext cx="2997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开源Python发行版，集成conda包管理器与180+科学计算包，是数据科学、机器学习的一站式环境，轻松解决依赖与配置难题。</a:t>
            </a:r>
            <a:endParaRPr lang="en-US" sz="1100"/>
          </a:p>
        </p:txBody>
      </p:sp>
      <p:sp>
        <p:nvSpPr>
          <p:cNvPr id="9" name="AutoShape 9"/>
          <p:cNvSpPr/>
          <p:nvPr/>
        </p:nvSpPr>
        <p:spPr>
          <a:xfrm>
            <a:off x="4406900" y="2032000"/>
            <a:ext cx="3378200" cy="40640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srcRect t="12333" b="12333"/>
          <a:stretch>
            <a:fillRect/>
          </a:stretch>
        </p:blipFill>
        <p:spPr>
          <a:xfrm>
            <a:off x="5143500" y="2286000"/>
            <a:ext cx="1905000" cy="1435100"/>
          </a:xfrm>
          <a:prstGeom prst="rect">
            <a:avLst/>
          </a:prstGeom>
          <a:noFill/>
          <a:ln w="25400" cap="flat" cmpd="sng">
            <a:noFill/>
            <a:prstDash val="solid"/>
            <a:round/>
          </a:ln>
        </p:spPr>
      </p:pic>
      <p:sp>
        <p:nvSpPr>
          <p:cNvPr id="11" name="AutoShape 11"/>
          <p:cNvSpPr/>
          <p:nvPr/>
        </p:nvSpPr>
        <p:spPr>
          <a:xfrm>
            <a:off x="4533900" y="3937000"/>
            <a:ext cx="3124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1F2937"/>
                </a:solidFill>
                <a:latin typeface="Noto Sans SC"/>
                <a:ea typeface="Noto Sans SC"/>
                <a:cs typeface="Noto Sans SC"/>
                <a:sym typeface="Noto Sans SC"/>
              </a:rPr>
              <a:t>PyCharm</a:t>
            </a:r>
            <a:endParaRPr lang="en-US" sz="1100"/>
          </a:p>
        </p:txBody>
      </p:sp>
      <p:cxnSp>
        <p:nvCxnSpPr>
          <p:cNvPr id="12" name="Connector 12"/>
          <p:cNvCxnSpPr/>
          <p:nvPr/>
        </p:nvCxnSpPr>
        <p:spPr>
          <a:xfrm rot="-15211">
            <a:off x="4660914" y="44386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3" name="AutoShape 13"/>
          <p:cNvSpPr/>
          <p:nvPr/>
        </p:nvSpPr>
        <p:spPr>
          <a:xfrm>
            <a:off x="4597400" y="4635500"/>
            <a:ext cx="2997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JetBrains出品的专业IDE，提供智能代码补全、深度调试、版本控制集成与性能分析，为开发者带来高效、流畅的编码体验。</a:t>
            </a:r>
            <a:endParaRPr lang="en-US" sz="1100"/>
          </a:p>
        </p:txBody>
      </p:sp>
      <p:sp>
        <p:nvSpPr>
          <p:cNvPr id="14" name="AutoShape 14"/>
          <p:cNvSpPr/>
          <p:nvPr/>
        </p:nvSpPr>
        <p:spPr>
          <a:xfrm>
            <a:off x="8051800" y="2032000"/>
            <a:ext cx="3378200" cy="40640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6"/>
          <a:srcRect t="1651" b="1651"/>
          <a:stretch>
            <a:fillRect/>
          </a:stretch>
        </p:blipFill>
        <p:spPr>
          <a:xfrm>
            <a:off x="8788400" y="2286000"/>
            <a:ext cx="1905000" cy="1435100"/>
          </a:xfrm>
          <a:prstGeom prst="rect">
            <a:avLst/>
          </a:prstGeom>
          <a:noFill/>
          <a:ln w="25400" cap="flat" cmpd="sng">
            <a:noFill/>
            <a:prstDash val="solid"/>
            <a:round/>
          </a:ln>
        </p:spPr>
      </p:pic>
      <p:sp>
        <p:nvSpPr>
          <p:cNvPr id="16" name="AutoShape 16"/>
          <p:cNvSpPr/>
          <p:nvPr/>
        </p:nvSpPr>
        <p:spPr>
          <a:xfrm>
            <a:off x="8178800" y="3937000"/>
            <a:ext cx="3124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1F2937"/>
                </a:solidFill>
                <a:latin typeface="Noto Sans SC"/>
                <a:ea typeface="Noto Sans SC"/>
                <a:cs typeface="Noto Sans SC"/>
                <a:sym typeface="Noto Sans SC"/>
              </a:rPr>
              <a:t>Jupyter Notebook</a:t>
            </a:r>
            <a:endParaRPr lang="en-US" sz="1100"/>
          </a:p>
        </p:txBody>
      </p:sp>
      <p:cxnSp>
        <p:nvCxnSpPr>
          <p:cNvPr id="17" name="Connector 17"/>
          <p:cNvCxnSpPr/>
          <p:nvPr/>
        </p:nvCxnSpPr>
        <p:spPr>
          <a:xfrm rot="-15211">
            <a:off x="8305814" y="44386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8" name="AutoShape 18"/>
          <p:cNvSpPr/>
          <p:nvPr/>
        </p:nvSpPr>
        <p:spPr>
          <a:xfrm>
            <a:off x="8242300" y="4635500"/>
            <a:ext cx="2997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交互式计算与文档工具，支持代码、富文本、公式和可视化混合编排，是数据分析、教学演示和科研记录的理想选择。</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1.2 基础语法：变量与数据类型</a:t>
            </a:r>
            <a:endParaRPr lang="en-US" sz="1100"/>
          </a:p>
        </p:txBody>
      </p:sp>
      <p:sp>
        <p:nvSpPr>
          <p:cNvPr id="4" name="AutoShape 4"/>
          <p:cNvSpPr/>
          <p:nvPr/>
        </p:nvSpPr>
        <p:spPr>
          <a:xfrm>
            <a:off x="762000" y="1651000"/>
            <a:ext cx="10668000" cy="952500"/>
          </a:xfrm>
          <a:prstGeom prst="roundRect">
            <a:avLst>
              <a:gd name="adj" fmla="val 0"/>
            </a:avLst>
          </a:prstGeom>
          <a:solidFill>
            <a:srgbClr val="FFFFFF">
              <a:alpha val="5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803400"/>
            <a:ext cx="1028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374151"/>
                </a:solidFill>
                <a:latin typeface="Noto Sans SC"/>
                <a:ea typeface="Noto Sans SC"/>
                <a:cs typeface="Noto Sans SC"/>
                <a:sym typeface="Noto Sans SC"/>
              </a:rPr>
              <a:t>动态类型核心特性：</a:t>
            </a:r>
            <a:r>
              <a:rPr lang="en-US" sz="1500" b="0" i="0" u="none" strike="noStrike">
                <a:solidFill>
                  <a:srgbClr val="374151"/>
                </a:solidFill>
                <a:latin typeface="Noto Sans SC"/>
                <a:ea typeface="Noto Sans SC"/>
                <a:cs typeface="Noto Sans SC"/>
                <a:sym typeface="Noto Sans SC"/>
              </a:rPr>
              <a:t>Python 无需提前声明变量类型，在赋值时自动推断并绑定数据类型。这种特性赋予了代码极高的灵活性与简洁性，是其作为脚本语言的核心优势，让开发者能更专注于逻辑实现而非类型定义。</a:t>
            </a:r>
            <a:endParaRPr lang="en-US" sz="1100"/>
          </a:p>
        </p:txBody>
      </p:sp>
      <p:sp>
        <p:nvSpPr>
          <p:cNvPr id="6" name="AutoShape 6"/>
          <p:cNvSpPr/>
          <p:nvPr/>
        </p:nvSpPr>
        <p:spPr>
          <a:xfrm>
            <a:off x="762000" y="2857500"/>
            <a:ext cx="520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01 基础数据类型</a:t>
            </a:r>
            <a:endParaRPr lang="en-US" sz="1100"/>
          </a:p>
        </p:txBody>
      </p:sp>
      <p:sp>
        <p:nvSpPr>
          <p:cNvPr id="7" name="AutoShape 7"/>
          <p:cNvSpPr/>
          <p:nvPr/>
        </p:nvSpPr>
        <p:spPr>
          <a:xfrm>
            <a:off x="762000" y="3429000"/>
            <a:ext cx="2514600" cy="1206500"/>
          </a:xfrm>
          <a:prstGeom prst="roundRect">
            <a:avLst>
              <a:gd name="adj" fmla="val 0"/>
            </a:avLst>
          </a:prstGeom>
          <a:solidFill>
            <a:srgbClr val="F3F4F6">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0" y="3530600"/>
            <a:ext cx="23114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a:ea typeface="Noto Sans SC"/>
                <a:cs typeface="Noto Sans SC"/>
                <a:sym typeface="Noto Sans SC"/>
              </a:rPr>
              <a:t>int · 整数</a:t>
            </a:r>
            <a:endParaRPr lang="en-US" sz="1100"/>
          </a:p>
          <a:p>
            <a:pPr marL="0" indent="0" algn="l">
              <a:lnSpc>
                <a:spcPct val="100000"/>
              </a:lnSpc>
            </a:pPr>
            <a:r>
              <a:rPr lang="en-US" sz="1300" b="0" i="0" u="none" strike="noStrike">
                <a:solidFill>
                  <a:srgbClr val="4B5563"/>
                </a:solidFill>
                <a:latin typeface="Noto Sans SC"/>
                <a:ea typeface="Noto Sans SC"/>
                <a:cs typeface="Noto Sans SC"/>
                <a:sym typeface="Noto Sans SC"/>
              </a:rPr>
              <a:t>用于表示整数数值，如年龄、数量、序号等。</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示例：age = 25</a:t>
            </a:r>
          </a:p>
        </p:txBody>
      </p:sp>
      <p:sp>
        <p:nvSpPr>
          <p:cNvPr id="9" name="AutoShape 9"/>
          <p:cNvSpPr/>
          <p:nvPr/>
        </p:nvSpPr>
        <p:spPr>
          <a:xfrm>
            <a:off x="3454400" y="3429000"/>
            <a:ext cx="2514600" cy="1206500"/>
          </a:xfrm>
          <a:prstGeom prst="roundRect">
            <a:avLst>
              <a:gd name="adj" fmla="val 0"/>
            </a:avLst>
          </a:prstGeom>
          <a:solidFill>
            <a:srgbClr val="F3F4F6">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581400" y="3530600"/>
            <a:ext cx="23114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a:ea typeface="Noto Sans SC"/>
                <a:cs typeface="Noto Sans SC"/>
                <a:sym typeface="Noto Sans SC"/>
              </a:rPr>
              <a:t>float · 浮点数</a:t>
            </a:r>
            <a:endParaRPr lang="en-US" sz="1100"/>
          </a:p>
          <a:p>
            <a:pPr marL="0" indent="0" algn="l">
              <a:lnSpc>
                <a:spcPct val="100000"/>
              </a:lnSpc>
            </a:pPr>
            <a:r>
              <a:rPr lang="en-US" sz="1300" b="0" i="0" u="none" strike="noStrike">
                <a:solidFill>
                  <a:srgbClr val="4B5563"/>
                </a:solidFill>
                <a:latin typeface="Noto Sans SC"/>
                <a:ea typeface="Noto Sans SC"/>
                <a:cs typeface="Noto Sans SC"/>
                <a:sym typeface="Noto Sans SC"/>
              </a:rPr>
              <a:t>带小数的数值类型，适用于精度计算场景。</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示例：height = 1.75</a:t>
            </a:r>
          </a:p>
        </p:txBody>
      </p:sp>
      <p:sp>
        <p:nvSpPr>
          <p:cNvPr id="11" name="AutoShape 11"/>
          <p:cNvSpPr/>
          <p:nvPr/>
        </p:nvSpPr>
        <p:spPr>
          <a:xfrm>
            <a:off x="762000" y="4826000"/>
            <a:ext cx="2514600" cy="1206500"/>
          </a:xfrm>
          <a:prstGeom prst="roundRect">
            <a:avLst>
              <a:gd name="adj" fmla="val 0"/>
            </a:avLst>
          </a:prstGeom>
          <a:solidFill>
            <a:srgbClr val="F3F4F6">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89000" y="4927600"/>
            <a:ext cx="23114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a:ea typeface="Noto Sans SC"/>
                <a:cs typeface="Noto Sans SC"/>
                <a:sym typeface="Noto Sans SC"/>
              </a:rPr>
              <a:t>str · 字符串</a:t>
            </a:r>
            <a:endParaRPr lang="en-US" sz="1100"/>
          </a:p>
          <a:p>
            <a:pPr marL="0" indent="0" algn="l">
              <a:lnSpc>
                <a:spcPct val="100000"/>
              </a:lnSpc>
            </a:pPr>
            <a:r>
              <a:rPr lang="en-US" sz="1300" b="0" i="0" u="none" strike="noStrike">
                <a:solidFill>
                  <a:srgbClr val="4B5563"/>
                </a:solidFill>
                <a:latin typeface="Noto Sans SC"/>
                <a:ea typeface="Noto Sans SC"/>
                <a:cs typeface="Noto Sans SC"/>
                <a:sym typeface="Noto Sans SC"/>
              </a:rPr>
              <a:t>由字符组成的不可变序列，用于存储文本。</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示例：name = "Alice"</a:t>
            </a:r>
          </a:p>
        </p:txBody>
      </p:sp>
      <p:sp>
        <p:nvSpPr>
          <p:cNvPr id="13" name="AutoShape 13"/>
          <p:cNvSpPr/>
          <p:nvPr/>
        </p:nvSpPr>
        <p:spPr>
          <a:xfrm>
            <a:off x="3454400" y="4826000"/>
            <a:ext cx="2514600" cy="1206500"/>
          </a:xfrm>
          <a:prstGeom prst="roundRect">
            <a:avLst>
              <a:gd name="adj" fmla="val 0"/>
            </a:avLst>
          </a:prstGeom>
          <a:solidFill>
            <a:srgbClr val="F3F4F6">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3581400" y="4927600"/>
            <a:ext cx="23114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a:ea typeface="Noto Sans SC"/>
                <a:cs typeface="Noto Sans SC"/>
                <a:sym typeface="Noto Sans SC"/>
              </a:rPr>
              <a:t>bool · 布尔值</a:t>
            </a:r>
            <a:endParaRPr lang="en-US" sz="1100"/>
          </a:p>
          <a:p>
            <a:pPr marL="0" indent="0" algn="l">
              <a:lnSpc>
                <a:spcPct val="100000"/>
              </a:lnSpc>
            </a:pPr>
            <a:r>
              <a:rPr lang="en-US" sz="1300" b="0" i="0" u="none" strike="noStrike">
                <a:solidFill>
                  <a:srgbClr val="4B5563"/>
                </a:solidFill>
                <a:latin typeface="Noto Sans SC"/>
                <a:ea typeface="Noto Sans SC"/>
                <a:cs typeface="Noto Sans SC"/>
                <a:sym typeface="Noto Sans SC"/>
              </a:rPr>
              <a:t>表示逻辑真(True)或假(False)，控制流程。</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示例：is_valid = True</a:t>
            </a:r>
          </a:p>
        </p:txBody>
      </p:sp>
      <p:sp>
        <p:nvSpPr>
          <p:cNvPr id="15" name="AutoShape 15"/>
          <p:cNvSpPr/>
          <p:nvPr/>
        </p:nvSpPr>
        <p:spPr>
          <a:xfrm>
            <a:off x="6223000" y="2857500"/>
            <a:ext cx="520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02 核心容器类型</a:t>
            </a:r>
            <a:endParaRPr lang="en-US" sz="1100"/>
          </a:p>
        </p:txBody>
      </p:sp>
      <p:sp>
        <p:nvSpPr>
          <p:cNvPr id="16" name="AutoShape 16"/>
          <p:cNvSpPr/>
          <p:nvPr/>
        </p:nvSpPr>
        <p:spPr>
          <a:xfrm>
            <a:off x="6223000" y="3429000"/>
            <a:ext cx="2514600" cy="1206500"/>
          </a:xfrm>
          <a:prstGeom prst="roundRect">
            <a:avLst>
              <a:gd name="adj" fmla="val 0"/>
            </a:avLst>
          </a:prstGeom>
          <a:solidFill>
            <a:srgbClr val="FFFBEB">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350000" y="3530600"/>
            <a:ext cx="23114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D97706"/>
                </a:solidFill>
                <a:latin typeface="Noto Sans SC"/>
                <a:ea typeface="Noto Sans SC"/>
                <a:cs typeface="Noto Sans SC"/>
                <a:sym typeface="Noto Sans SC"/>
              </a:rPr>
              <a:t>list · 列表</a:t>
            </a:r>
            <a:endParaRPr lang="en-US" sz="1100"/>
          </a:p>
          <a:p>
            <a:pPr marL="0" indent="0" algn="l">
              <a:lnSpc>
                <a:spcPct val="100000"/>
              </a:lnSpc>
            </a:pPr>
            <a:r>
              <a:rPr lang="en-US" sz="1300" b="0" i="0" u="none" strike="noStrike">
                <a:solidFill>
                  <a:srgbClr val="4B5563"/>
                </a:solidFill>
                <a:latin typeface="Noto Sans SC"/>
                <a:ea typeface="Noto Sans SC"/>
                <a:cs typeface="Noto Sans SC"/>
                <a:sym typeface="Noto Sans SC"/>
              </a:rPr>
              <a:t>有序且可变的元素序列，支持灵活增删改。</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示例：fruits = ["a", "b"]</a:t>
            </a:r>
          </a:p>
        </p:txBody>
      </p:sp>
      <p:sp>
        <p:nvSpPr>
          <p:cNvPr id="18" name="AutoShape 18"/>
          <p:cNvSpPr/>
          <p:nvPr/>
        </p:nvSpPr>
        <p:spPr>
          <a:xfrm>
            <a:off x="8915400" y="3429000"/>
            <a:ext cx="2514600" cy="1206500"/>
          </a:xfrm>
          <a:prstGeom prst="roundRect">
            <a:avLst>
              <a:gd name="adj" fmla="val 0"/>
            </a:avLst>
          </a:prstGeom>
          <a:solidFill>
            <a:srgbClr val="FFFBEB">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9042400" y="3530600"/>
            <a:ext cx="23114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D97706"/>
                </a:solidFill>
                <a:latin typeface="Noto Sans SC"/>
                <a:ea typeface="Noto Sans SC"/>
                <a:cs typeface="Noto Sans SC"/>
                <a:sym typeface="Noto Sans SC"/>
              </a:rPr>
              <a:t>tuple · 元组</a:t>
            </a:r>
            <a:endParaRPr lang="en-US" sz="1100"/>
          </a:p>
          <a:p>
            <a:pPr marL="0" indent="0" algn="l">
              <a:lnSpc>
                <a:spcPct val="100000"/>
              </a:lnSpc>
            </a:pPr>
            <a:r>
              <a:rPr lang="en-US" sz="1300" b="0" i="0" u="none" strike="noStrike">
                <a:solidFill>
                  <a:srgbClr val="4B5563"/>
                </a:solidFill>
                <a:latin typeface="Noto Sans SC"/>
                <a:ea typeface="Noto Sans SC"/>
                <a:cs typeface="Noto Sans SC"/>
                <a:sym typeface="Noto Sans SC"/>
              </a:rPr>
              <a:t>有序但不可变的序列，更节省内存与安全。</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示例：pos = (10.0, 20.0)</a:t>
            </a:r>
          </a:p>
        </p:txBody>
      </p:sp>
      <p:sp>
        <p:nvSpPr>
          <p:cNvPr id="20" name="AutoShape 20"/>
          <p:cNvSpPr/>
          <p:nvPr/>
        </p:nvSpPr>
        <p:spPr>
          <a:xfrm>
            <a:off x="6223000" y="4826000"/>
            <a:ext cx="2514600" cy="1206500"/>
          </a:xfrm>
          <a:prstGeom prst="roundRect">
            <a:avLst>
              <a:gd name="adj" fmla="val 0"/>
            </a:avLst>
          </a:prstGeom>
          <a:solidFill>
            <a:srgbClr val="FFFBEB">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350000" y="4927600"/>
            <a:ext cx="23114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D97706"/>
                </a:solidFill>
                <a:latin typeface="Noto Sans SC"/>
                <a:ea typeface="Noto Sans SC"/>
                <a:cs typeface="Noto Sans SC"/>
                <a:sym typeface="Noto Sans SC"/>
              </a:rPr>
              <a:t>dict · 字典</a:t>
            </a:r>
            <a:endParaRPr lang="en-US" sz="1100"/>
          </a:p>
          <a:p>
            <a:pPr marL="0" indent="0" algn="l">
              <a:lnSpc>
                <a:spcPct val="100000"/>
              </a:lnSpc>
            </a:pPr>
            <a:r>
              <a:rPr lang="en-US" sz="1300" b="0" i="0" u="none" strike="noStrike">
                <a:solidFill>
                  <a:srgbClr val="4B5563"/>
                </a:solidFill>
                <a:latin typeface="Noto Sans SC"/>
                <a:ea typeface="Noto Sans SC"/>
                <a:cs typeface="Noto Sans SC"/>
                <a:sym typeface="Noto Sans SC"/>
              </a:rPr>
              <a:t>键值对的无序集合，用于存储映射关系。</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示例：user = {"k": "v"}</a:t>
            </a:r>
          </a:p>
        </p:txBody>
      </p:sp>
      <p:sp>
        <p:nvSpPr>
          <p:cNvPr id="22" name="AutoShape 22"/>
          <p:cNvSpPr/>
          <p:nvPr/>
        </p:nvSpPr>
        <p:spPr>
          <a:xfrm>
            <a:off x="8915400" y="4826000"/>
            <a:ext cx="2514600" cy="1206500"/>
          </a:xfrm>
          <a:prstGeom prst="roundRect">
            <a:avLst>
              <a:gd name="adj" fmla="val 0"/>
            </a:avLst>
          </a:prstGeom>
          <a:solidFill>
            <a:srgbClr val="FFFBEB">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9042400" y="4927600"/>
            <a:ext cx="23114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D97706"/>
                </a:solidFill>
                <a:latin typeface="Noto Sans SC"/>
                <a:ea typeface="Noto Sans SC"/>
                <a:cs typeface="Noto Sans SC"/>
                <a:sym typeface="Noto Sans SC"/>
              </a:rPr>
              <a:t>set · 集合</a:t>
            </a:r>
            <a:endParaRPr lang="en-US" sz="1100"/>
          </a:p>
          <a:p>
            <a:pPr marL="0" indent="0" algn="l">
              <a:lnSpc>
                <a:spcPct val="100000"/>
              </a:lnSpc>
            </a:pPr>
            <a:r>
              <a:rPr lang="en-US" sz="1300" b="0" i="0" u="none" strike="noStrike">
                <a:solidFill>
                  <a:srgbClr val="4B5563"/>
                </a:solidFill>
                <a:latin typeface="Noto Sans SC"/>
                <a:ea typeface="Noto Sans SC"/>
                <a:cs typeface="Noto Sans SC"/>
                <a:sym typeface="Noto Sans SC"/>
              </a:rPr>
              <a:t>无序且元素唯一的集合，常用于去重操作。</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示例：nums = {1, 2,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变量与数据类型示例</a:t>
            </a:r>
            <a:endParaRPr lang="en-US" sz="1100"/>
          </a:p>
        </p:txBody>
      </p:sp>
      <p:sp>
        <p:nvSpPr>
          <p:cNvPr id="4" name="AutoShape 4"/>
          <p:cNvSpPr/>
          <p:nvPr/>
        </p:nvSpPr>
        <p:spPr>
          <a:xfrm>
            <a:off x="762000" y="1778000"/>
            <a:ext cx="10668000" cy="3937000"/>
          </a:xfrm>
          <a:prstGeom prst="roundRect">
            <a:avLst>
              <a:gd name="adj" fmla="val 0"/>
            </a:avLst>
          </a:prstGeom>
          <a:solidFill>
            <a:srgbClr val="1F2937">
              <a:alpha val="92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0066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95400" y="2006600"/>
            <a:ext cx="152400" cy="1524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574800" y="2006600"/>
            <a:ext cx="152400" cy="1524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2032000" y="1955800"/>
            <a:ext cx="317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Source Code Pro"/>
                <a:ea typeface="Source Code Pro"/>
                <a:cs typeface="Source Code Pro"/>
                <a:sym typeface="Source Code Pro"/>
              </a:rPr>
              <a:t>demo.py — Python 3.12</a:t>
            </a:r>
            <a:endParaRPr lang="en-US" sz="1100"/>
          </a:p>
        </p:txBody>
      </p:sp>
      <p:cxnSp>
        <p:nvCxnSpPr>
          <p:cNvPr id="9" name="Connector 9"/>
          <p:cNvCxnSpPr/>
          <p:nvPr/>
        </p:nvCxnSpPr>
        <p:spPr>
          <a:xfrm rot="-4092">
            <a:off x="762004" y="2406650"/>
            <a:ext cx="10668000" cy="12700"/>
          </a:xfrm>
          <a:prstGeom prst="straightConnector1">
            <a:avLst/>
          </a:prstGeom>
          <a:solidFill>
            <a:srgbClr val="DEE0E3">
              <a:alpha val="100000"/>
            </a:srgbClr>
          </a:solidFill>
          <a:ln w="12700" cap="flat" cmpd="sng">
            <a:solidFill>
              <a:srgbClr val="4B5563">
                <a:alpha val="100000"/>
              </a:srgbClr>
            </a:solidFill>
            <a:prstDash val="solid"/>
            <a:round/>
            <a:headEnd type="none" w="med" len="med"/>
            <a:tailEnd type="none" w="med" len="med"/>
          </a:ln>
        </p:spPr>
      </p:cxnSp>
      <p:sp>
        <p:nvSpPr>
          <p:cNvPr id="10" name="AutoShape 10"/>
          <p:cNvSpPr/>
          <p:nvPr/>
        </p:nvSpPr>
        <p:spPr>
          <a:xfrm>
            <a:off x="1016000" y="2667000"/>
            <a:ext cx="49530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6B7280"/>
                </a:solidFill>
                <a:latin typeface="Source Code Pro"/>
                <a:ea typeface="Source Code Pro"/>
                <a:cs typeface="Source Code Pro"/>
                <a:sym typeface="Source Code Pro"/>
              </a:rPr>
              <a:t># 基础类型定义与检测</a:t>
            </a:r>
            <a:endParaRPr lang="en-US" sz="1100"/>
          </a:p>
          <a:p>
            <a:pPr marL="0" indent="0" algn="l">
              <a:lnSpc>
                <a:spcPct val="116666"/>
              </a:lnSpc>
            </a:pPr>
            <a:r>
              <a:rPr lang="en-US" sz="1300" b="0" i="0" u="none" strike="noStrike">
                <a:solidFill>
                  <a:srgbClr val="E5E7EB"/>
                </a:solidFill>
                <a:latin typeface="Source Code Pro"/>
                <a:ea typeface="Source Code Pro"/>
                <a:cs typeface="Source Code Pro"/>
                <a:sym typeface="Source Code Pro"/>
              </a:rPr>
              <a:t>age =</a:t>
            </a:r>
            <a:r>
              <a:rPr lang="en-US" sz="1300" b="0" i="0" u="none" strike="noStrike">
                <a:solidFill>
                  <a:srgbClr val="F59E0B"/>
                </a:solidFill>
                <a:latin typeface="Source Code Pro"/>
                <a:ea typeface="Source Code Pro"/>
                <a:cs typeface="Source Code Pro"/>
                <a:sym typeface="Source Code Pro"/>
              </a:rPr>
              <a:t>25</a:t>
            </a:r>
            <a:r>
              <a:rPr lang="en-US" sz="1300" b="0" i="0" u="none" strike="noStrike">
                <a:solidFill>
                  <a:srgbClr val="9CA3AF"/>
                </a:solidFill>
                <a:latin typeface="Source Code Pro"/>
                <a:ea typeface="Source Code Pro"/>
                <a:cs typeface="Source Code Pro"/>
                <a:sym typeface="Source Code Pro"/>
              </a:rPr>
              <a:t># int 整数</a:t>
            </a:r>
          </a:p>
          <a:p>
            <a:pPr marL="0" indent="0" algn="l">
              <a:lnSpc>
                <a:spcPct val="116666"/>
              </a:lnSpc>
            </a:pPr>
            <a:r>
              <a:rPr lang="en-US" sz="1300" b="0" i="0" u="none" strike="noStrike">
                <a:solidFill>
                  <a:srgbClr val="E5E7EB"/>
                </a:solidFill>
                <a:latin typeface="Source Code Pro"/>
                <a:ea typeface="Source Code Pro"/>
                <a:cs typeface="Source Code Pro"/>
                <a:sym typeface="Source Code Pro"/>
              </a:rPr>
              <a:t>name =</a:t>
            </a:r>
            <a:r>
              <a:rPr lang="en-US" sz="1300" b="0" i="0" u="none" strike="noStrike">
                <a:solidFill>
                  <a:srgbClr val="10B981"/>
                </a:solidFill>
                <a:latin typeface="Source Code Pro"/>
                <a:ea typeface="Source Code Pro"/>
                <a:cs typeface="Source Code Pro"/>
                <a:sym typeface="Source Code Pro"/>
              </a:rPr>
              <a:t>"Alice"</a:t>
            </a:r>
            <a:r>
              <a:rPr lang="en-US" sz="1300" b="0" i="0" u="none" strike="noStrike">
                <a:solidFill>
                  <a:srgbClr val="9CA3AF"/>
                </a:solidFill>
                <a:latin typeface="Source Code Pro"/>
                <a:ea typeface="Source Code Pro"/>
                <a:cs typeface="Source Code Pro"/>
                <a:sym typeface="Source Code Pro"/>
              </a:rPr>
              <a:t># str 字符串</a:t>
            </a:r>
          </a:p>
          <a:p>
            <a:pPr marL="0" indent="0" algn="l">
              <a:lnSpc>
                <a:spcPct val="116666"/>
              </a:lnSpc>
            </a:pPr>
            <a:r>
              <a:rPr lang="en-US" sz="1300" b="0" i="0" u="none" strike="noStrike">
                <a:solidFill>
                  <a:srgbClr val="E5E7EB"/>
                </a:solidFill>
                <a:latin typeface="Source Code Pro"/>
                <a:ea typeface="Source Code Pro"/>
                <a:cs typeface="Source Code Pro"/>
                <a:sym typeface="Source Code Pro"/>
              </a:rPr>
              <a:t>is_adult =</a:t>
            </a:r>
            <a:r>
              <a:rPr lang="en-US" sz="1300" b="0" i="0" u="none" strike="noStrike">
                <a:solidFill>
                  <a:srgbClr val="3B82F6"/>
                </a:solidFill>
                <a:latin typeface="Source Code Pro"/>
                <a:ea typeface="Source Code Pro"/>
                <a:cs typeface="Source Code Pro"/>
                <a:sym typeface="Source Code Pro"/>
              </a:rPr>
              <a:t>True</a:t>
            </a:r>
            <a:r>
              <a:rPr lang="en-US" sz="1300" b="0" i="0" u="none" strike="noStrike">
                <a:solidFill>
                  <a:srgbClr val="9CA3AF"/>
                </a:solidFill>
                <a:latin typeface="Source Code Pro"/>
                <a:ea typeface="Source Code Pro"/>
                <a:cs typeface="Source Code Pro"/>
                <a:sym typeface="Source Code Pro"/>
              </a:rPr>
              <a:t># bool 布尔值</a:t>
            </a:r>
          </a:p>
          <a:p>
            <a:pPr marL="0" indent="0" algn="l">
              <a:lnSpc>
                <a:spcPct val="116666"/>
              </a:lnSpc>
            </a:pPr>
            <a:r>
              <a:rPr lang="en-US" sz="1300" b="0" i="0" u="none" strike="noStrike">
                <a:solidFill>
                  <a:srgbClr val="C084FC"/>
                </a:solidFill>
                <a:latin typeface="Source Code Pro"/>
                <a:ea typeface="Source Code Pro"/>
                <a:cs typeface="Source Code Pro"/>
                <a:sym typeface="Source Code Pro"/>
              </a:rPr>
              <a:t>print</a:t>
            </a:r>
            <a:r>
              <a:rPr lang="en-US" sz="1300" b="0" i="0" u="none" strike="noStrike">
                <a:solidFill>
                  <a:srgbClr val="E5E7EB"/>
                </a:solidFill>
                <a:latin typeface="Source Code Pro"/>
                <a:ea typeface="Source Code Pro"/>
                <a:cs typeface="Source Code Pro"/>
                <a:sym typeface="Source Code Pro"/>
              </a:rPr>
              <a:t>(type(age)) # 输出: &lt;class 'int'&gt;</a:t>
            </a:r>
          </a:p>
          <a:p>
            <a:pPr marL="0" indent="0" algn="l">
              <a:lnSpc>
                <a:spcPct val="116666"/>
              </a:lnSpc>
            </a:pPr>
            <a:r>
              <a:rPr lang="en-US" sz="1300" b="0" i="0" u="none" strike="noStrike">
                <a:solidFill>
                  <a:srgbClr val="C084FC"/>
                </a:solidFill>
                <a:latin typeface="Source Code Pro"/>
                <a:ea typeface="Source Code Pro"/>
                <a:cs typeface="Source Code Pro"/>
                <a:sym typeface="Source Code Pro"/>
              </a:rPr>
              <a:t>print</a:t>
            </a:r>
            <a:r>
              <a:rPr lang="en-US" sz="1300" b="0" i="0" u="none" strike="noStrike">
                <a:solidFill>
                  <a:srgbClr val="E5E7EB"/>
                </a:solidFill>
                <a:latin typeface="Source Code Pro"/>
                <a:ea typeface="Source Code Pro"/>
                <a:cs typeface="Source Code Pro"/>
                <a:sym typeface="Source Code Pro"/>
              </a:rPr>
              <a:t>(f"My name is {name}") # 格式化输出</a:t>
            </a:r>
          </a:p>
        </p:txBody>
      </p:sp>
      <p:cxnSp>
        <p:nvCxnSpPr>
          <p:cNvPr id="11" name="Connector 11"/>
          <p:cNvCxnSpPr/>
          <p:nvPr/>
        </p:nvCxnSpPr>
        <p:spPr>
          <a:xfrm rot="5383629">
            <a:off x="4762500" y="3994165"/>
            <a:ext cx="2667000" cy="12700"/>
          </a:xfrm>
          <a:prstGeom prst="straightConnector1">
            <a:avLst/>
          </a:prstGeom>
          <a:solidFill>
            <a:srgbClr val="DEE0E3">
              <a:alpha val="100000"/>
            </a:srgbClr>
          </a:solidFill>
          <a:ln w="12700" cap="flat" cmpd="sng">
            <a:solidFill>
              <a:srgbClr val="4B5563">
                <a:alpha val="100000"/>
              </a:srgbClr>
            </a:solidFill>
            <a:prstDash val="dash"/>
            <a:round/>
            <a:headEnd type="none" w="med" len="med"/>
            <a:tailEnd type="none" w="med" len="med"/>
          </a:ln>
        </p:spPr>
      </p:cxnSp>
      <p:sp>
        <p:nvSpPr>
          <p:cNvPr id="12" name="AutoShape 12"/>
          <p:cNvSpPr/>
          <p:nvPr/>
        </p:nvSpPr>
        <p:spPr>
          <a:xfrm>
            <a:off x="6350000" y="2667000"/>
            <a:ext cx="49530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6B7280"/>
                </a:solidFill>
                <a:latin typeface="Source Code Pro"/>
                <a:ea typeface="Source Code Pro"/>
                <a:cs typeface="Source Code Pro"/>
                <a:sym typeface="Source Code Pro"/>
              </a:rPr>
              <a:t># 容器类型与访问</a:t>
            </a:r>
            <a:endParaRPr lang="en-US" sz="1100"/>
          </a:p>
          <a:p>
            <a:pPr marL="0" indent="0" algn="l">
              <a:lnSpc>
                <a:spcPct val="116666"/>
              </a:lnSpc>
            </a:pPr>
            <a:r>
              <a:rPr lang="en-US" sz="1300" b="0" i="0" u="none" strike="noStrike">
                <a:solidFill>
                  <a:srgbClr val="E5E7EB"/>
                </a:solidFill>
                <a:latin typeface="Source Code Pro"/>
                <a:ea typeface="Source Code Pro"/>
                <a:cs typeface="Source Code Pro"/>
                <a:sym typeface="Source Code Pro"/>
              </a:rPr>
              <a:t>fruits = [</a:t>
            </a:r>
            <a:r>
              <a:rPr lang="en-US" sz="1300" b="0" i="0" u="none" strike="noStrike">
                <a:solidFill>
                  <a:srgbClr val="10B981"/>
                </a:solidFill>
                <a:latin typeface="Source Code Pro"/>
                <a:ea typeface="Source Code Pro"/>
                <a:cs typeface="Source Code Pro"/>
                <a:sym typeface="Source Code Pro"/>
              </a:rPr>
              <a:t>"Apple"</a:t>
            </a:r>
            <a:r>
              <a:rPr lang="en-US" sz="1300" b="0" i="0" u="none" strike="noStrike">
                <a:solidFill>
                  <a:srgbClr val="E5E7EB"/>
                </a:solidFill>
                <a:latin typeface="Source Code Pro"/>
                <a:ea typeface="Source Code Pro"/>
                <a:cs typeface="Source Code Pro"/>
                <a:sym typeface="Source Code Pro"/>
              </a:rPr>
              <a:t>,</a:t>
            </a:r>
            <a:r>
              <a:rPr lang="en-US" sz="1300" b="0" i="0" u="none" strike="noStrike">
                <a:solidFill>
                  <a:srgbClr val="10B981"/>
                </a:solidFill>
                <a:latin typeface="Source Code Pro"/>
                <a:ea typeface="Source Code Pro"/>
                <a:cs typeface="Source Code Pro"/>
                <a:sym typeface="Source Code Pro"/>
              </a:rPr>
              <a:t>"Banana"</a:t>
            </a:r>
            <a:r>
              <a:rPr lang="en-US" sz="1300" b="0" i="0" u="none" strike="noStrike">
                <a:solidFill>
                  <a:srgbClr val="E5E7EB"/>
                </a:solidFill>
                <a:latin typeface="Source Code Pro"/>
                <a:ea typeface="Source Code Pro"/>
                <a:cs typeface="Source Code Pro"/>
                <a:sym typeface="Source Code Pro"/>
              </a:rPr>
              <a:t>] # list 列表</a:t>
            </a:r>
          </a:p>
          <a:p>
            <a:pPr marL="0" indent="0" algn="l">
              <a:lnSpc>
                <a:spcPct val="116666"/>
              </a:lnSpc>
            </a:pPr>
            <a:r>
              <a:rPr lang="en-US" sz="1300" b="0" i="0" u="none" strike="noStrike">
                <a:solidFill>
                  <a:srgbClr val="E5E7EB"/>
                </a:solidFill>
                <a:latin typeface="Source Code Pro"/>
                <a:ea typeface="Source Code Pro"/>
                <a:cs typeface="Source Code Pro"/>
                <a:sym typeface="Source Code Pro"/>
              </a:rPr>
              <a:t>user = {</a:t>
            </a:r>
            <a:r>
              <a:rPr lang="en-US" sz="1300" b="0" i="0" u="none" strike="noStrike">
                <a:solidFill>
                  <a:srgbClr val="10B981"/>
                </a:solidFill>
                <a:latin typeface="Source Code Pro"/>
                <a:ea typeface="Source Code Pro"/>
                <a:cs typeface="Source Code Pro"/>
                <a:sym typeface="Source Code Pro"/>
              </a:rPr>
              <a:t>"id"</a:t>
            </a:r>
            <a:r>
              <a:rPr lang="en-US" sz="1300" b="0" i="0" u="none" strike="noStrike">
                <a:solidFill>
                  <a:srgbClr val="E5E7EB"/>
                </a:solidFill>
                <a:latin typeface="Source Code Pro"/>
                <a:ea typeface="Source Code Pro"/>
                <a:cs typeface="Source Code Pro"/>
                <a:sym typeface="Source Code Pro"/>
              </a:rPr>
              <a:t>: 101,</a:t>
            </a:r>
            <a:r>
              <a:rPr lang="en-US" sz="1300" b="0" i="0" u="none" strike="noStrike">
                <a:solidFill>
                  <a:srgbClr val="10B981"/>
                </a:solidFill>
                <a:latin typeface="Source Code Pro"/>
                <a:ea typeface="Source Code Pro"/>
                <a:cs typeface="Source Code Pro"/>
                <a:sym typeface="Source Code Pro"/>
              </a:rPr>
              <a:t>"city"</a:t>
            </a:r>
            <a:r>
              <a:rPr lang="en-US" sz="1300" b="0" i="0" u="none" strike="noStrike">
                <a:solidFill>
                  <a:srgbClr val="E5E7EB"/>
                </a:solidFill>
                <a:latin typeface="Source Code Pro"/>
                <a:ea typeface="Source Code Pro"/>
                <a:cs typeface="Source Code Pro"/>
                <a:sym typeface="Source Code Pro"/>
              </a:rPr>
              <a:t>:</a:t>
            </a:r>
            <a:r>
              <a:rPr lang="en-US" sz="1300" b="0" i="0" u="none" strike="noStrike">
                <a:solidFill>
                  <a:srgbClr val="10B981"/>
                </a:solidFill>
                <a:latin typeface="Source Code Pro"/>
                <a:ea typeface="Source Code Pro"/>
                <a:cs typeface="Source Code Pro"/>
                <a:sym typeface="Source Code Pro"/>
              </a:rPr>
              <a:t>"BJ"</a:t>
            </a:r>
            <a:r>
              <a:rPr lang="en-US" sz="1300" b="0" i="0" u="none" strike="noStrike">
                <a:solidFill>
                  <a:srgbClr val="E5E7EB"/>
                </a:solidFill>
                <a:latin typeface="Source Code Pro"/>
                <a:ea typeface="Source Code Pro"/>
                <a:cs typeface="Source Code Pro"/>
                <a:sym typeface="Source Code Pro"/>
              </a:rPr>
              <a:t>} # dict 字典</a:t>
            </a:r>
          </a:p>
          <a:p>
            <a:pPr marL="0" indent="0" algn="l">
              <a:lnSpc>
                <a:spcPct val="116666"/>
              </a:lnSpc>
            </a:pPr>
            <a:r>
              <a:rPr lang="en-US" sz="1300" b="0" i="0" u="none" strike="noStrike">
                <a:solidFill>
                  <a:srgbClr val="E5E7EB"/>
                </a:solidFill>
                <a:latin typeface="Source Code Pro"/>
                <a:ea typeface="Source Code Pro"/>
                <a:cs typeface="Source Code Pro"/>
                <a:sym typeface="Source Code Pro"/>
              </a:rPr>
              <a:t>unique = {1, 2, 2, 3} # set 集合 (自动去重)</a:t>
            </a:r>
          </a:p>
          <a:p>
            <a:pPr marL="0" indent="0" algn="l">
              <a:lnSpc>
                <a:spcPct val="116666"/>
              </a:lnSpc>
            </a:pPr>
            <a:r>
              <a:rPr lang="en-US" sz="1300" b="0" i="0" u="none" strike="noStrike">
                <a:solidFill>
                  <a:srgbClr val="C084FC"/>
                </a:solidFill>
                <a:latin typeface="Source Code Pro"/>
                <a:ea typeface="Source Code Pro"/>
                <a:cs typeface="Source Code Pro"/>
                <a:sym typeface="Source Code Pro"/>
              </a:rPr>
              <a:t>print</a:t>
            </a:r>
            <a:r>
              <a:rPr lang="en-US" sz="1300" b="0" i="0" u="none" strike="noStrike">
                <a:solidFill>
                  <a:srgbClr val="E5E7EB"/>
                </a:solidFill>
                <a:latin typeface="Source Code Pro"/>
                <a:ea typeface="Source Code Pro"/>
                <a:cs typeface="Source Code Pro"/>
                <a:sym typeface="Source Code Pro"/>
              </a:rPr>
              <a:t>(fruits[0]) # 输出: Apple (索引访问)</a:t>
            </a:r>
          </a:p>
          <a:p>
            <a:pPr marL="0" indent="0" algn="l">
              <a:lnSpc>
                <a:spcPct val="116666"/>
              </a:lnSpc>
            </a:pPr>
            <a:r>
              <a:rPr lang="en-US" sz="1300" b="0" i="0" u="none" strike="noStrike">
                <a:solidFill>
                  <a:srgbClr val="C084FC"/>
                </a:solidFill>
                <a:latin typeface="Source Code Pro"/>
                <a:ea typeface="Source Code Pro"/>
                <a:cs typeface="Source Code Pro"/>
                <a:sym typeface="Source Code Pro"/>
              </a:rPr>
              <a:t>print</a:t>
            </a:r>
            <a:r>
              <a:rPr lang="en-US" sz="1300" b="0" i="0" u="none" strike="noStrike">
                <a:solidFill>
                  <a:srgbClr val="E5E7EB"/>
                </a:solidFill>
                <a:latin typeface="Source Code Pro"/>
                <a:ea typeface="Source Code Pro"/>
                <a:cs typeface="Source Code Pro"/>
                <a:sym typeface="Source Code Pro"/>
              </a:rPr>
              <a:t>(user["city"]) # 输出: BJ (键访问)</a:t>
            </a:r>
          </a:p>
        </p:txBody>
      </p:sp>
      <p:sp>
        <p:nvSpPr>
          <p:cNvPr id="13" name="AutoShape 13"/>
          <p:cNvSpPr/>
          <p:nvPr/>
        </p:nvSpPr>
        <p:spPr>
          <a:xfrm>
            <a:off x="762000" y="5905500"/>
            <a:ext cx="10668000" cy="609600"/>
          </a:xfrm>
          <a:prstGeom prst="roundRect">
            <a:avLst>
              <a:gd name="adj" fmla="val 0"/>
            </a:avLst>
          </a:prstGeom>
          <a:solidFill>
            <a:srgbClr val="F3F4F6">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6096000"/>
            <a:ext cx="228600" cy="228600"/>
          </a:xfrm>
          <a:prstGeom prst="rect">
            <a:avLst/>
          </a:prstGeom>
        </p:spPr>
      </p:pic>
      <p:sp>
        <p:nvSpPr>
          <p:cNvPr id="15" name="AutoShape 15"/>
          <p:cNvSpPr/>
          <p:nvPr/>
        </p:nvSpPr>
        <p:spPr>
          <a:xfrm>
            <a:off x="1270000" y="6019800"/>
            <a:ext cx="10033000" cy="609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74151"/>
                </a:solidFill>
                <a:latin typeface="Noto Sans SC"/>
                <a:ea typeface="Noto Sans SC"/>
                <a:cs typeface="Noto Sans SC"/>
                <a:sym typeface="Noto Sans SC"/>
              </a:rPr>
              <a:t>核心特性：</a:t>
            </a:r>
            <a:r>
              <a:rPr lang="en-US" sz="1300" b="0" i="0" u="none" strike="noStrike">
                <a:solidFill>
                  <a:srgbClr val="374151"/>
                </a:solidFill>
                <a:latin typeface="Noto Sans SC"/>
                <a:ea typeface="Noto Sans SC"/>
                <a:cs typeface="Noto Sans SC"/>
                <a:sym typeface="Noto Sans SC"/>
              </a:rPr>
              <a:t>Python 采用</a:t>
            </a:r>
            <a:r>
              <a:rPr lang="en-US" sz="1300" b="1" i="0" u="none" strike="noStrike">
                <a:solidFill>
                  <a:srgbClr val="374151"/>
                </a:solidFill>
                <a:latin typeface="Noto Sans SC"/>
                <a:ea typeface="Noto Sans SC"/>
                <a:cs typeface="Noto Sans SC"/>
                <a:sym typeface="Noto Sans SC"/>
              </a:rPr>
              <a:t>动态类型系统</a:t>
            </a:r>
            <a:r>
              <a:rPr lang="en-US" sz="1300" b="0" i="0" u="none" strike="noStrike">
                <a:solidFill>
                  <a:srgbClr val="374151"/>
                </a:solidFill>
                <a:latin typeface="Noto Sans SC"/>
                <a:ea typeface="Noto Sans SC"/>
                <a:cs typeface="Noto Sans SC"/>
                <a:sym typeface="Noto Sans SC"/>
              </a:rPr>
              <a:t>，变量类型由赋值决定；集合（Set）会自动剔除重复项，常用于去重场景；字典（Dict）通过键值对存储，是处理结构化数据的基础。</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1.2 基础语法：控制流</a:t>
            </a:r>
            <a:endParaRPr lang="en-US" sz="1100"/>
          </a:p>
        </p:txBody>
      </p:sp>
      <p:sp>
        <p:nvSpPr>
          <p:cNvPr id="4" name="AutoShape 4"/>
          <p:cNvSpPr/>
          <p:nvPr/>
        </p:nvSpPr>
        <p:spPr>
          <a:xfrm>
            <a:off x="762000" y="2032000"/>
            <a:ext cx="3378200" cy="33020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286000"/>
            <a:ext cx="406400" cy="406400"/>
          </a:xfrm>
          <a:prstGeom prst="rect">
            <a:avLst/>
          </a:prstGeom>
        </p:spPr>
      </p:pic>
      <p:sp>
        <p:nvSpPr>
          <p:cNvPr id="6" name="AutoShape 6"/>
          <p:cNvSpPr/>
          <p:nvPr/>
        </p:nvSpPr>
        <p:spPr>
          <a:xfrm>
            <a:off x="1524000" y="22860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条件分支逻辑</a:t>
            </a:r>
            <a:endParaRPr lang="en-US" sz="1100"/>
          </a:p>
        </p:txBody>
      </p:sp>
      <p:cxnSp>
        <p:nvCxnSpPr>
          <p:cNvPr id="7" name="Connector 7"/>
          <p:cNvCxnSpPr/>
          <p:nvPr/>
        </p:nvCxnSpPr>
        <p:spPr>
          <a:xfrm rot="-15211">
            <a:off x="1016014" y="28511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8" name="AutoShape 8"/>
          <p:cNvSpPr/>
          <p:nvPr/>
        </p:nvSpPr>
        <p:spPr>
          <a:xfrm>
            <a:off x="1016000" y="3048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利用</a:t>
            </a:r>
            <a:r>
              <a:rPr lang="en-US" sz="1400" b="1" i="0" u="none" strike="noStrike">
                <a:solidFill>
                  <a:srgbClr val="4B5563"/>
                </a:solidFill>
                <a:latin typeface="Noto Sans SC"/>
                <a:ea typeface="Noto Sans SC"/>
                <a:cs typeface="Noto Sans SC"/>
                <a:sym typeface="Noto Sans SC"/>
              </a:rPr>
              <a:t>if-elif-else</a:t>
            </a:r>
            <a:r>
              <a:rPr lang="en-US" sz="1400" b="0" i="0" u="none" strike="noStrike">
                <a:solidFill>
                  <a:srgbClr val="4B5563"/>
                </a:solidFill>
                <a:latin typeface="Noto Sans SC"/>
                <a:ea typeface="Noto Sans SC"/>
                <a:cs typeface="Noto Sans SC"/>
                <a:sym typeface="Noto Sans SC"/>
              </a:rPr>
              <a:t>结构进行逻辑判断。根据条件的真假决定程序的执行路径，满足条件时执行对应代码块，是实现程序“决策能力”的基础。</a:t>
            </a:r>
            <a:endParaRPr lang="en-US" sz="1100"/>
          </a:p>
        </p:txBody>
      </p:sp>
      <p:sp>
        <p:nvSpPr>
          <p:cNvPr id="9" name="AutoShape 9"/>
          <p:cNvSpPr/>
          <p:nvPr/>
        </p:nvSpPr>
        <p:spPr>
          <a:xfrm>
            <a:off x="4406900" y="2032000"/>
            <a:ext cx="3378200" cy="33020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2286000"/>
            <a:ext cx="406400" cy="406400"/>
          </a:xfrm>
          <a:prstGeom prst="rect">
            <a:avLst/>
          </a:prstGeom>
        </p:spPr>
      </p:pic>
      <p:sp>
        <p:nvSpPr>
          <p:cNvPr id="11" name="AutoShape 11"/>
          <p:cNvSpPr/>
          <p:nvPr/>
        </p:nvSpPr>
        <p:spPr>
          <a:xfrm>
            <a:off x="5168900" y="22860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循环迭代机制</a:t>
            </a:r>
            <a:endParaRPr lang="en-US" sz="1100"/>
          </a:p>
        </p:txBody>
      </p:sp>
      <p:cxnSp>
        <p:nvCxnSpPr>
          <p:cNvPr id="12" name="Connector 12"/>
          <p:cNvCxnSpPr/>
          <p:nvPr/>
        </p:nvCxnSpPr>
        <p:spPr>
          <a:xfrm rot="-15211">
            <a:off x="4660914" y="28511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3" name="AutoShape 13"/>
          <p:cNvSpPr/>
          <p:nvPr/>
        </p:nvSpPr>
        <p:spPr>
          <a:xfrm>
            <a:off x="4660900" y="3048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4B5563"/>
                </a:solidFill>
                <a:latin typeface="Noto Sans SC"/>
                <a:ea typeface="Noto Sans SC"/>
                <a:cs typeface="Noto Sans SC"/>
                <a:sym typeface="Noto Sans SC"/>
              </a:rPr>
              <a:t>for 循环：</a:t>
            </a:r>
            <a:r>
              <a:rPr lang="en-US" sz="1400" b="0" i="0" u="none" strike="noStrike">
                <a:solidFill>
                  <a:srgbClr val="4B5563"/>
                </a:solidFill>
                <a:latin typeface="Noto Sans SC"/>
                <a:ea typeface="Noto Sans SC"/>
                <a:cs typeface="Noto Sans SC"/>
                <a:sym typeface="Noto Sans SC"/>
              </a:rPr>
              <a:t>专用于遍历列表、字符串等可迭代对象，简洁高效。</a:t>
            </a:r>
            <a:br>
              <a:rPr lang="en-US" sz="1400" b="0" i="0" u="none" strike="noStrike">
                <a:solidFill>
                  <a:srgbClr val="4B5563"/>
                </a:solidFill>
                <a:latin typeface="Noto Sans SC"/>
                <a:ea typeface="Noto Sans SC"/>
                <a:cs typeface="Noto Sans SC"/>
                <a:sym typeface="Noto Sans SC"/>
              </a:rPr>
            </a:br>
            <a:r>
              <a:rPr lang="en-US" sz="1400" b="1" i="0" u="none" strike="noStrike">
                <a:solidFill>
                  <a:srgbClr val="4B5563"/>
                </a:solidFill>
                <a:latin typeface="Noto Sans SC"/>
                <a:ea typeface="Noto Sans SC"/>
                <a:cs typeface="Noto Sans SC"/>
                <a:sym typeface="Noto Sans SC"/>
              </a:rPr>
              <a:t>while 循环：</a:t>
            </a:r>
            <a:r>
              <a:rPr lang="en-US" sz="1400" b="0" i="0" u="none" strike="noStrike">
                <a:solidFill>
                  <a:srgbClr val="4B5563"/>
                </a:solidFill>
                <a:latin typeface="Noto Sans SC"/>
                <a:ea typeface="Noto Sans SC"/>
                <a:cs typeface="Noto Sans SC"/>
                <a:sym typeface="Noto Sans SC"/>
              </a:rPr>
              <a:t>基于条件表达式循环，只要条件为真就持续执行，适合处理未知次数的重复任务。</a:t>
            </a:r>
            <a:endParaRPr lang="en-US" sz="1100"/>
          </a:p>
        </p:txBody>
      </p:sp>
      <p:sp>
        <p:nvSpPr>
          <p:cNvPr id="14" name="AutoShape 14"/>
          <p:cNvSpPr/>
          <p:nvPr/>
        </p:nvSpPr>
        <p:spPr>
          <a:xfrm>
            <a:off x="8051800" y="2032000"/>
            <a:ext cx="3378200" cy="33020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2286000"/>
            <a:ext cx="406400" cy="406400"/>
          </a:xfrm>
          <a:prstGeom prst="rect">
            <a:avLst/>
          </a:prstGeom>
        </p:spPr>
      </p:pic>
      <p:sp>
        <p:nvSpPr>
          <p:cNvPr id="16" name="AutoShape 16"/>
          <p:cNvSpPr/>
          <p:nvPr/>
        </p:nvSpPr>
        <p:spPr>
          <a:xfrm>
            <a:off x="8813800" y="22860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流程控制关键字</a:t>
            </a:r>
            <a:endParaRPr lang="en-US" sz="1100"/>
          </a:p>
        </p:txBody>
      </p:sp>
      <p:cxnSp>
        <p:nvCxnSpPr>
          <p:cNvPr id="17" name="Connector 17"/>
          <p:cNvCxnSpPr/>
          <p:nvPr/>
        </p:nvCxnSpPr>
        <p:spPr>
          <a:xfrm rot="-15211">
            <a:off x="8305814" y="28511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8" name="AutoShape 18"/>
          <p:cNvSpPr/>
          <p:nvPr/>
        </p:nvSpPr>
        <p:spPr>
          <a:xfrm>
            <a:off x="8305800" y="3048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4B5563"/>
                </a:solidFill>
                <a:latin typeface="Noto Sans SC"/>
                <a:ea typeface="Noto Sans SC"/>
                <a:cs typeface="Noto Sans SC"/>
                <a:sym typeface="Noto Sans SC"/>
              </a:rPr>
              <a:t>break：</a:t>
            </a:r>
            <a:r>
              <a:rPr lang="en-US" sz="1400" b="0" i="0" u="none" strike="noStrike">
                <a:solidFill>
                  <a:srgbClr val="4B5563"/>
                </a:solidFill>
                <a:latin typeface="Noto Sans SC"/>
                <a:ea typeface="Noto Sans SC"/>
                <a:cs typeface="Noto Sans SC"/>
                <a:sym typeface="Noto Sans SC"/>
              </a:rPr>
              <a:t>立即终止并跳出当前循环，不再执行后续迭代。</a:t>
            </a:r>
            <a:br>
              <a:rPr lang="en-US" sz="1400" b="0" i="0" u="none" strike="noStrike">
                <a:solidFill>
                  <a:srgbClr val="4B5563"/>
                </a:solidFill>
                <a:latin typeface="Noto Sans SC"/>
                <a:ea typeface="Noto Sans SC"/>
                <a:cs typeface="Noto Sans SC"/>
                <a:sym typeface="Noto Sans SC"/>
              </a:rPr>
            </a:br>
            <a:r>
              <a:rPr lang="en-US" sz="1400" b="1" i="0" u="none" strike="noStrike">
                <a:solidFill>
                  <a:srgbClr val="4B5563"/>
                </a:solidFill>
                <a:latin typeface="Noto Sans SC"/>
                <a:ea typeface="Noto Sans SC"/>
                <a:cs typeface="Noto Sans SC"/>
                <a:sym typeface="Noto Sans SC"/>
              </a:rPr>
              <a:t>continue：</a:t>
            </a:r>
            <a:r>
              <a:rPr lang="en-US" sz="1400" b="0" i="0" u="none" strike="noStrike">
                <a:solidFill>
                  <a:srgbClr val="4B5563"/>
                </a:solidFill>
                <a:latin typeface="Noto Sans SC"/>
                <a:ea typeface="Noto Sans SC"/>
                <a:cs typeface="Noto Sans SC"/>
                <a:sym typeface="Noto Sans SC"/>
              </a:rPr>
              <a:t>跳过当前循环的剩余语句，直接进入下一轮循环的条件判断，实现更灵活的流程控制。</a:t>
            </a:r>
            <a:endParaRPr lang="en-US" sz="1100"/>
          </a:p>
        </p:txBody>
      </p:sp>
      <p:sp>
        <p:nvSpPr>
          <p:cNvPr id="19" name="AutoShape 19"/>
          <p:cNvSpPr/>
          <p:nvPr/>
        </p:nvSpPr>
        <p:spPr>
          <a:xfrm>
            <a:off x="762000" y="571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 核心意义：控制流是程序的“大脑与骨架”，它赋予代码处理复杂逻辑、自动执行重复任务和进行动态决策的能力，是从简单指令迈向复杂应用开发的关键基石。</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控制流示例：条件语句</a:t>
            </a:r>
            <a:endParaRPr lang="en-US" sz="1100"/>
          </a:p>
        </p:txBody>
      </p:sp>
      <p:sp>
        <p:nvSpPr>
          <p:cNvPr id="4" name="AutoShape 4"/>
          <p:cNvSpPr/>
          <p:nvPr/>
        </p:nvSpPr>
        <p:spPr>
          <a:xfrm>
            <a:off x="762000" y="1905000"/>
            <a:ext cx="5334000" cy="457200"/>
          </a:xfrm>
          <a:prstGeom prst="roundRect">
            <a:avLst>
              <a:gd name="adj" fmla="val 0"/>
            </a:avLst>
          </a:prstGeom>
          <a:solidFill>
            <a:srgbClr val="1F2937">
              <a:alpha val="85000"/>
            </a:srgbClr>
          </a:solidFill>
          <a:ln cap="flat" cmpd="sng">
            <a:solidFill>
              <a:srgbClr val="0E141E">
                <a:alpha val="8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2057400"/>
            <a:ext cx="152400" cy="152400"/>
          </a:xfrm>
          <a:prstGeom prst="ellipse">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70000" y="2057400"/>
            <a:ext cx="152400" cy="152400"/>
          </a:xfrm>
          <a:prstGeom prst="ellipse">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587500" y="2057400"/>
            <a:ext cx="152400" cy="152400"/>
          </a:xfrm>
          <a:prstGeom prst="ellipse">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2362200"/>
            <a:ext cx="5334000" cy="2857500"/>
          </a:xfrm>
          <a:prstGeom prst="roundRect">
            <a:avLst>
              <a:gd name="adj" fmla="val 0"/>
            </a:avLst>
          </a:prstGeom>
          <a:solidFill>
            <a:srgbClr val="F8FAFC">
              <a:alpha val="8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89000" y="2489200"/>
            <a:ext cx="50800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Roboto Mono"/>
                <a:ea typeface="Roboto Mono"/>
                <a:cs typeface="Roboto Mono"/>
                <a:sym typeface="Roboto Mono"/>
              </a:rPr>
              <a:t>score = 85</a:t>
            </a:r>
            <a:endParaRPr lang="en-US" sz="1100"/>
          </a:p>
          <a:p>
            <a:pPr marL="0" indent="0" algn="l">
              <a:lnSpc>
                <a:spcPct val="108333"/>
              </a:lnSpc>
            </a:pPr>
            <a:r>
              <a:rPr lang="en-US" sz="1400" b="0" i="0" u="none" strike="noStrike">
                <a:solidFill>
                  <a:srgbClr val="C026D3"/>
                </a:solidFill>
                <a:latin typeface="Roboto Mono"/>
                <a:ea typeface="Roboto Mono"/>
                <a:cs typeface="Roboto Mono"/>
                <a:sym typeface="Roboto Mono"/>
              </a:rPr>
              <a:t>if</a:t>
            </a:r>
            <a:r>
              <a:rPr lang="en-US" sz="1400" b="0" i="0" u="none" strike="noStrike">
                <a:solidFill>
                  <a:srgbClr val="4B5563"/>
                </a:solidFill>
                <a:latin typeface="Roboto Mono"/>
                <a:ea typeface="Roboto Mono"/>
                <a:cs typeface="Roboto Mono"/>
                <a:sym typeface="Roboto Mono"/>
              </a:rPr>
              <a:t>score &gt;= 90:</a:t>
            </a:r>
          </a:p>
          <a:p>
            <a:pPr marL="0" indent="0" algn="l">
              <a:lnSpc>
                <a:spcPct val="108333"/>
              </a:lnSpc>
            </a:pPr>
            <a:r>
              <a:rPr lang="en-US" sz="1400" b="0" i="0" u="none" strike="noStrike">
                <a:solidFill>
                  <a:srgbClr val="4B5563"/>
                </a:solidFill>
                <a:latin typeface="Roboto Mono"/>
                <a:ea typeface="Roboto Mono"/>
                <a:cs typeface="Roboto Mono"/>
                <a:sym typeface="Roboto Mono"/>
              </a:rPr>
              <a:t>print(</a:t>
            </a:r>
            <a:r>
              <a:rPr lang="en-US" sz="1400" b="0" i="0" u="none" strike="noStrike">
                <a:solidFill>
                  <a:srgbClr val="059669"/>
                </a:solidFill>
                <a:latin typeface="Roboto Mono"/>
                <a:ea typeface="Roboto Mono"/>
                <a:cs typeface="Roboto Mono"/>
                <a:sym typeface="Roboto Mono"/>
              </a:rPr>
              <a:t>"优秀"</a:t>
            </a:r>
            <a:r>
              <a:rPr lang="en-US" sz="1400" b="0" i="0" u="none" strike="noStrike">
                <a:solidFill>
                  <a:srgbClr val="4B5563"/>
                </a:solidFill>
                <a:latin typeface="Roboto Mono"/>
                <a:ea typeface="Roboto Mono"/>
                <a:cs typeface="Roboto Mono"/>
                <a:sym typeface="Roboto Mono"/>
              </a:rPr>
              <a:t>)</a:t>
            </a:r>
          </a:p>
          <a:p>
            <a:pPr marL="0" indent="0" algn="l">
              <a:lnSpc>
                <a:spcPct val="108333"/>
              </a:lnSpc>
            </a:pPr>
            <a:r>
              <a:rPr lang="en-US" sz="1400" b="0" i="0" u="none" strike="noStrike">
                <a:solidFill>
                  <a:srgbClr val="C026D3"/>
                </a:solidFill>
                <a:latin typeface="Roboto Mono"/>
                <a:ea typeface="Roboto Mono"/>
                <a:cs typeface="Roboto Mono"/>
                <a:sym typeface="Roboto Mono"/>
              </a:rPr>
              <a:t>elif</a:t>
            </a:r>
            <a:r>
              <a:rPr lang="en-US" sz="1400" b="0" i="0" u="none" strike="noStrike">
                <a:solidFill>
                  <a:srgbClr val="4B5563"/>
                </a:solidFill>
                <a:latin typeface="Roboto Mono"/>
                <a:ea typeface="Roboto Mono"/>
                <a:cs typeface="Roboto Mono"/>
                <a:sym typeface="Roboto Mono"/>
              </a:rPr>
              <a:t>score &gt;= 80:</a:t>
            </a:r>
          </a:p>
          <a:p>
            <a:pPr marL="0" indent="0" algn="l">
              <a:lnSpc>
                <a:spcPct val="108333"/>
              </a:lnSpc>
            </a:pPr>
            <a:r>
              <a:rPr lang="en-US" sz="1400" b="0" i="0" u="none" strike="noStrike">
                <a:solidFill>
                  <a:srgbClr val="4B5563"/>
                </a:solidFill>
                <a:latin typeface="Roboto Mono"/>
                <a:ea typeface="Roboto Mono"/>
                <a:cs typeface="Roboto Mono"/>
                <a:sym typeface="Roboto Mono"/>
              </a:rPr>
              <a:t>print(</a:t>
            </a:r>
            <a:r>
              <a:rPr lang="en-US" sz="1400" b="0" i="0" u="none" strike="noStrike">
                <a:solidFill>
                  <a:srgbClr val="059669"/>
                </a:solidFill>
                <a:latin typeface="Roboto Mono"/>
                <a:ea typeface="Roboto Mono"/>
                <a:cs typeface="Roboto Mono"/>
                <a:sym typeface="Roboto Mono"/>
              </a:rPr>
              <a:t>"良好"</a:t>
            </a:r>
            <a:r>
              <a:rPr lang="en-US" sz="1400" b="0" i="0" u="none" strike="noStrike">
                <a:solidFill>
                  <a:srgbClr val="4B5563"/>
                </a:solidFill>
                <a:latin typeface="Roboto Mono"/>
                <a:ea typeface="Roboto Mono"/>
                <a:cs typeface="Roboto Mono"/>
                <a:sym typeface="Roboto Mono"/>
              </a:rPr>
              <a:t>)</a:t>
            </a:r>
            <a:r>
              <a:rPr lang="en-US" sz="1400" b="0" i="0" u="none" strike="noStrike">
                <a:solidFill>
                  <a:srgbClr val="6B7280"/>
                </a:solidFill>
                <a:latin typeface="Roboto Mono"/>
                <a:ea typeface="Roboto Mono"/>
                <a:cs typeface="Roboto Mono"/>
                <a:sym typeface="Roboto Mono"/>
              </a:rPr>
              <a:t># 条件满足，执行此行</a:t>
            </a:r>
          </a:p>
          <a:p>
            <a:pPr marL="0" indent="0" algn="l">
              <a:lnSpc>
                <a:spcPct val="108333"/>
              </a:lnSpc>
            </a:pPr>
            <a:r>
              <a:rPr lang="en-US" sz="1400" b="0" i="0" u="none" strike="noStrike">
                <a:solidFill>
                  <a:srgbClr val="C026D3"/>
                </a:solidFill>
                <a:latin typeface="Roboto Mono"/>
                <a:ea typeface="Roboto Mono"/>
                <a:cs typeface="Roboto Mono"/>
                <a:sym typeface="Roboto Mono"/>
              </a:rPr>
              <a:t>else</a:t>
            </a:r>
            <a:r>
              <a:rPr lang="en-US" sz="1400" b="0" i="0" u="none" strike="noStrike">
                <a:solidFill>
                  <a:srgbClr val="4B5563"/>
                </a:solidFill>
                <a:latin typeface="Roboto Mono"/>
                <a:ea typeface="Roboto Mono"/>
                <a:cs typeface="Roboto Mono"/>
                <a:sym typeface="Roboto Mono"/>
              </a:rPr>
              <a:t>:</a:t>
            </a:r>
          </a:p>
          <a:p>
            <a:pPr marL="0" indent="0" algn="l">
              <a:lnSpc>
                <a:spcPct val="108333"/>
              </a:lnSpc>
            </a:pPr>
            <a:r>
              <a:rPr lang="en-US" sz="1400" b="0" i="0" u="none" strike="noStrike">
                <a:solidFill>
                  <a:srgbClr val="4B5563"/>
                </a:solidFill>
                <a:latin typeface="Roboto Mono"/>
                <a:ea typeface="Roboto Mono"/>
                <a:cs typeface="Roboto Mono"/>
                <a:sym typeface="Roboto Mono"/>
              </a:rPr>
              <a:t>print(</a:t>
            </a:r>
            <a:r>
              <a:rPr lang="en-US" sz="1400" b="0" i="0" u="none" strike="noStrike">
                <a:solidFill>
                  <a:srgbClr val="059669"/>
                </a:solidFill>
                <a:latin typeface="Roboto Mono"/>
                <a:ea typeface="Roboto Mono"/>
                <a:cs typeface="Roboto Mono"/>
                <a:sym typeface="Roboto Mono"/>
              </a:rPr>
              <a:t>"继续努力"</a:t>
            </a:r>
            <a:r>
              <a:rPr lang="en-US" sz="1400" b="0" i="0" u="none" strike="noStrike">
                <a:solidFill>
                  <a:srgbClr val="4B5563"/>
                </a:solidFill>
                <a:latin typeface="Roboto Mono"/>
                <a:ea typeface="Roboto Mono"/>
                <a:cs typeface="Roboto Mono"/>
                <a:sym typeface="Roboto Mono"/>
              </a:rPr>
              <a:t>)</a:t>
            </a:r>
          </a:p>
        </p:txBody>
      </p:sp>
      <p:sp>
        <p:nvSpPr>
          <p:cNvPr id="10" name="AutoShape 10"/>
          <p:cNvSpPr/>
          <p:nvPr/>
        </p:nvSpPr>
        <p:spPr>
          <a:xfrm>
            <a:off x="762000" y="5461000"/>
            <a:ext cx="5334000" cy="635000"/>
          </a:xfrm>
          <a:prstGeom prst="roundRect">
            <a:avLst>
              <a:gd name="adj" fmla="val 0"/>
            </a:avLst>
          </a:prstGeom>
          <a:solidFill>
            <a:srgbClr val="2563EB">
              <a:alpha val="8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89000" y="55626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Noto Sans SC"/>
                <a:ea typeface="Noto Sans SC"/>
                <a:cs typeface="Noto Sans SC"/>
                <a:sym typeface="Noto Sans SC"/>
              </a:rPr>
              <a:t>💡 核心机制：</a:t>
            </a:r>
            <a:r>
              <a:rPr lang="en-US" sz="1400" b="0" i="0" u="none" strike="noStrike">
                <a:solidFill>
                  <a:srgbClr val="374151"/>
                </a:solidFill>
                <a:latin typeface="Noto Sans SC"/>
                <a:ea typeface="Noto Sans SC"/>
                <a:cs typeface="Noto Sans SC"/>
                <a:sym typeface="Noto Sans SC"/>
              </a:rPr>
              <a:t>自上而下依次判断，找到第一个满足的条件后立即执行并退出，后续条件不再检查。</a:t>
            </a:r>
            <a:endParaRPr lang="en-US" sz="1100"/>
          </a:p>
        </p:txBody>
      </p:sp>
      <p:sp>
        <p:nvSpPr>
          <p:cNvPr id="12" name="AutoShape 12"/>
          <p:cNvSpPr/>
          <p:nvPr/>
        </p:nvSpPr>
        <p:spPr>
          <a:xfrm>
            <a:off x="6477000" y="1905000"/>
            <a:ext cx="5080000" cy="1143000"/>
          </a:xfrm>
          <a:prstGeom prst="roundRect">
            <a:avLst>
              <a:gd name="adj" fmla="val 0"/>
            </a:avLst>
          </a:prstGeom>
          <a:solidFill>
            <a:srgbClr val="FFFFFF">
              <a:alpha val="7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7500" y="2095500"/>
            <a:ext cx="406400" cy="406400"/>
          </a:xfrm>
          <a:prstGeom prst="rect">
            <a:avLst/>
          </a:prstGeom>
        </p:spPr>
      </p:pic>
      <p:sp>
        <p:nvSpPr>
          <p:cNvPr id="14" name="AutoShape 14"/>
          <p:cNvSpPr/>
          <p:nvPr/>
        </p:nvSpPr>
        <p:spPr>
          <a:xfrm>
            <a:off x="7175500" y="2032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01. 初始筛查</a:t>
            </a:r>
            <a:endParaRPr lang="en-US" sz="1100"/>
          </a:p>
          <a:p>
            <a:pPr marL="0" indent="0" algn="l">
              <a:lnSpc>
                <a:spcPct val="100000"/>
              </a:lnSpc>
            </a:pPr>
            <a:r>
              <a:rPr lang="en-US" sz="1300" b="0" i="0" u="none" strike="noStrike">
                <a:solidFill>
                  <a:srgbClr val="4B5563"/>
                </a:solidFill>
                <a:latin typeface="Noto Sans SC"/>
                <a:ea typeface="Noto Sans SC"/>
                <a:cs typeface="Noto Sans SC"/>
                <a:sym typeface="Noto Sans SC"/>
              </a:rPr>
              <a:t>首先检查 `score &gt;= 90`，当前分数85不满足，程序跳过该分支，继续向下寻找匹配条件。</a:t>
            </a:r>
          </a:p>
        </p:txBody>
      </p:sp>
      <p:sp>
        <p:nvSpPr>
          <p:cNvPr id="15" name="AutoShape 15"/>
          <p:cNvSpPr/>
          <p:nvPr/>
        </p:nvSpPr>
        <p:spPr>
          <a:xfrm>
            <a:off x="6477000" y="3302000"/>
            <a:ext cx="5080000" cy="1143000"/>
          </a:xfrm>
          <a:prstGeom prst="roundRect">
            <a:avLst>
              <a:gd name="adj" fmla="val 0"/>
            </a:avLst>
          </a:prstGeom>
          <a:solidFill>
            <a:srgbClr val="FFFFFF">
              <a:alpha val="7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67500" y="3492500"/>
            <a:ext cx="406400" cy="406400"/>
          </a:xfrm>
          <a:prstGeom prst="rect">
            <a:avLst/>
          </a:prstGeom>
        </p:spPr>
      </p:pic>
      <p:sp>
        <p:nvSpPr>
          <p:cNvPr id="17" name="AutoShape 17"/>
          <p:cNvSpPr/>
          <p:nvPr/>
        </p:nvSpPr>
        <p:spPr>
          <a:xfrm>
            <a:off x="7175500" y="3429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02. 匹配执行</a:t>
            </a:r>
            <a:endParaRPr lang="en-US" sz="1100"/>
          </a:p>
          <a:p>
            <a:pPr marL="0" indent="0" algn="l">
              <a:lnSpc>
                <a:spcPct val="100000"/>
              </a:lnSpc>
            </a:pPr>
            <a:r>
              <a:rPr lang="en-US" sz="1300" b="0" i="0" u="none" strike="noStrike">
                <a:solidFill>
                  <a:srgbClr val="4B5563"/>
                </a:solidFill>
                <a:latin typeface="Noto Sans SC"/>
                <a:ea typeface="Noto Sans SC"/>
                <a:cs typeface="Noto Sans SC"/>
                <a:sym typeface="Noto Sans SC"/>
              </a:rPr>
              <a:t>检测到 `score &gt;= 80` 条件成立，执行对应代码块 `print("良好")`，输出结果。</a:t>
            </a:r>
          </a:p>
        </p:txBody>
      </p:sp>
      <p:sp>
        <p:nvSpPr>
          <p:cNvPr id="18" name="AutoShape 18"/>
          <p:cNvSpPr/>
          <p:nvPr/>
        </p:nvSpPr>
        <p:spPr>
          <a:xfrm>
            <a:off x="6477000" y="4699000"/>
            <a:ext cx="5080000" cy="1143000"/>
          </a:xfrm>
          <a:prstGeom prst="roundRect">
            <a:avLst>
              <a:gd name="adj" fmla="val 0"/>
            </a:avLst>
          </a:prstGeom>
          <a:solidFill>
            <a:srgbClr val="FFFFFF">
              <a:alpha val="7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67500" y="4889500"/>
            <a:ext cx="406400" cy="406400"/>
          </a:xfrm>
          <a:prstGeom prst="rect">
            <a:avLst/>
          </a:prstGeom>
        </p:spPr>
      </p:pic>
      <p:sp>
        <p:nvSpPr>
          <p:cNvPr id="20" name="AutoShape 20"/>
          <p:cNvSpPr/>
          <p:nvPr/>
        </p:nvSpPr>
        <p:spPr>
          <a:xfrm>
            <a:off x="7175500" y="4826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03. 流程终止</a:t>
            </a:r>
            <a:endParaRPr lang="en-US" sz="1100"/>
          </a:p>
          <a:p>
            <a:pPr marL="0" indent="0" algn="l">
              <a:lnSpc>
                <a:spcPct val="100000"/>
              </a:lnSpc>
            </a:pPr>
            <a:r>
              <a:rPr lang="en-US" sz="1300" b="0" i="0" u="none" strike="noStrike">
                <a:solidFill>
                  <a:srgbClr val="4B5563"/>
                </a:solidFill>
                <a:latin typeface="Noto Sans SC"/>
                <a:ea typeface="Noto Sans SC"/>
                <a:cs typeface="Noto Sans SC"/>
                <a:sym typeface="Noto Sans SC"/>
              </a:rPr>
              <a:t>一旦匹配成功，后续的 `elif` 和 `else` 分支将被直接忽略，整个条件判断结构结束。</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控制流示例：循环语句</a:t>
            </a:r>
            <a:endParaRPr lang="en-US" sz="1100"/>
          </a:p>
        </p:txBody>
      </p:sp>
      <p:sp>
        <p:nvSpPr>
          <p:cNvPr id="4" name="AutoShape 4"/>
          <p:cNvSpPr/>
          <p:nvPr/>
        </p:nvSpPr>
        <p:spPr>
          <a:xfrm>
            <a:off x="762000" y="1778000"/>
            <a:ext cx="5270500" cy="3937000"/>
          </a:xfrm>
          <a:prstGeom prst="roundRect">
            <a:avLst>
              <a:gd name="adj" fmla="val 0"/>
            </a:avLst>
          </a:prstGeom>
          <a:solidFill>
            <a:srgbClr val="F9FAFB">
              <a:alpha val="8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5270500" cy="508000"/>
          </a:xfrm>
          <a:prstGeom prst="roundRect">
            <a:avLst>
              <a:gd name="adj" fmla="val 0"/>
            </a:avLst>
          </a:prstGeom>
          <a:solidFill>
            <a:srgbClr val="E5E7EB">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8796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01 / 代码逻辑实现 (Python)</a:t>
            </a:r>
            <a:endParaRPr lang="en-US" sz="1100"/>
          </a:p>
        </p:txBody>
      </p:sp>
      <p:sp>
        <p:nvSpPr>
          <p:cNvPr id="7" name="AutoShape 7"/>
          <p:cNvSpPr/>
          <p:nvPr/>
        </p:nvSpPr>
        <p:spPr>
          <a:xfrm>
            <a:off x="952500" y="2413000"/>
            <a:ext cx="4953000" cy="311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6B7280"/>
                </a:solidFill>
                <a:latin typeface="Source Code Pro"/>
                <a:ea typeface="Source Code Pro"/>
                <a:cs typeface="Source Code Pro"/>
                <a:sym typeface="Source Code Pro"/>
              </a:rPr>
              <a:t># 遍历列表：逐个取出元素</a:t>
            </a:r>
            <a:endParaRPr lang="en-US" sz="1100"/>
          </a:p>
          <a:p>
            <a:pPr marL="0" indent="0" algn="l">
              <a:lnSpc>
                <a:spcPct val="108333"/>
              </a:lnSpc>
            </a:pPr>
            <a:r>
              <a:rPr lang="en-US" sz="1300" b="1" i="0" u="none" strike="noStrike">
                <a:solidFill>
                  <a:srgbClr val="DC2626"/>
                </a:solidFill>
                <a:latin typeface="Source Code Pro"/>
                <a:ea typeface="Source Code Pro"/>
                <a:cs typeface="Source Code Pro"/>
                <a:sym typeface="Source Code Pro"/>
              </a:rPr>
              <a:t>print</a:t>
            </a:r>
            <a:r>
              <a:rPr lang="en-US" sz="1300" b="0" i="0" u="none" strike="noStrike">
                <a:solidFill>
                  <a:srgbClr val="1F2937"/>
                </a:solidFill>
                <a:latin typeface="Source Code Pro"/>
                <a:ea typeface="Source Code Pro"/>
                <a:cs typeface="Source Code Pro"/>
                <a:sym typeface="Source Code Pro"/>
              </a:rPr>
              <a:t>(</a:t>
            </a:r>
            <a:r>
              <a:rPr lang="en-US" sz="1300" b="0" i="0" u="none" strike="noStrike">
                <a:solidFill>
                  <a:srgbClr val="16A34A"/>
                </a:solidFill>
                <a:latin typeface="Source Code Pro"/>
                <a:ea typeface="Source Code Pro"/>
                <a:cs typeface="Source Code Pro"/>
                <a:sym typeface="Source Code Pro"/>
              </a:rPr>
              <a:t>"=== For Loop 遍历 ==="</a:t>
            </a:r>
            <a:r>
              <a:rPr lang="en-US" sz="1300" b="0" i="0" u="none" strike="noStrike">
                <a:solidFill>
                  <a:srgbClr val="1F2937"/>
                </a:solidFill>
                <a:latin typeface="Source Code Pro"/>
                <a:ea typeface="Source Code Pro"/>
                <a:cs typeface="Source Code Pro"/>
                <a:sym typeface="Source Code Pro"/>
              </a:rPr>
              <a:t>)</a:t>
            </a:r>
          </a:p>
          <a:p>
            <a:pPr marL="0" indent="0" algn="l">
              <a:lnSpc>
                <a:spcPct val="108333"/>
              </a:lnSpc>
            </a:pPr>
            <a:r>
              <a:rPr lang="en-US" sz="1300" b="0" i="0" u="none" strike="noStrike">
                <a:solidFill>
                  <a:srgbClr val="1F2937"/>
                </a:solidFill>
                <a:latin typeface="Source Code Pro"/>
                <a:ea typeface="Source Code Pro"/>
                <a:cs typeface="Source Code Pro"/>
                <a:sym typeface="Source Code Pro"/>
              </a:rPr>
              <a:t>fruits = [</a:t>
            </a:r>
            <a:r>
              <a:rPr lang="en-US" sz="1300" b="0" i="0" u="none" strike="noStrike">
                <a:solidFill>
                  <a:srgbClr val="16A34A"/>
                </a:solidFill>
                <a:latin typeface="Source Code Pro"/>
                <a:ea typeface="Source Code Pro"/>
                <a:cs typeface="Source Code Pro"/>
                <a:sym typeface="Source Code Pro"/>
              </a:rPr>
              <a:t>"apple"</a:t>
            </a:r>
            <a:r>
              <a:rPr lang="en-US" sz="1300" b="0" i="0" u="none" strike="noStrike">
                <a:solidFill>
                  <a:srgbClr val="1F2937"/>
                </a:solidFill>
                <a:latin typeface="Source Code Pro"/>
                <a:ea typeface="Source Code Pro"/>
                <a:cs typeface="Source Code Pro"/>
                <a:sym typeface="Source Code Pro"/>
              </a:rPr>
              <a:t>,</a:t>
            </a:r>
            <a:r>
              <a:rPr lang="en-US" sz="1300" b="0" i="0" u="none" strike="noStrike">
                <a:solidFill>
                  <a:srgbClr val="16A34A"/>
                </a:solidFill>
                <a:latin typeface="Source Code Pro"/>
                <a:ea typeface="Source Code Pro"/>
                <a:cs typeface="Source Code Pro"/>
                <a:sym typeface="Source Code Pro"/>
              </a:rPr>
              <a:t>"banana"</a:t>
            </a:r>
            <a:r>
              <a:rPr lang="en-US" sz="1300" b="0" i="0" u="none" strike="noStrike">
                <a:solidFill>
                  <a:srgbClr val="1F2937"/>
                </a:solidFill>
                <a:latin typeface="Source Code Pro"/>
                <a:ea typeface="Source Code Pro"/>
                <a:cs typeface="Source Code Pro"/>
                <a:sym typeface="Source Code Pro"/>
              </a:rPr>
              <a:t>,</a:t>
            </a:r>
            <a:r>
              <a:rPr lang="en-US" sz="1300" b="0" i="0" u="none" strike="noStrike">
                <a:solidFill>
                  <a:srgbClr val="16A34A"/>
                </a:solidFill>
                <a:latin typeface="Source Code Pro"/>
                <a:ea typeface="Source Code Pro"/>
                <a:cs typeface="Source Code Pro"/>
                <a:sym typeface="Source Code Pro"/>
              </a:rPr>
              <a:t>"cherry"</a:t>
            </a:r>
            <a:r>
              <a:rPr lang="en-US" sz="1300" b="0" i="0" u="none" strike="noStrike">
                <a:solidFill>
                  <a:srgbClr val="1F2937"/>
                </a:solidFill>
                <a:latin typeface="Source Code Pro"/>
                <a:ea typeface="Source Code Pro"/>
                <a:cs typeface="Source Code Pro"/>
                <a:sym typeface="Source Code Pro"/>
              </a:rPr>
              <a:t>]</a:t>
            </a:r>
          </a:p>
          <a:p>
            <a:pPr marL="0" indent="0" algn="l">
              <a:lnSpc>
                <a:spcPct val="108333"/>
              </a:lnSpc>
            </a:pPr>
            <a:r>
              <a:rPr lang="en-US" sz="1300" b="1" i="0" u="none" strike="noStrike">
                <a:solidFill>
                  <a:srgbClr val="DC2626"/>
                </a:solidFill>
                <a:latin typeface="Source Code Pro"/>
                <a:ea typeface="Source Code Pro"/>
                <a:cs typeface="Source Code Pro"/>
                <a:sym typeface="Source Code Pro"/>
              </a:rPr>
              <a:t>for</a:t>
            </a:r>
            <a:r>
              <a:rPr lang="en-US" sz="1300" b="0" i="0" u="none" strike="noStrike">
                <a:solidFill>
                  <a:srgbClr val="1F2937"/>
                </a:solidFill>
                <a:latin typeface="Source Code Pro"/>
                <a:ea typeface="Source Code Pro"/>
                <a:cs typeface="Source Code Pro"/>
                <a:sym typeface="Source Code Pro"/>
              </a:rPr>
              <a:t>fruit</a:t>
            </a:r>
            <a:r>
              <a:rPr lang="en-US" sz="1300" b="1" i="0" u="none" strike="noStrike">
                <a:solidFill>
                  <a:srgbClr val="DC2626"/>
                </a:solidFill>
                <a:latin typeface="Source Code Pro"/>
                <a:ea typeface="Source Code Pro"/>
                <a:cs typeface="Source Code Pro"/>
                <a:sym typeface="Source Code Pro"/>
              </a:rPr>
              <a:t>in</a:t>
            </a:r>
            <a:r>
              <a:rPr lang="en-US" sz="1300" b="0" i="0" u="none" strike="noStrike">
                <a:solidFill>
                  <a:srgbClr val="1F2937"/>
                </a:solidFill>
                <a:latin typeface="Source Code Pro"/>
                <a:ea typeface="Source Code Pro"/>
                <a:cs typeface="Source Code Pro"/>
                <a:sym typeface="Source Code Pro"/>
              </a:rPr>
              <a:t>fruits:</a:t>
            </a:r>
            <a:r>
              <a:rPr lang="en-US" sz="1300" b="1" i="0" u="none" strike="noStrike">
                <a:solidFill>
                  <a:srgbClr val="DC2626"/>
                </a:solidFill>
                <a:latin typeface="Source Code Pro"/>
                <a:ea typeface="Source Code Pro"/>
                <a:cs typeface="Source Code Pro"/>
                <a:sym typeface="Source Code Pro"/>
              </a:rPr>
              <a:t>print</a:t>
            </a:r>
            <a:r>
              <a:rPr lang="en-US" sz="1300" b="0" i="0" u="none" strike="noStrike">
                <a:solidFill>
                  <a:srgbClr val="1F2937"/>
                </a:solidFill>
                <a:latin typeface="Source Code Pro"/>
                <a:ea typeface="Source Code Pro"/>
                <a:cs typeface="Source Code Pro"/>
                <a:sym typeface="Source Code Pro"/>
              </a:rPr>
              <a:t>(fruit)</a:t>
            </a:r>
          </a:p>
          <a:p>
            <a:pPr marL="0" indent="0" algn="l">
              <a:lnSpc>
                <a:spcPct val="108333"/>
              </a:lnSpc>
            </a:pPr>
            <a:r>
              <a:rPr lang="en-US" sz="1300" b="0" i="0" u="none" strike="noStrike">
                <a:solidFill>
                  <a:srgbClr val="6B7280"/>
                </a:solidFill>
                <a:latin typeface="Source Code Pro"/>
                <a:ea typeface="Source Code Pro"/>
                <a:cs typeface="Source Code Pro"/>
                <a:sym typeface="Source Code Pro"/>
              </a:rPr>
              <a:t># 条件循环：满足条件则持续执行</a:t>
            </a:r>
          </a:p>
          <a:p>
            <a:pPr marL="0" indent="0" algn="l">
              <a:lnSpc>
                <a:spcPct val="108333"/>
              </a:lnSpc>
            </a:pPr>
            <a:r>
              <a:rPr lang="en-US" sz="1300" b="1" i="0" u="none" strike="noStrike">
                <a:solidFill>
                  <a:srgbClr val="DC2626"/>
                </a:solidFill>
                <a:latin typeface="Source Code Pro"/>
                <a:ea typeface="Source Code Pro"/>
                <a:cs typeface="Source Code Pro"/>
                <a:sym typeface="Source Code Pro"/>
              </a:rPr>
              <a:t>print</a:t>
            </a:r>
            <a:r>
              <a:rPr lang="en-US" sz="1300" b="0" i="0" u="none" strike="noStrike">
                <a:solidFill>
                  <a:srgbClr val="1F2937"/>
                </a:solidFill>
                <a:latin typeface="Source Code Pro"/>
                <a:ea typeface="Source Code Pro"/>
                <a:cs typeface="Source Code Pro"/>
                <a:sym typeface="Source Code Pro"/>
              </a:rPr>
              <a:t>(</a:t>
            </a:r>
            <a:r>
              <a:rPr lang="en-US" sz="1300" b="0" i="0" u="none" strike="noStrike">
                <a:solidFill>
                  <a:srgbClr val="16A34A"/>
                </a:solidFill>
                <a:latin typeface="Source Code Pro"/>
                <a:ea typeface="Source Code Pro"/>
                <a:cs typeface="Source Code Pro"/>
                <a:sym typeface="Source Code Pro"/>
              </a:rPr>
              <a:t>"\n=== While Loop 计数 ==="</a:t>
            </a:r>
            <a:r>
              <a:rPr lang="en-US" sz="1300" b="0" i="0" u="none" strike="noStrike">
                <a:solidFill>
                  <a:srgbClr val="1F2937"/>
                </a:solidFill>
                <a:latin typeface="Source Code Pro"/>
                <a:ea typeface="Source Code Pro"/>
                <a:cs typeface="Source Code Pro"/>
                <a:sym typeface="Source Code Pro"/>
              </a:rPr>
              <a:t>)</a:t>
            </a:r>
          </a:p>
          <a:p>
            <a:pPr marL="0" indent="0" algn="l">
              <a:lnSpc>
                <a:spcPct val="108333"/>
              </a:lnSpc>
            </a:pPr>
            <a:r>
              <a:rPr lang="en-US" sz="1300" b="0" i="0" u="none" strike="noStrike">
                <a:solidFill>
                  <a:srgbClr val="1F2937"/>
                </a:solidFill>
                <a:latin typeface="Source Code Pro"/>
                <a:ea typeface="Source Code Pro"/>
                <a:cs typeface="Source Code Pro"/>
                <a:sym typeface="Source Code Pro"/>
              </a:rPr>
              <a:t>count = 0</a:t>
            </a:r>
          </a:p>
          <a:p>
            <a:pPr marL="0" indent="0" algn="l">
              <a:lnSpc>
                <a:spcPct val="108333"/>
              </a:lnSpc>
            </a:pPr>
            <a:r>
              <a:rPr lang="en-US" sz="1300" b="1" i="0" u="none" strike="noStrike">
                <a:solidFill>
                  <a:srgbClr val="DC2626"/>
                </a:solidFill>
                <a:latin typeface="Source Code Pro"/>
                <a:ea typeface="Source Code Pro"/>
                <a:cs typeface="Source Code Pro"/>
                <a:sym typeface="Source Code Pro"/>
              </a:rPr>
              <a:t>while</a:t>
            </a:r>
            <a:r>
              <a:rPr lang="en-US" sz="1300" b="0" i="0" u="none" strike="noStrike">
                <a:solidFill>
                  <a:srgbClr val="1F2937"/>
                </a:solidFill>
                <a:latin typeface="Source Code Pro"/>
                <a:ea typeface="Source Code Pro"/>
                <a:cs typeface="Source Code Pro"/>
                <a:sym typeface="Source Code Pro"/>
              </a:rPr>
              <a:t>count &lt; 5:</a:t>
            </a:r>
            <a:r>
              <a:rPr lang="en-US" sz="1300" b="1" i="0" u="none" strike="noStrike">
                <a:solidFill>
                  <a:srgbClr val="DC2626"/>
                </a:solidFill>
                <a:latin typeface="Source Code Pro"/>
                <a:ea typeface="Source Code Pro"/>
                <a:cs typeface="Source Code Pro"/>
                <a:sym typeface="Source Code Pro"/>
              </a:rPr>
              <a:t>print</a:t>
            </a:r>
            <a:r>
              <a:rPr lang="en-US" sz="1300" b="0" i="0" u="none" strike="noStrike">
                <a:solidFill>
                  <a:srgbClr val="1F2937"/>
                </a:solidFill>
                <a:latin typeface="Source Code Pro"/>
                <a:ea typeface="Source Code Pro"/>
                <a:cs typeface="Source Code Pro"/>
                <a:sym typeface="Source Code Pro"/>
              </a:rPr>
              <a:t>(count); count += 1</a:t>
            </a:r>
          </a:p>
        </p:txBody>
      </p:sp>
      <p:sp>
        <p:nvSpPr>
          <p:cNvPr id="8" name="AutoShape 8"/>
          <p:cNvSpPr/>
          <p:nvPr/>
        </p:nvSpPr>
        <p:spPr>
          <a:xfrm>
            <a:off x="6159500" y="1778000"/>
            <a:ext cx="5270500" cy="3937000"/>
          </a:xfrm>
          <a:prstGeom prst="roundRect">
            <a:avLst>
              <a:gd name="adj" fmla="val 0"/>
            </a:avLst>
          </a:prstGeom>
          <a:solidFill>
            <a:srgbClr val="F9FAFB">
              <a:alpha val="8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159500" y="1778000"/>
            <a:ext cx="5270500" cy="508000"/>
          </a:xfrm>
          <a:prstGeom prst="roundRect">
            <a:avLst>
              <a:gd name="adj" fmla="val 0"/>
            </a:avLst>
          </a:prstGeom>
          <a:solidFill>
            <a:srgbClr val="E5E7EB">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350000" y="18796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02 / 终端运行结果</a:t>
            </a:r>
            <a:endParaRPr lang="en-US" sz="1100"/>
          </a:p>
        </p:txBody>
      </p:sp>
      <p:sp>
        <p:nvSpPr>
          <p:cNvPr id="11" name="AutoShape 11"/>
          <p:cNvSpPr/>
          <p:nvPr/>
        </p:nvSpPr>
        <p:spPr>
          <a:xfrm>
            <a:off x="6350000" y="2413000"/>
            <a:ext cx="4889500" cy="2984500"/>
          </a:xfrm>
          <a:prstGeom prst="roundRect">
            <a:avLst>
              <a:gd name="adj" fmla="val 0"/>
            </a:avLst>
          </a:prstGeom>
          <a:solidFill>
            <a:srgbClr val="1F2937">
              <a:alpha val="5000"/>
            </a:srgbClr>
          </a:solidFill>
          <a:ln w="12700" cap="flat" cmpd="sng">
            <a:solidFill>
              <a:srgbClr val="D1D5DB">
                <a:alpha val="5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477000" y="2540000"/>
            <a:ext cx="46355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Source Code Pro"/>
                <a:ea typeface="Source Code Pro"/>
                <a:cs typeface="Source Code Pro"/>
                <a:sym typeface="Source Code Pro"/>
              </a:rPr>
              <a:t>=== For Loop 遍历 ===</a:t>
            </a:r>
            <a:endParaRPr lang="en-US" sz="1100"/>
          </a:p>
          <a:p>
            <a:pPr marL="0" indent="0" algn="l">
              <a:lnSpc>
                <a:spcPct val="116666"/>
              </a:lnSpc>
            </a:pPr>
            <a:r>
              <a:rPr lang="en-US" sz="1300" b="0" i="0" u="none" strike="noStrike">
                <a:solidFill>
                  <a:srgbClr val="1F2937"/>
                </a:solidFill>
                <a:latin typeface="Source Code Pro"/>
                <a:ea typeface="Source Code Pro"/>
                <a:cs typeface="Source Code Pro"/>
                <a:sym typeface="Source Code Pro"/>
              </a:rPr>
              <a:t>apple</a:t>
            </a:r>
          </a:p>
          <a:p>
            <a:pPr marL="0" indent="0" algn="l">
              <a:lnSpc>
                <a:spcPct val="116666"/>
              </a:lnSpc>
            </a:pPr>
            <a:r>
              <a:rPr lang="en-US" sz="1300" b="0" i="0" u="none" strike="noStrike">
                <a:solidFill>
                  <a:srgbClr val="1F2937"/>
                </a:solidFill>
                <a:latin typeface="Source Code Pro"/>
                <a:ea typeface="Source Code Pro"/>
                <a:cs typeface="Source Code Pro"/>
                <a:sym typeface="Source Code Pro"/>
              </a:rPr>
              <a:t>banana</a:t>
            </a:r>
          </a:p>
          <a:p>
            <a:pPr marL="0" indent="0" algn="l">
              <a:lnSpc>
                <a:spcPct val="116666"/>
              </a:lnSpc>
            </a:pPr>
            <a:r>
              <a:rPr lang="en-US" sz="1300" b="0" i="0" u="none" strike="noStrike">
                <a:solidFill>
                  <a:srgbClr val="1F2937"/>
                </a:solidFill>
                <a:latin typeface="Source Code Pro"/>
                <a:ea typeface="Source Code Pro"/>
                <a:cs typeface="Source Code Pro"/>
                <a:sym typeface="Source Code Pro"/>
              </a:rPr>
              <a:t>cherry</a:t>
            </a:r>
          </a:p>
          <a:p>
            <a:pPr marL="0" indent="0" algn="l">
              <a:lnSpc>
                <a:spcPct val="116666"/>
              </a:lnSpc>
            </a:pPr>
            <a:r>
              <a:rPr lang="en-US" sz="1300" b="0" i="0" u="none" strike="noStrike">
                <a:solidFill>
                  <a:srgbClr val="4B5563"/>
                </a:solidFill>
                <a:latin typeface="Source Code Pro"/>
                <a:ea typeface="Source Code Pro"/>
                <a:cs typeface="Source Code Pro"/>
                <a:sym typeface="Source Code Pro"/>
              </a:rPr>
              <a:t>=== While Loop 计数 ===</a:t>
            </a:r>
          </a:p>
          <a:p>
            <a:pPr marL="0" indent="0" algn="l">
              <a:lnSpc>
                <a:spcPct val="116666"/>
              </a:lnSpc>
            </a:pPr>
            <a:r>
              <a:rPr lang="en-US" sz="1300" b="0" i="0" u="none" strike="noStrike">
                <a:solidFill>
                  <a:srgbClr val="1F2937"/>
                </a:solidFill>
                <a:latin typeface="Source Code Pro"/>
                <a:ea typeface="Source Code Pro"/>
                <a:cs typeface="Source Code Pro"/>
                <a:sym typeface="Source Code Pro"/>
              </a:rPr>
              <a:t>0</a:t>
            </a:r>
          </a:p>
          <a:p>
            <a:pPr marL="0" indent="0" algn="l">
              <a:lnSpc>
                <a:spcPct val="116666"/>
              </a:lnSpc>
            </a:pPr>
            <a:r>
              <a:rPr lang="en-US" sz="1300" b="0" i="0" u="none" strike="noStrike">
                <a:solidFill>
                  <a:srgbClr val="1F2937"/>
                </a:solidFill>
                <a:latin typeface="Source Code Pro"/>
                <a:ea typeface="Source Code Pro"/>
                <a:cs typeface="Source Code Pro"/>
                <a:sym typeface="Source Code Pro"/>
              </a:rPr>
              <a:t>1</a:t>
            </a:r>
          </a:p>
          <a:p>
            <a:pPr marL="0" indent="0" algn="l">
              <a:lnSpc>
                <a:spcPct val="116666"/>
              </a:lnSpc>
            </a:pPr>
            <a:r>
              <a:rPr lang="en-US" sz="1300" b="0" i="0" u="none" strike="noStrike">
                <a:solidFill>
                  <a:srgbClr val="1F2937"/>
                </a:solidFill>
                <a:latin typeface="Source Code Pro"/>
                <a:ea typeface="Source Code Pro"/>
                <a:cs typeface="Source Code Pro"/>
                <a:sym typeface="Source Code Pro"/>
              </a:rPr>
              <a:t>2</a:t>
            </a:r>
          </a:p>
          <a:p>
            <a:pPr marL="0" indent="0" algn="l">
              <a:lnSpc>
                <a:spcPct val="116666"/>
              </a:lnSpc>
            </a:pPr>
            <a:r>
              <a:rPr lang="en-US" sz="1300" b="0" i="0" u="none" strike="noStrike">
                <a:solidFill>
                  <a:srgbClr val="1F2937"/>
                </a:solidFill>
                <a:latin typeface="Source Code Pro"/>
                <a:ea typeface="Source Code Pro"/>
                <a:cs typeface="Source Code Pro"/>
                <a:sym typeface="Source Code Pro"/>
              </a:rPr>
              <a:t>3</a:t>
            </a:r>
          </a:p>
          <a:p>
            <a:pPr marL="0" indent="0" algn="l">
              <a:lnSpc>
                <a:spcPct val="116666"/>
              </a:lnSpc>
            </a:pPr>
            <a:r>
              <a:rPr lang="en-US" sz="1300" b="0" i="0" u="none" strike="noStrike">
                <a:solidFill>
                  <a:srgbClr val="1F2937"/>
                </a:solidFill>
                <a:latin typeface="Source Code Pro"/>
                <a:ea typeface="Source Code Pro"/>
                <a:cs typeface="Source Code Pro"/>
                <a:sym typeface="Source Code Pro"/>
              </a:rPr>
              <a:t>4</a:t>
            </a:r>
          </a:p>
        </p:txBody>
      </p:sp>
      <p:sp>
        <p:nvSpPr>
          <p:cNvPr id="13" name="AutoShape 13"/>
          <p:cNvSpPr/>
          <p:nvPr/>
        </p:nvSpPr>
        <p:spPr>
          <a:xfrm>
            <a:off x="762000" y="5905500"/>
            <a:ext cx="10668000" cy="635000"/>
          </a:xfrm>
          <a:prstGeom prst="roundRect">
            <a:avLst>
              <a:gd name="adj" fmla="val 0"/>
            </a:avLst>
          </a:prstGeom>
          <a:solidFill>
            <a:srgbClr val="FEF3C7">
              <a:alpha val="70000"/>
            </a:srgbClr>
          </a:solidFill>
          <a:ln w="12700" cap="flat" cmpd="sng">
            <a:solidFill>
              <a:srgbClr val="F59E0B">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6096000"/>
            <a:ext cx="254000" cy="254000"/>
          </a:xfrm>
          <a:prstGeom prst="rect">
            <a:avLst/>
          </a:prstGeom>
        </p:spPr>
      </p:pic>
      <p:sp>
        <p:nvSpPr>
          <p:cNvPr id="15" name="AutoShape 15"/>
          <p:cNvSpPr/>
          <p:nvPr/>
        </p:nvSpPr>
        <p:spPr>
          <a:xfrm>
            <a:off x="1333500" y="6070600"/>
            <a:ext cx="990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92400E"/>
                </a:solidFill>
                <a:latin typeface="Noto Sans SC"/>
                <a:ea typeface="Noto Sans SC"/>
                <a:cs typeface="Noto Sans SC"/>
                <a:sym typeface="Noto Sans SC"/>
              </a:rPr>
              <a:t>核心提示：</a:t>
            </a:r>
            <a:r>
              <a:rPr lang="en-US" sz="1300" b="0" i="0" u="none" strike="noStrike">
                <a:solidFill>
                  <a:srgbClr val="92400E"/>
                </a:solidFill>
                <a:latin typeface="Noto Sans SC"/>
                <a:ea typeface="Noto Sans SC"/>
                <a:cs typeface="Noto Sans SC"/>
                <a:sym typeface="Noto Sans SC"/>
              </a:rPr>
              <a:t>While 循环必须包含改变条件的语句（如 count += 1），否则会导致程序陷入</a:t>
            </a:r>
            <a:r>
              <a:rPr lang="en-US" sz="1300" b="1" i="0" u="none" strike="noStrike">
                <a:solidFill>
                  <a:srgbClr val="92400E"/>
                </a:solidFill>
                <a:latin typeface="Noto Sans SC"/>
                <a:ea typeface="Noto Sans SC"/>
                <a:cs typeface="Noto Sans SC"/>
                <a:sym typeface="Noto Sans SC"/>
              </a:rPr>
              <a:t>无限循环</a:t>
            </a:r>
            <a:r>
              <a:rPr lang="en-US" sz="1300" b="0" i="0" u="none" strike="noStrike">
                <a:solidFill>
                  <a:srgbClr val="92400E"/>
                </a:solidFill>
                <a:latin typeface="Noto Sans SC"/>
                <a:ea typeface="Noto Sans SC"/>
                <a:cs typeface="Noto Sans SC"/>
                <a:sym typeface="Noto Sans SC"/>
              </a:rPr>
              <a:t>，占用系统资源。</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1.2 基础语法：函数</a:t>
            </a:r>
            <a:endParaRPr lang="en-US" sz="1100"/>
          </a:p>
        </p:txBody>
      </p:sp>
      <p:sp>
        <p:nvSpPr>
          <p:cNvPr id="4" name="AutoShape 4"/>
          <p:cNvSpPr/>
          <p:nvPr/>
        </p:nvSpPr>
        <p:spPr>
          <a:xfrm>
            <a:off x="762000" y="2032000"/>
            <a:ext cx="3378200" cy="3937000"/>
          </a:xfrm>
          <a:prstGeom prst="roundRect">
            <a:avLst>
              <a:gd name="adj" fmla="val 0"/>
            </a:avLst>
          </a:prstGeom>
          <a:solidFill>
            <a:srgbClr val="FFFFFF">
              <a:alpha val="6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349500"/>
            <a:ext cx="406400" cy="406400"/>
          </a:xfrm>
          <a:prstGeom prst="rect">
            <a:avLst/>
          </a:prstGeom>
        </p:spPr>
      </p:pic>
      <p:sp>
        <p:nvSpPr>
          <p:cNvPr id="6" name="AutoShape 6"/>
          <p:cNvSpPr/>
          <p:nvPr/>
        </p:nvSpPr>
        <p:spPr>
          <a:xfrm>
            <a:off x="1524000" y="2349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01 定义与调用</a:t>
            </a:r>
            <a:endParaRPr lang="en-US" sz="1100"/>
          </a:p>
        </p:txBody>
      </p:sp>
      <p:cxnSp>
        <p:nvCxnSpPr>
          <p:cNvPr id="7" name="Connector 7"/>
          <p:cNvCxnSpPr/>
          <p:nvPr/>
        </p:nvCxnSpPr>
        <p:spPr>
          <a:xfrm rot="-15211">
            <a:off x="1016014" y="29781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8" name="AutoShape 8"/>
          <p:cNvSpPr/>
          <p:nvPr/>
        </p:nvSpPr>
        <p:spPr>
          <a:xfrm>
            <a:off x="1016000" y="3175000"/>
            <a:ext cx="28702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a:ea typeface="Noto Sans SC"/>
                <a:cs typeface="Noto Sans SC"/>
                <a:sym typeface="Noto Sans SC"/>
              </a:rPr>
              <a:t>核心机制：</a:t>
            </a:r>
            <a:r>
              <a:rPr lang="en-US" sz="1400" b="0" i="0" u="none" strike="noStrike">
                <a:solidFill>
                  <a:srgbClr val="4B5563"/>
                </a:solidFill>
                <a:latin typeface="Noto Sans SC"/>
                <a:ea typeface="Noto Sans SC"/>
                <a:cs typeface="Noto Sans SC"/>
                <a:sym typeface="Noto Sans SC"/>
              </a:rPr>
              <a:t>使用</a:t>
            </a:r>
            <a:r>
              <a:rPr lang="en-US" sz="1400" b="0" i="0" u="none" strike="noStrike">
                <a:solidFill>
                  <a:srgbClr val="EF4444"/>
                </a:solidFill>
                <a:latin typeface="Noto Sans SC"/>
                <a:ea typeface="Noto Sans SC"/>
                <a:cs typeface="Noto Sans SC"/>
                <a:sym typeface="Noto Sans SC"/>
              </a:rPr>
              <a:t>def</a:t>
            </a:r>
            <a:r>
              <a:rPr lang="en-US" sz="1400" b="0" i="0" u="none" strike="noStrike">
                <a:solidFill>
                  <a:srgbClr val="4B5563"/>
                </a:solidFill>
                <a:latin typeface="Noto Sans SC"/>
                <a:ea typeface="Noto Sans SC"/>
                <a:cs typeface="Noto Sans SC"/>
                <a:sym typeface="Noto Sans SC"/>
              </a:rPr>
              <a:t>关键字声明函数，这是代码封装的基础。</a:t>
            </a:r>
            <a:endParaRPr lang="en-US" sz="1100"/>
          </a:p>
          <a:p>
            <a:pPr marL="0" indent="0" algn="l">
              <a:lnSpc>
                <a:spcPct val="125000"/>
              </a:lnSpc>
            </a:pPr>
            <a:r>
              <a:rPr lang="en-US" sz="1500" b="1" i="0" u="none" strike="noStrike">
                <a:solidFill>
                  <a:srgbClr val="374151"/>
                </a:solidFill>
                <a:latin typeface="Noto Sans SC"/>
                <a:ea typeface="Noto Sans SC"/>
                <a:cs typeface="Noto Sans SC"/>
                <a:sym typeface="Noto Sans SC"/>
              </a:rPr>
              <a:t>调用方式：</a:t>
            </a:r>
            <a:r>
              <a:rPr lang="en-US" sz="1400" b="0" i="0" u="none" strike="noStrike">
                <a:solidFill>
                  <a:srgbClr val="4B5563"/>
                </a:solidFill>
                <a:latin typeface="Noto Sans SC"/>
                <a:ea typeface="Noto Sans SC"/>
                <a:cs typeface="Noto Sans SC"/>
                <a:sym typeface="Noto Sans SC"/>
              </a:rPr>
              <a:t>通过函数名加括号</a:t>
            </a:r>
            <a:r>
              <a:rPr lang="en-US" sz="1400" b="0" i="0" u="none" strike="noStrike">
                <a:solidFill>
                  <a:srgbClr val="EF4444"/>
                </a:solidFill>
                <a:latin typeface="Noto Sans SC"/>
                <a:ea typeface="Noto Sans SC"/>
                <a:cs typeface="Noto Sans SC"/>
                <a:sym typeface="Noto Sans SC"/>
              </a:rPr>
              <a:t>()</a:t>
            </a:r>
            <a:r>
              <a:rPr lang="en-US" sz="1400" b="0" i="0" u="none" strike="noStrike">
                <a:solidFill>
                  <a:srgbClr val="4B5563"/>
                </a:solidFill>
                <a:latin typeface="Noto Sans SC"/>
                <a:ea typeface="Noto Sans SC"/>
                <a:cs typeface="Noto Sans SC"/>
                <a:sym typeface="Noto Sans SC"/>
              </a:rPr>
              <a:t>触发执行，支持传递参数实现数据交互。</a:t>
            </a:r>
          </a:p>
        </p:txBody>
      </p:sp>
      <p:sp>
        <p:nvSpPr>
          <p:cNvPr id="9" name="AutoShape 9"/>
          <p:cNvSpPr/>
          <p:nvPr/>
        </p:nvSpPr>
        <p:spPr>
          <a:xfrm>
            <a:off x="4394200" y="2032000"/>
            <a:ext cx="3378200" cy="3937000"/>
          </a:xfrm>
          <a:prstGeom prst="roundRect">
            <a:avLst>
              <a:gd name="adj" fmla="val 0"/>
            </a:avLst>
          </a:prstGeom>
          <a:solidFill>
            <a:srgbClr val="FFFFFF">
              <a:alpha val="6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2349500"/>
            <a:ext cx="406400" cy="406400"/>
          </a:xfrm>
          <a:prstGeom prst="rect">
            <a:avLst/>
          </a:prstGeom>
        </p:spPr>
      </p:pic>
      <p:sp>
        <p:nvSpPr>
          <p:cNvPr id="11" name="AutoShape 11"/>
          <p:cNvSpPr/>
          <p:nvPr/>
        </p:nvSpPr>
        <p:spPr>
          <a:xfrm>
            <a:off x="5156200" y="2349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02 灵活参数体系</a:t>
            </a:r>
            <a:endParaRPr lang="en-US" sz="1100"/>
          </a:p>
        </p:txBody>
      </p:sp>
      <p:cxnSp>
        <p:nvCxnSpPr>
          <p:cNvPr id="12" name="Connector 12"/>
          <p:cNvCxnSpPr/>
          <p:nvPr/>
        </p:nvCxnSpPr>
        <p:spPr>
          <a:xfrm rot="-15211">
            <a:off x="4648214" y="29781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3" name="AutoShape 13"/>
          <p:cNvSpPr/>
          <p:nvPr/>
        </p:nvSpPr>
        <p:spPr>
          <a:xfrm>
            <a:off x="4648200" y="3175000"/>
            <a:ext cx="28702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a:ea typeface="Noto Sans SC"/>
                <a:cs typeface="Noto Sans SC"/>
                <a:sym typeface="Noto Sans SC"/>
              </a:rPr>
              <a:t>基础参数：</a:t>
            </a:r>
            <a:r>
              <a:rPr lang="en-US" sz="1400" b="0" i="0" u="none" strike="noStrike">
                <a:solidFill>
                  <a:srgbClr val="4B5563"/>
                </a:solidFill>
                <a:latin typeface="Noto Sans SC"/>
                <a:ea typeface="Noto Sans SC"/>
                <a:cs typeface="Noto Sans SC"/>
                <a:sym typeface="Noto Sans SC"/>
              </a:rPr>
              <a:t>普通参数需按序传入；默认参数允许调用时省略，使用预设值。</a:t>
            </a:r>
            <a:endParaRPr lang="en-US" sz="1100"/>
          </a:p>
          <a:p>
            <a:pPr marL="0" indent="0" algn="l">
              <a:lnSpc>
                <a:spcPct val="125000"/>
              </a:lnSpc>
            </a:pPr>
            <a:r>
              <a:rPr lang="en-US" sz="1500" b="1" i="0" u="none" strike="noStrike">
                <a:solidFill>
                  <a:srgbClr val="374151"/>
                </a:solidFill>
                <a:latin typeface="Noto Sans SC"/>
                <a:ea typeface="Noto Sans SC"/>
                <a:cs typeface="Noto Sans SC"/>
                <a:sym typeface="Noto Sans SC"/>
              </a:rPr>
              <a:t>可变参数：</a:t>
            </a:r>
            <a:r>
              <a:rPr lang="en-US" sz="1400" b="0" i="0" u="none" strike="noStrike">
                <a:solidFill>
                  <a:srgbClr val="EF4444"/>
                </a:solidFill>
                <a:latin typeface="Noto Sans SC"/>
                <a:ea typeface="Noto Sans SC"/>
                <a:cs typeface="Noto Sans SC"/>
                <a:sym typeface="Noto Sans SC"/>
              </a:rPr>
              <a:t>args</a:t>
            </a:r>
            <a:r>
              <a:rPr lang="en-US" sz="1400" b="0" i="0" u="none" strike="noStrike">
                <a:solidFill>
                  <a:srgbClr val="4B5563"/>
                </a:solidFill>
                <a:latin typeface="Noto Sans SC"/>
                <a:ea typeface="Noto Sans SC"/>
                <a:cs typeface="Noto Sans SC"/>
                <a:sym typeface="Noto Sans SC"/>
              </a:rPr>
              <a:t>打包位置参数为元组，</a:t>
            </a:r>
            <a:r>
              <a:rPr lang="en-US" sz="1400" b="0" i="0" u="none" strike="noStrike">
                <a:solidFill>
                  <a:srgbClr val="EF4444"/>
                </a:solidFill>
                <a:latin typeface="Noto Sans SC"/>
                <a:ea typeface="Noto Sans SC"/>
                <a:cs typeface="Noto Sans SC"/>
                <a:sym typeface="Noto Sans SC"/>
              </a:rPr>
              <a:t>kwargs</a:t>
            </a:r>
            <a:r>
              <a:rPr lang="en-US" sz="1400" b="0" i="0" u="none" strike="noStrike">
                <a:solidFill>
                  <a:srgbClr val="4B5563"/>
                </a:solidFill>
                <a:latin typeface="Noto Sans SC"/>
                <a:ea typeface="Noto Sans SC"/>
                <a:cs typeface="Noto Sans SC"/>
                <a:sym typeface="Noto Sans SC"/>
              </a:rPr>
              <a:t>打包关键字参数为字典，支持任意数量输入。</a:t>
            </a:r>
          </a:p>
        </p:txBody>
      </p:sp>
      <p:sp>
        <p:nvSpPr>
          <p:cNvPr id="14" name="AutoShape 14"/>
          <p:cNvSpPr/>
          <p:nvPr/>
        </p:nvSpPr>
        <p:spPr>
          <a:xfrm>
            <a:off x="8026400" y="2032000"/>
            <a:ext cx="3378200" cy="3937000"/>
          </a:xfrm>
          <a:prstGeom prst="roundRect">
            <a:avLst>
              <a:gd name="adj" fmla="val 0"/>
            </a:avLst>
          </a:prstGeom>
          <a:solidFill>
            <a:srgbClr val="FFFFFF">
              <a:alpha val="6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2349500"/>
            <a:ext cx="406400" cy="406400"/>
          </a:xfrm>
          <a:prstGeom prst="rect">
            <a:avLst/>
          </a:prstGeom>
        </p:spPr>
      </p:pic>
      <p:sp>
        <p:nvSpPr>
          <p:cNvPr id="16" name="AutoShape 16"/>
          <p:cNvSpPr/>
          <p:nvPr/>
        </p:nvSpPr>
        <p:spPr>
          <a:xfrm>
            <a:off x="8788400" y="2349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03 返回值与结束</a:t>
            </a:r>
            <a:endParaRPr lang="en-US" sz="1100"/>
          </a:p>
        </p:txBody>
      </p:sp>
      <p:cxnSp>
        <p:nvCxnSpPr>
          <p:cNvPr id="17" name="Connector 17"/>
          <p:cNvCxnSpPr/>
          <p:nvPr/>
        </p:nvCxnSpPr>
        <p:spPr>
          <a:xfrm rot="-15211">
            <a:off x="8280414" y="29781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8" name="AutoShape 18"/>
          <p:cNvSpPr/>
          <p:nvPr/>
        </p:nvSpPr>
        <p:spPr>
          <a:xfrm>
            <a:off x="8280400" y="3175000"/>
            <a:ext cx="28702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a:ea typeface="Noto Sans SC"/>
                <a:cs typeface="Noto Sans SC"/>
                <a:sym typeface="Noto Sans SC"/>
              </a:rPr>
              <a:t>结果输出：</a:t>
            </a:r>
            <a:r>
              <a:rPr lang="en-US" sz="1400" b="0" i="0" u="none" strike="noStrike">
                <a:solidFill>
                  <a:srgbClr val="4B5563"/>
                </a:solidFill>
                <a:latin typeface="Noto Sans SC"/>
                <a:ea typeface="Noto Sans SC"/>
                <a:cs typeface="Noto Sans SC"/>
                <a:sym typeface="Noto Sans SC"/>
              </a:rPr>
              <a:t>使用</a:t>
            </a:r>
            <a:r>
              <a:rPr lang="en-US" sz="1400" b="0" i="0" u="none" strike="noStrike">
                <a:solidFill>
                  <a:srgbClr val="EF4444"/>
                </a:solidFill>
                <a:latin typeface="Noto Sans SC"/>
                <a:ea typeface="Noto Sans SC"/>
                <a:cs typeface="Noto Sans SC"/>
                <a:sym typeface="Noto Sans SC"/>
              </a:rPr>
              <a:t>return</a:t>
            </a:r>
            <a:r>
              <a:rPr lang="en-US" sz="1400" b="0" i="0" u="none" strike="noStrike">
                <a:solidFill>
                  <a:srgbClr val="4B5563"/>
                </a:solidFill>
                <a:latin typeface="Noto Sans SC"/>
                <a:ea typeface="Noto Sans SC"/>
                <a:cs typeface="Noto Sans SC"/>
                <a:sym typeface="Noto Sans SC"/>
              </a:rPr>
              <a:t>语句将处理结果返回给调用者，执行后函数立即终止。</a:t>
            </a:r>
            <a:endParaRPr lang="en-US" sz="1100"/>
          </a:p>
          <a:p>
            <a:pPr marL="0" indent="0" algn="l">
              <a:lnSpc>
                <a:spcPct val="125000"/>
              </a:lnSpc>
            </a:pPr>
            <a:r>
              <a:rPr lang="en-US" sz="1500" b="1" i="0" u="none" strike="noStrike">
                <a:solidFill>
                  <a:srgbClr val="374151"/>
                </a:solidFill>
                <a:latin typeface="Noto Sans SC"/>
                <a:ea typeface="Noto Sans SC"/>
                <a:cs typeface="Noto Sans SC"/>
                <a:sym typeface="Noto Sans SC"/>
              </a:rPr>
              <a:t>隐式规则：</a:t>
            </a:r>
            <a:r>
              <a:rPr lang="en-US" sz="1400" b="0" i="0" u="none" strike="noStrike">
                <a:solidFill>
                  <a:srgbClr val="4B5563"/>
                </a:solidFill>
                <a:latin typeface="Noto Sans SC"/>
                <a:ea typeface="Noto Sans SC"/>
                <a:cs typeface="Noto Sans SC"/>
                <a:sym typeface="Noto Sans SC"/>
              </a:rPr>
              <a:t>若未显式定义 return，函数默认返回</a:t>
            </a:r>
            <a:r>
              <a:rPr lang="en-US" sz="1400" b="0" i="0" u="none" strike="noStrike">
                <a:solidFill>
                  <a:srgbClr val="EF4444"/>
                </a:solidFill>
                <a:latin typeface="Noto Sans SC"/>
                <a:ea typeface="Noto Sans SC"/>
                <a:cs typeface="Noto Sans SC"/>
                <a:sym typeface="Noto Sans SC"/>
              </a:rPr>
              <a:t>None</a:t>
            </a:r>
            <a:r>
              <a:rPr lang="en-US" sz="1400" b="0" i="0" u="none" strike="noStrike">
                <a:solidFill>
                  <a:srgbClr val="4B5563"/>
                </a:solidFill>
                <a:latin typeface="Noto Sans SC"/>
                <a:ea typeface="Noto Sans SC"/>
                <a:cs typeface="Noto Sans SC"/>
                <a:sym typeface="Noto Sans SC"/>
              </a:rPr>
              <a:t>，也支持一次性返回多个值（以元组形式）。</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函数示例</a:t>
            </a:r>
            <a:endParaRPr lang="en-US" sz="1100"/>
          </a:p>
        </p:txBody>
      </p:sp>
      <p:sp>
        <p:nvSpPr>
          <p:cNvPr id="4" name="AutoShape 4"/>
          <p:cNvSpPr/>
          <p:nvPr/>
        </p:nvSpPr>
        <p:spPr>
          <a:xfrm>
            <a:off x="762000" y="1651000"/>
            <a:ext cx="10668000" cy="3937000"/>
          </a:xfrm>
          <a:prstGeom prst="roundRect">
            <a:avLst>
              <a:gd name="adj" fmla="val 0"/>
            </a:avLst>
          </a:prstGeom>
          <a:solidFill>
            <a:srgbClr val="1F2937">
              <a:alpha val="92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9050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95400" y="1905000"/>
            <a:ext cx="152400" cy="1524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574800" y="1905000"/>
            <a:ext cx="152400" cy="1524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2286000"/>
            <a:ext cx="1016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C084FC"/>
                </a:solidFill>
                <a:latin typeface="Source Code Pro"/>
                <a:ea typeface="Source Code Pro"/>
                <a:cs typeface="Source Code Pro"/>
                <a:sym typeface="Source Code Pro"/>
              </a:rPr>
              <a:t>def</a:t>
            </a:r>
            <a:r>
              <a:rPr lang="en-US" sz="1400" b="0" i="0" u="none" strike="noStrike">
                <a:solidFill>
                  <a:srgbClr val="E5E7EB"/>
                </a:solidFill>
                <a:latin typeface="Source Code Pro"/>
                <a:ea typeface="Source Code Pro"/>
                <a:cs typeface="Source Code Pro"/>
                <a:sym typeface="Source Code Pro"/>
              </a:rPr>
              <a:t>greet(name, greeting=</a:t>
            </a:r>
            <a:r>
              <a:rPr lang="en-US" sz="1400" b="0" i="0" u="none" strike="noStrike">
                <a:solidFill>
                  <a:srgbClr val="A7F3D0"/>
                </a:solidFill>
                <a:latin typeface="Source Code Pro"/>
                <a:ea typeface="Source Code Pro"/>
                <a:cs typeface="Source Code Pro"/>
                <a:sym typeface="Source Code Pro"/>
              </a:rPr>
              <a:t>"Hello"</a:t>
            </a:r>
            <a:r>
              <a:rPr lang="en-US" sz="1400" b="0" i="0" u="none" strike="noStrike">
                <a:solidFill>
                  <a:srgbClr val="E5E7EB"/>
                </a:solidFill>
                <a:latin typeface="Source Code Pro"/>
                <a:ea typeface="Source Code Pro"/>
                <a:cs typeface="Source Code Pro"/>
                <a:sym typeface="Source Code Pro"/>
              </a:rPr>
              <a:t>):</a:t>
            </a:r>
            <a:endParaRPr lang="en-US" sz="1100"/>
          </a:p>
          <a:p>
            <a:pPr marL="0" indent="0" algn="l">
              <a:lnSpc>
                <a:spcPct val="116666"/>
              </a:lnSpc>
            </a:pPr>
            <a:r>
              <a:rPr lang="en-US" sz="1400" b="0" i="0" u="none" strike="noStrike">
                <a:solidFill>
                  <a:srgbClr val="6B7280"/>
                </a:solidFill>
                <a:latin typeface="Source Code Pro"/>
                <a:ea typeface="Source Code Pro"/>
                <a:cs typeface="Source Code Pro"/>
                <a:sym typeface="Source Code Pro"/>
              </a:rPr>
              <a:t>"""演示默认参数与关键字参数的使用"""</a:t>
            </a:r>
          </a:p>
          <a:p>
            <a:pPr marL="0" indent="0" algn="l">
              <a:lnSpc>
                <a:spcPct val="116666"/>
              </a:lnSpc>
            </a:pPr>
            <a:r>
              <a:rPr lang="en-US" sz="1400" b="0" i="0" u="none" strike="noStrike">
                <a:solidFill>
                  <a:srgbClr val="C084FC"/>
                </a:solidFill>
                <a:latin typeface="Source Code Pro"/>
                <a:ea typeface="Source Code Pro"/>
                <a:cs typeface="Source Code Pro"/>
                <a:sym typeface="Source Code Pro"/>
              </a:rPr>
              <a:t>return</a:t>
            </a:r>
            <a:r>
              <a:rPr lang="en-US" sz="1400" b="0" i="0" u="none" strike="noStrike">
                <a:solidFill>
                  <a:srgbClr val="E5E7EB"/>
                </a:solidFill>
                <a:latin typeface="Source Code Pro"/>
                <a:ea typeface="Source Code Pro"/>
                <a:cs typeface="Source Code Pro"/>
                <a:sym typeface="Source Code Pro"/>
              </a:rPr>
              <a:t>f"{greeting}, {name}!"</a:t>
            </a:r>
          </a:p>
          <a:p>
            <a:pPr marL="0" indent="0" algn="l">
              <a:lnSpc>
                <a:spcPct val="116666"/>
              </a:lnSpc>
            </a:pPr>
            <a:r>
              <a:rPr lang="en-US" sz="1400" b="0" i="0" u="none" strike="noStrike">
                <a:solidFill>
                  <a:srgbClr val="E5E7EB"/>
                </a:solidFill>
                <a:latin typeface="Source Code Pro"/>
                <a:ea typeface="Source Code Pro"/>
                <a:cs typeface="Source Code Pro"/>
                <a:sym typeface="Source Code Pro"/>
              </a:rPr>
              <a:t>print(greet(</a:t>
            </a:r>
            <a:r>
              <a:rPr lang="en-US" sz="1400" b="0" i="0" u="none" strike="noStrike">
                <a:solidFill>
                  <a:srgbClr val="A7F3D0"/>
                </a:solidFill>
                <a:latin typeface="Source Code Pro"/>
                <a:ea typeface="Source Code Pro"/>
                <a:cs typeface="Source Code Pro"/>
                <a:sym typeface="Source Code Pro"/>
              </a:rPr>
              <a:t>"Alice"</a:t>
            </a:r>
            <a:r>
              <a:rPr lang="en-US" sz="1400" b="0" i="0" u="none" strike="noStrike">
                <a:solidFill>
                  <a:srgbClr val="E5E7EB"/>
                </a:solidFill>
                <a:latin typeface="Source Code Pro"/>
                <a:ea typeface="Source Code Pro"/>
                <a:cs typeface="Source Code Pro"/>
                <a:sym typeface="Source Code Pro"/>
              </a:rPr>
              <a:t>))</a:t>
            </a:r>
            <a:r>
              <a:rPr lang="en-US" sz="1400" b="0" i="0" u="none" strike="noStrike">
                <a:solidFill>
                  <a:srgbClr val="6B7280"/>
                </a:solidFill>
                <a:latin typeface="Source Code Pro"/>
                <a:ea typeface="Source Code Pro"/>
                <a:cs typeface="Source Code Pro"/>
                <a:sym typeface="Source Code Pro"/>
              </a:rPr>
              <a:t># 使用默认值：Hello, Alice!</a:t>
            </a:r>
          </a:p>
        </p:txBody>
      </p:sp>
      <p:cxnSp>
        <p:nvCxnSpPr>
          <p:cNvPr id="9" name="Connector 9"/>
          <p:cNvCxnSpPr/>
          <p:nvPr/>
        </p:nvCxnSpPr>
        <p:spPr>
          <a:xfrm rot="-4297">
            <a:off x="1016004" y="3994150"/>
            <a:ext cx="10160000" cy="12700"/>
          </a:xfrm>
          <a:prstGeom prst="straightConnector1">
            <a:avLst/>
          </a:prstGeom>
          <a:solidFill>
            <a:srgbClr val="DEE0E3">
              <a:alpha val="100000"/>
            </a:srgbClr>
          </a:solidFill>
          <a:ln w="12700" cap="flat" cmpd="sng">
            <a:solidFill>
              <a:srgbClr val="4B5563">
                <a:alpha val="40000"/>
              </a:srgbClr>
            </a:solidFill>
            <a:prstDash val="dash"/>
            <a:round/>
            <a:headEnd type="none" w="med" len="med"/>
            <a:tailEnd type="none" w="med" len="med"/>
          </a:ln>
        </p:spPr>
      </p:cxnSp>
      <p:sp>
        <p:nvSpPr>
          <p:cNvPr id="10" name="AutoShape 10"/>
          <p:cNvSpPr/>
          <p:nvPr/>
        </p:nvSpPr>
        <p:spPr>
          <a:xfrm>
            <a:off x="1016000" y="4127500"/>
            <a:ext cx="10160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C084FC"/>
                </a:solidFill>
                <a:latin typeface="Source Code Pro"/>
                <a:ea typeface="Source Code Pro"/>
                <a:cs typeface="Source Code Pro"/>
                <a:sym typeface="Source Code Pro"/>
              </a:rPr>
              <a:t>def</a:t>
            </a:r>
            <a:r>
              <a:rPr lang="en-US" sz="1400" b="0" i="0" u="none" strike="noStrike">
                <a:solidFill>
                  <a:srgbClr val="E5E7EB"/>
                </a:solidFill>
                <a:latin typeface="Source Code Pro"/>
                <a:ea typeface="Source Code Pro"/>
                <a:cs typeface="Source Code Pro"/>
                <a:sym typeface="Source Code Pro"/>
              </a:rPr>
              <a:t>calculate_sum(*args):</a:t>
            </a:r>
            <a:endParaRPr lang="en-US" sz="1100"/>
          </a:p>
          <a:p>
            <a:pPr marL="0" indent="0" algn="l">
              <a:lnSpc>
                <a:spcPct val="116666"/>
              </a:lnSpc>
            </a:pPr>
            <a:r>
              <a:rPr lang="en-US" sz="1400" b="0" i="0" u="none" strike="noStrike">
                <a:solidFill>
                  <a:srgbClr val="E5E7EB"/>
                </a:solidFill>
                <a:latin typeface="Source Code Pro"/>
                <a:ea typeface="Source Code Pro"/>
                <a:cs typeface="Source Code Pro"/>
                <a:sym typeface="Source Code Pro"/>
              </a:rPr>
              <a:t>total = 0</a:t>
            </a:r>
          </a:p>
          <a:p>
            <a:pPr marL="0" indent="0" algn="l">
              <a:lnSpc>
                <a:spcPct val="116666"/>
              </a:lnSpc>
            </a:pPr>
            <a:r>
              <a:rPr lang="en-US" sz="1400" b="0" i="0" u="none" strike="noStrike">
                <a:solidFill>
                  <a:srgbClr val="C084FC"/>
                </a:solidFill>
                <a:latin typeface="Source Code Pro"/>
                <a:ea typeface="Source Code Pro"/>
                <a:cs typeface="Source Code Pro"/>
                <a:sym typeface="Source Code Pro"/>
              </a:rPr>
              <a:t>for</a:t>
            </a:r>
            <a:r>
              <a:rPr lang="en-US" sz="1400" b="0" i="0" u="none" strike="noStrike">
                <a:solidFill>
                  <a:srgbClr val="E5E7EB"/>
                </a:solidFill>
                <a:latin typeface="Source Code Pro"/>
                <a:ea typeface="Source Code Pro"/>
                <a:cs typeface="Source Code Pro"/>
                <a:sym typeface="Source Code Pro"/>
              </a:rPr>
              <a:t>num</a:t>
            </a:r>
            <a:r>
              <a:rPr lang="en-US" sz="1400" b="0" i="0" u="none" strike="noStrike">
                <a:solidFill>
                  <a:srgbClr val="C084FC"/>
                </a:solidFill>
                <a:latin typeface="Source Code Pro"/>
                <a:ea typeface="Source Code Pro"/>
                <a:cs typeface="Source Code Pro"/>
                <a:sym typeface="Source Code Pro"/>
              </a:rPr>
              <a:t>in</a:t>
            </a:r>
            <a:r>
              <a:rPr lang="en-US" sz="1400" b="0" i="0" u="none" strike="noStrike">
                <a:solidFill>
                  <a:srgbClr val="E5E7EB"/>
                </a:solidFill>
                <a:latin typeface="Source Code Pro"/>
                <a:ea typeface="Source Code Pro"/>
                <a:cs typeface="Source Code Pro"/>
                <a:sym typeface="Source Code Pro"/>
              </a:rPr>
              <a:t>args: total += num</a:t>
            </a:r>
          </a:p>
          <a:p>
            <a:pPr marL="0" indent="0" algn="l">
              <a:lnSpc>
                <a:spcPct val="116666"/>
              </a:lnSpc>
            </a:pPr>
            <a:r>
              <a:rPr lang="en-US" sz="1400" b="0" i="0" u="none" strike="noStrike">
                <a:solidFill>
                  <a:srgbClr val="C084FC"/>
                </a:solidFill>
                <a:latin typeface="Source Code Pro"/>
                <a:ea typeface="Source Code Pro"/>
                <a:cs typeface="Source Code Pro"/>
                <a:sym typeface="Source Code Pro"/>
              </a:rPr>
              <a:t>return</a:t>
            </a:r>
            <a:r>
              <a:rPr lang="en-US" sz="1400" b="0" i="0" u="none" strike="noStrike">
                <a:solidFill>
                  <a:srgbClr val="E5E7EB"/>
                </a:solidFill>
                <a:latin typeface="Source Code Pro"/>
                <a:ea typeface="Source Code Pro"/>
                <a:cs typeface="Source Code Pro"/>
                <a:sym typeface="Source Code Pro"/>
              </a:rPr>
              <a:t>total</a:t>
            </a:r>
          </a:p>
          <a:p>
            <a:pPr marL="0" indent="0" algn="l">
              <a:lnSpc>
                <a:spcPct val="116666"/>
              </a:lnSpc>
            </a:pPr>
            <a:r>
              <a:rPr lang="en-US" sz="1400" b="0" i="0" u="none" strike="noStrike">
                <a:solidFill>
                  <a:srgbClr val="E5E7EB"/>
                </a:solidFill>
                <a:latin typeface="Source Code Pro"/>
                <a:ea typeface="Source Code Pro"/>
                <a:cs typeface="Source Code Pro"/>
                <a:sym typeface="Source Code Pro"/>
              </a:rPr>
              <a:t>print(calculate_sum(10, 20, 30))</a:t>
            </a:r>
            <a:r>
              <a:rPr lang="en-US" sz="1400" b="0" i="0" u="none" strike="noStrike">
                <a:solidFill>
                  <a:srgbClr val="6B7280"/>
                </a:solidFill>
                <a:latin typeface="Source Code Pro"/>
                <a:ea typeface="Source Code Pro"/>
                <a:cs typeface="Source Code Pro"/>
                <a:sym typeface="Source Code Pro"/>
              </a:rPr>
              <a:t># 任意参数：输出 60</a:t>
            </a:r>
          </a:p>
        </p:txBody>
      </p:sp>
      <p:sp>
        <p:nvSpPr>
          <p:cNvPr id="11" name="AutoShape 11"/>
          <p:cNvSpPr/>
          <p:nvPr/>
        </p:nvSpPr>
        <p:spPr>
          <a:xfrm>
            <a:off x="762000" y="5867400"/>
            <a:ext cx="10668000" cy="558800"/>
          </a:xfrm>
          <a:prstGeom prst="roundRect">
            <a:avLst>
              <a:gd name="adj" fmla="val 0"/>
            </a:avLst>
          </a:prstGeom>
          <a:solidFill>
            <a:srgbClr val="F3F4F6">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89000" y="5956300"/>
            <a:ext cx="10414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74151"/>
                </a:solidFill>
                <a:latin typeface="Noto Sans SC"/>
                <a:ea typeface="Noto Sans SC"/>
                <a:cs typeface="Noto Sans SC"/>
                <a:sym typeface="Noto Sans SC"/>
              </a:rPr>
              <a:t>核心优势：</a:t>
            </a:r>
            <a:r>
              <a:rPr lang="en-US" sz="1300" b="0" i="0" u="none" strike="noStrike">
                <a:solidFill>
                  <a:srgbClr val="374151"/>
                </a:solidFill>
                <a:latin typeface="Noto Sans SC"/>
                <a:ea typeface="Noto Sans SC"/>
                <a:cs typeface="Noto Sans SC"/>
                <a:sym typeface="Noto Sans SC"/>
              </a:rPr>
              <a:t>默认参数提升调用便捷性，关键字参数增强可读性，可变参数让函数能灵活处理任意数量的输入。</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2. Python函数式编程</a:t>
            </a:r>
            <a:endParaRPr lang="en-US" sz="1100"/>
          </a:p>
        </p:txBody>
      </p:sp>
      <p:sp>
        <p:nvSpPr>
          <p:cNvPr id="4" name="AutoShape 4"/>
          <p:cNvSpPr/>
          <p:nvPr/>
        </p:nvSpPr>
        <p:spPr>
          <a:xfrm>
            <a:off x="762000" y="17780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1F2937"/>
                </a:solidFill>
                <a:latin typeface="Noto Sans SC"/>
                <a:ea typeface="Noto Sans SC"/>
                <a:cs typeface="Noto Sans SC"/>
                <a:sym typeface="Noto Sans SC"/>
              </a:rPr>
              <a:t>核心概念</a:t>
            </a:r>
            <a:endParaRPr lang="en-US" sz="1100"/>
          </a:p>
        </p:txBody>
      </p:sp>
      <p:sp>
        <p:nvSpPr>
          <p:cNvPr id="5" name="AutoShape 5"/>
          <p:cNvSpPr/>
          <p:nvPr/>
        </p:nvSpPr>
        <p:spPr>
          <a:xfrm>
            <a:off x="762000" y="2540000"/>
            <a:ext cx="5207000" cy="1079500"/>
          </a:xfrm>
          <a:prstGeom prst="roundRect">
            <a:avLst>
              <a:gd name="adj" fmla="val 0"/>
            </a:avLst>
          </a:prstGeom>
          <a:solidFill>
            <a:srgbClr val="F3F4F6">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730500"/>
            <a:ext cx="355600" cy="355600"/>
          </a:xfrm>
          <a:prstGeom prst="rect">
            <a:avLst/>
          </a:prstGeom>
        </p:spPr>
      </p:pic>
      <p:sp>
        <p:nvSpPr>
          <p:cNvPr id="7" name="AutoShape 7"/>
          <p:cNvSpPr/>
          <p:nvPr/>
        </p:nvSpPr>
        <p:spPr>
          <a:xfrm>
            <a:off x="1460500" y="2667000"/>
            <a:ext cx="444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纯函数 (Pure Functions)</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输出仅依赖输入参数，无任何副作用（如修改全局变量、打印或网络请求），结果稳定且易于测试。</a:t>
            </a:r>
          </a:p>
        </p:txBody>
      </p:sp>
      <p:sp>
        <p:nvSpPr>
          <p:cNvPr id="8" name="AutoShape 8"/>
          <p:cNvSpPr/>
          <p:nvPr/>
        </p:nvSpPr>
        <p:spPr>
          <a:xfrm>
            <a:off x="762000" y="3746500"/>
            <a:ext cx="5207000" cy="1079500"/>
          </a:xfrm>
          <a:prstGeom prst="roundRect">
            <a:avLst>
              <a:gd name="adj" fmla="val 0"/>
            </a:avLst>
          </a:prstGeom>
          <a:solidFill>
            <a:srgbClr val="F3F4F6">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937000"/>
            <a:ext cx="355600" cy="355600"/>
          </a:xfrm>
          <a:prstGeom prst="rect">
            <a:avLst/>
          </a:prstGeom>
        </p:spPr>
      </p:pic>
      <p:sp>
        <p:nvSpPr>
          <p:cNvPr id="10" name="AutoShape 10"/>
          <p:cNvSpPr/>
          <p:nvPr/>
        </p:nvSpPr>
        <p:spPr>
          <a:xfrm>
            <a:off x="1460500" y="3873500"/>
            <a:ext cx="444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不可变数据 (Immutability)</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数据创建后状态不可被修改。Python中的字符串、元组是典型的不可变类型，这避免了并发环境下的数据冲突。</a:t>
            </a:r>
          </a:p>
        </p:txBody>
      </p:sp>
      <p:sp>
        <p:nvSpPr>
          <p:cNvPr id="11" name="AutoShape 11"/>
          <p:cNvSpPr/>
          <p:nvPr/>
        </p:nvSpPr>
        <p:spPr>
          <a:xfrm>
            <a:off x="762000" y="4953000"/>
            <a:ext cx="5207000" cy="1079500"/>
          </a:xfrm>
          <a:prstGeom prst="roundRect">
            <a:avLst>
              <a:gd name="adj" fmla="val 0"/>
            </a:avLst>
          </a:prstGeom>
          <a:solidFill>
            <a:srgbClr val="F3F4F6">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143500"/>
            <a:ext cx="355600" cy="355600"/>
          </a:xfrm>
          <a:prstGeom prst="rect">
            <a:avLst/>
          </a:prstGeom>
        </p:spPr>
      </p:pic>
      <p:sp>
        <p:nvSpPr>
          <p:cNvPr id="13" name="AutoShape 13"/>
          <p:cNvSpPr/>
          <p:nvPr/>
        </p:nvSpPr>
        <p:spPr>
          <a:xfrm>
            <a:off x="1460500" y="5080000"/>
            <a:ext cx="444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高阶函数 (Higher-Order Functions)</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具备接收函数作为参数，或返回一个函数作为结果的能力，是实现函数式编程范式的基础。</a:t>
            </a:r>
          </a:p>
        </p:txBody>
      </p:sp>
      <p:sp>
        <p:nvSpPr>
          <p:cNvPr id="14" name="AutoShape 14"/>
          <p:cNvSpPr/>
          <p:nvPr/>
        </p:nvSpPr>
        <p:spPr>
          <a:xfrm>
            <a:off x="6223000" y="17780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1F2937"/>
                </a:solidFill>
                <a:latin typeface="Noto Sans SC"/>
                <a:ea typeface="Noto Sans SC"/>
                <a:cs typeface="Noto Sans SC"/>
                <a:sym typeface="Noto Sans SC"/>
              </a:rPr>
              <a:t>常用工具与特性</a:t>
            </a:r>
            <a:endParaRPr lang="en-US" sz="1100"/>
          </a:p>
        </p:txBody>
      </p:sp>
      <p:sp>
        <p:nvSpPr>
          <p:cNvPr id="15" name="AutoShape 15"/>
          <p:cNvSpPr/>
          <p:nvPr/>
        </p:nvSpPr>
        <p:spPr>
          <a:xfrm>
            <a:off x="6223000" y="2540000"/>
            <a:ext cx="2476500" cy="1778000"/>
          </a:xfrm>
          <a:prstGeom prst="roundRect">
            <a:avLst>
              <a:gd name="adj" fmla="val 0"/>
            </a:avLst>
          </a:prstGeom>
          <a:solidFill>
            <a:srgbClr val="EFF6FF">
              <a:alpha val="7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13500" y="2730500"/>
            <a:ext cx="304800" cy="304800"/>
          </a:xfrm>
          <a:prstGeom prst="rect">
            <a:avLst/>
          </a:prstGeom>
        </p:spPr>
      </p:pic>
      <p:sp>
        <p:nvSpPr>
          <p:cNvPr id="17" name="AutoShape 17"/>
          <p:cNvSpPr/>
          <p:nvPr/>
        </p:nvSpPr>
        <p:spPr>
          <a:xfrm>
            <a:off x="6794500" y="2730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lambda 表达式</a:t>
            </a:r>
            <a:endParaRPr lang="en-US" sz="1100"/>
          </a:p>
        </p:txBody>
      </p:sp>
      <p:sp>
        <p:nvSpPr>
          <p:cNvPr id="18" name="AutoShape 18"/>
          <p:cNvSpPr/>
          <p:nvPr/>
        </p:nvSpPr>
        <p:spPr>
          <a:xfrm>
            <a:off x="6413500" y="32004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创建匿名函数的快捷方式，适用于定义短小、一次性使用的函数逻辑，极大简化代码。</a:t>
            </a:r>
            <a:endParaRPr lang="en-US" sz="1100"/>
          </a:p>
        </p:txBody>
      </p:sp>
      <p:sp>
        <p:nvSpPr>
          <p:cNvPr id="19" name="AutoShape 19"/>
          <p:cNvSpPr/>
          <p:nvPr/>
        </p:nvSpPr>
        <p:spPr>
          <a:xfrm>
            <a:off x="8826500" y="2540000"/>
            <a:ext cx="2476500" cy="1778000"/>
          </a:xfrm>
          <a:prstGeom prst="roundRect">
            <a:avLst>
              <a:gd name="adj" fmla="val 0"/>
            </a:avLst>
          </a:prstGeom>
          <a:solidFill>
            <a:srgbClr val="ECFDF5">
              <a:alpha val="7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17000" y="2730500"/>
            <a:ext cx="304800" cy="304800"/>
          </a:xfrm>
          <a:prstGeom prst="rect">
            <a:avLst/>
          </a:prstGeom>
        </p:spPr>
      </p:pic>
      <p:sp>
        <p:nvSpPr>
          <p:cNvPr id="21" name="AutoShape 21"/>
          <p:cNvSpPr/>
          <p:nvPr/>
        </p:nvSpPr>
        <p:spPr>
          <a:xfrm>
            <a:off x="9398000" y="2730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map() 映射</a:t>
            </a:r>
            <a:endParaRPr lang="en-US" sz="1100"/>
          </a:p>
        </p:txBody>
      </p:sp>
      <p:sp>
        <p:nvSpPr>
          <p:cNvPr id="22" name="AutoShape 22"/>
          <p:cNvSpPr/>
          <p:nvPr/>
        </p:nvSpPr>
        <p:spPr>
          <a:xfrm>
            <a:off x="9017000" y="32004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将指定的转换函数依次作用于可迭代对象的每个元素，返回一个新的迭代器，实现批量处理。</a:t>
            </a:r>
            <a:endParaRPr lang="en-US" sz="1100"/>
          </a:p>
        </p:txBody>
      </p:sp>
      <p:sp>
        <p:nvSpPr>
          <p:cNvPr id="23" name="AutoShape 23"/>
          <p:cNvSpPr/>
          <p:nvPr/>
        </p:nvSpPr>
        <p:spPr>
          <a:xfrm>
            <a:off x="6223000" y="4445000"/>
            <a:ext cx="2476500" cy="1778000"/>
          </a:xfrm>
          <a:prstGeom prst="roundRect">
            <a:avLst>
              <a:gd name="adj" fmla="val 0"/>
            </a:avLst>
          </a:prstGeom>
          <a:solidFill>
            <a:srgbClr val="FFFBEB">
              <a:alpha val="70000"/>
            </a:srgbClr>
          </a:solidFill>
          <a:ln w="12700" cap="flat" cmpd="sng">
            <a:solidFill>
              <a:srgbClr val="FDE68A">
                <a:alpha val="10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413500" y="4635500"/>
            <a:ext cx="304800" cy="304800"/>
          </a:xfrm>
          <a:prstGeom prst="rect">
            <a:avLst/>
          </a:prstGeom>
        </p:spPr>
      </p:pic>
      <p:sp>
        <p:nvSpPr>
          <p:cNvPr id="25" name="AutoShape 25"/>
          <p:cNvSpPr/>
          <p:nvPr/>
        </p:nvSpPr>
        <p:spPr>
          <a:xfrm>
            <a:off x="6794500" y="4635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filter() 过滤</a:t>
            </a:r>
            <a:endParaRPr lang="en-US" sz="1100"/>
          </a:p>
        </p:txBody>
      </p:sp>
      <p:sp>
        <p:nvSpPr>
          <p:cNvPr id="26" name="AutoShape 26"/>
          <p:cNvSpPr/>
          <p:nvPr/>
        </p:nvSpPr>
        <p:spPr>
          <a:xfrm>
            <a:off x="6413500" y="51054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根据过滤函数返回的布尔值，筛选出可迭代对象中满足条件的元素，实现数据的精准筛选。</a:t>
            </a:r>
            <a:endParaRPr lang="en-US" sz="1100"/>
          </a:p>
        </p:txBody>
      </p:sp>
      <p:sp>
        <p:nvSpPr>
          <p:cNvPr id="27" name="AutoShape 27"/>
          <p:cNvSpPr/>
          <p:nvPr/>
        </p:nvSpPr>
        <p:spPr>
          <a:xfrm>
            <a:off x="8826500" y="4445000"/>
            <a:ext cx="2476500" cy="1778000"/>
          </a:xfrm>
          <a:prstGeom prst="roundRect">
            <a:avLst>
              <a:gd name="adj" fmla="val 0"/>
            </a:avLst>
          </a:prstGeom>
          <a:solidFill>
            <a:srgbClr val="FAF5FF">
              <a:alpha val="70000"/>
            </a:srgbClr>
          </a:solidFill>
          <a:ln w="12700" cap="flat" cmpd="sng">
            <a:solidFill>
              <a:srgbClr val="E9D5FF">
                <a:alpha val="100000"/>
              </a:srgbClr>
            </a:solid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17000" y="4635500"/>
            <a:ext cx="304800" cy="304800"/>
          </a:xfrm>
          <a:prstGeom prst="rect">
            <a:avLst/>
          </a:prstGeom>
        </p:spPr>
      </p:pic>
      <p:sp>
        <p:nvSpPr>
          <p:cNvPr id="29" name="AutoShape 29"/>
          <p:cNvSpPr/>
          <p:nvPr/>
        </p:nvSpPr>
        <p:spPr>
          <a:xfrm>
            <a:off x="9398000" y="4635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reduce() 归约</a:t>
            </a:r>
            <a:endParaRPr lang="en-US" sz="1100"/>
          </a:p>
        </p:txBody>
      </p:sp>
      <p:sp>
        <p:nvSpPr>
          <p:cNvPr id="30" name="AutoShape 30"/>
          <p:cNvSpPr/>
          <p:nvPr/>
        </p:nvSpPr>
        <p:spPr>
          <a:xfrm>
            <a:off x="9017000" y="51054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来自 functools 模块，将二元函数累积应用于序列，最终将整个序列“折叠”为一个单一的值。</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lambda 表达式</a:t>
            </a:r>
            <a:endParaRPr lang="en-US" sz="1100"/>
          </a:p>
        </p:txBody>
      </p:sp>
      <p:sp>
        <p:nvSpPr>
          <p:cNvPr id="4" name="AutoShape 4"/>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374151"/>
                </a:solidFill>
                <a:latin typeface="Noto Sans SC"/>
                <a:ea typeface="Noto Sans SC"/>
                <a:cs typeface="Noto Sans SC"/>
                <a:sym typeface="Noto Sans SC"/>
              </a:rPr>
              <a:t>lambda 表达式（匿名函数）是 Python 中创建轻量、一次性函数的便捷语法，无需显式定义函数名，常被用于简化代码结构，尤其适合作为高阶函数（如 map, filter）的参数。</a:t>
            </a:r>
            <a:endParaRPr lang="en-US" sz="1100"/>
          </a:p>
        </p:txBody>
      </p:sp>
      <p:sp>
        <p:nvSpPr>
          <p:cNvPr id="5" name="AutoShape 5"/>
          <p:cNvSpPr/>
          <p:nvPr/>
        </p:nvSpPr>
        <p:spPr>
          <a:xfrm>
            <a:off x="762000" y="2667000"/>
            <a:ext cx="10668000" cy="889000"/>
          </a:xfrm>
          <a:prstGeom prst="roundRect">
            <a:avLst>
              <a:gd name="adj" fmla="val 0"/>
            </a:avLst>
          </a:prstGeom>
          <a:solidFill>
            <a:srgbClr val="1F2937">
              <a:alpha val="5000"/>
            </a:srgbClr>
          </a:solidFill>
          <a:ln w="12700" cap="flat" cmpd="sng">
            <a:solidFill>
              <a:srgbClr val="1F2937">
                <a:alpha val="1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2857500"/>
            <a:ext cx="1028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语法结构：</a:t>
            </a:r>
            <a:r>
              <a:rPr lang="en-US" sz="1600" b="0" i="0" u="none" strike="noStrike">
                <a:solidFill>
                  <a:srgbClr val="4B5563"/>
                </a:solidFill>
                <a:latin typeface="Consolas"/>
                <a:ea typeface="Consolas"/>
                <a:cs typeface="Consolas"/>
                <a:sym typeface="Consolas"/>
              </a:rPr>
              <a:t>lambda [arg1, arg2,...]: expression</a:t>
            </a:r>
            <a:r>
              <a:rPr lang="en-US" sz="1500" b="0" i="0" u="none" strike="noStrike">
                <a:solidFill>
                  <a:srgbClr val="6B7280"/>
                </a:solidFill>
                <a:latin typeface="Noto Sans SC"/>
                <a:ea typeface="Noto Sans SC"/>
                <a:cs typeface="Noto Sans SC"/>
                <a:sym typeface="Noto Sans SC"/>
              </a:rPr>
              <a:t>—— 冒号左侧为参数列表，右侧为单个表达式（自动返回结果，无需 return 关键字）</a:t>
            </a:r>
            <a:endParaRPr lang="en-US" sz="1100"/>
          </a:p>
        </p:txBody>
      </p:sp>
      <p:sp>
        <p:nvSpPr>
          <p:cNvPr id="7" name="AutoShape 7"/>
          <p:cNvSpPr/>
          <p:nvPr/>
        </p:nvSpPr>
        <p:spPr>
          <a:xfrm>
            <a:off x="762000" y="3937000"/>
            <a:ext cx="10668000" cy="2286000"/>
          </a:xfrm>
          <a:prstGeom prst="roundRect">
            <a:avLst>
              <a:gd name="adj" fmla="val 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52500" y="41275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206500" y="4127500"/>
            <a:ext cx="152400" cy="1524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460500" y="4127500"/>
            <a:ext cx="152400" cy="1524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952500" y="4445000"/>
            <a:ext cx="10287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9CA3AF"/>
                </a:solidFill>
                <a:latin typeface="Consolas"/>
                <a:ea typeface="Consolas"/>
                <a:cs typeface="Consolas"/>
                <a:sym typeface="Consolas"/>
              </a:rPr>
              <a:t># 1. 基础定义：替代简单的命名函数</a:t>
            </a:r>
            <a:endParaRPr lang="en-US" sz="1100"/>
          </a:p>
          <a:p>
            <a:pPr marL="0" indent="0" algn="l">
              <a:lnSpc>
                <a:spcPct val="116666"/>
              </a:lnSpc>
            </a:pPr>
            <a:r>
              <a:rPr lang="en-US" sz="1300" b="0" i="0" u="none" strike="noStrike">
                <a:solidFill>
                  <a:srgbClr val="E5E7EB"/>
                </a:solidFill>
                <a:latin typeface="Consolas"/>
                <a:ea typeface="Consolas"/>
                <a:cs typeface="Consolas"/>
                <a:sym typeface="Consolas"/>
              </a:rPr>
              <a:t>add =</a:t>
            </a:r>
            <a:r>
              <a:rPr lang="en-US" sz="1300" b="0" i="0" u="none" strike="noStrike">
                <a:solidFill>
                  <a:srgbClr val="818CF8"/>
                </a:solidFill>
                <a:latin typeface="Consolas"/>
                <a:ea typeface="Consolas"/>
                <a:cs typeface="Consolas"/>
                <a:sym typeface="Consolas"/>
              </a:rPr>
              <a:t>lambda</a:t>
            </a:r>
            <a:r>
              <a:rPr lang="en-US" sz="1300" b="0" i="0" u="none" strike="noStrike">
                <a:solidFill>
                  <a:srgbClr val="E5E7EB"/>
                </a:solidFill>
                <a:latin typeface="Consolas"/>
                <a:ea typeface="Consolas"/>
                <a:cs typeface="Consolas"/>
                <a:sym typeface="Consolas"/>
              </a:rPr>
              <a:t>x, y: x + y</a:t>
            </a:r>
            <a:r>
              <a:rPr lang="en-US" sz="1300" b="0" i="0" u="none" strike="noStrike">
                <a:solidFill>
                  <a:srgbClr val="9CA3AF"/>
                </a:solidFill>
                <a:latin typeface="Consolas"/>
                <a:ea typeface="Consolas"/>
                <a:cs typeface="Consolas"/>
                <a:sym typeface="Consolas"/>
              </a:rPr>
              <a:t># 调用：add(3, 5) → 输出 8</a:t>
            </a:r>
          </a:p>
          <a:p>
            <a:pPr marL="0" indent="0" algn="l">
              <a:lnSpc>
                <a:spcPct val="116666"/>
              </a:lnSpc>
            </a:pPr>
            <a:r>
              <a:rPr lang="en-US" sz="1300" b="0" i="0" u="none" strike="noStrike">
                <a:solidFill>
                  <a:srgbClr val="9CA3AF"/>
                </a:solidFill>
                <a:latin typeface="Consolas"/>
                <a:ea typeface="Consolas"/>
                <a:cs typeface="Consolas"/>
                <a:sym typeface="Consolas"/>
              </a:rPr>
              <a:t># 2. 典型场景：配合 map() 批量处理数据</a:t>
            </a:r>
          </a:p>
          <a:p>
            <a:pPr marL="0" indent="0" algn="l">
              <a:lnSpc>
                <a:spcPct val="116666"/>
              </a:lnSpc>
            </a:pPr>
            <a:r>
              <a:rPr lang="en-US" sz="1300" b="0" i="0" u="none" strike="noStrike">
                <a:solidFill>
                  <a:srgbClr val="E5E7EB"/>
                </a:solidFill>
                <a:latin typeface="Consolas"/>
                <a:ea typeface="Consolas"/>
                <a:cs typeface="Consolas"/>
                <a:sym typeface="Consolas"/>
              </a:rPr>
              <a:t>nums = [1, 2, 3, 4]; result =</a:t>
            </a:r>
            <a:r>
              <a:rPr lang="en-US" sz="1300" b="0" i="0" u="none" strike="noStrike">
                <a:solidFill>
                  <a:srgbClr val="818CF8"/>
                </a:solidFill>
                <a:latin typeface="Consolas"/>
                <a:ea typeface="Consolas"/>
                <a:cs typeface="Consolas"/>
                <a:sym typeface="Consolas"/>
              </a:rPr>
              <a:t>list</a:t>
            </a:r>
            <a:r>
              <a:rPr lang="en-US" sz="1300" b="0" i="0" u="none" strike="noStrike">
                <a:solidFill>
                  <a:srgbClr val="E5E7EB"/>
                </a:solidFill>
                <a:latin typeface="Consolas"/>
                <a:ea typeface="Consolas"/>
                <a:cs typeface="Consolas"/>
                <a:sym typeface="Consolas"/>
              </a:rPr>
              <a:t>(</a:t>
            </a:r>
            <a:r>
              <a:rPr lang="en-US" sz="1300" b="0" i="0" u="none" strike="noStrike">
                <a:solidFill>
                  <a:srgbClr val="818CF8"/>
                </a:solidFill>
                <a:latin typeface="Consolas"/>
                <a:ea typeface="Consolas"/>
                <a:cs typeface="Consolas"/>
                <a:sym typeface="Consolas"/>
              </a:rPr>
              <a:t>map</a:t>
            </a:r>
            <a:r>
              <a:rPr lang="en-US" sz="1300" b="0" i="0" u="none" strike="noStrike">
                <a:solidFill>
                  <a:srgbClr val="E5E7EB"/>
                </a:solidFill>
                <a:latin typeface="Consolas"/>
                <a:ea typeface="Consolas"/>
                <a:cs typeface="Consolas"/>
                <a:sym typeface="Consolas"/>
              </a:rPr>
              <a:t>(</a:t>
            </a:r>
            <a:r>
              <a:rPr lang="en-US" sz="1300" b="0" i="0" u="none" strike="noStrike">
                <a:solidFill>
                  <a:srgbClr val="818CF8"/>
                </a:solidFill>
                <a:latin typeface="Consolas"/>
                <a:ea typeface="Consolas"/>
                <a:cs typeface="Consolas"/>
                <a:sym typeface="Consolas"/>
              </a:rPr>
              <a:t>lambda</a:t>
            </a:r>
            <a:r>
              <a:rPr lang="en-US" sz="1300" b="0" i="0" u="none" strike="noStrike">
                <a:solidFill>
                  <a:srgbClr val="E5E7EB"/>
                </a:solidFill>
                <a:latin typeface="Consolas"/>
                <a:ea typeface="Consolas"/>
                <a:cs typeface="Consolas"/>
                <a:sym typeface="Consolas"/>
              </a:rPr>
              <a:t>x: x ** 2, nums))</a:t>
            </a:r>
            <a:r>
              <a:rPr lang="en-US" sz="1300" b="0" i="0" u="none" strike="noStrike">
                <a:solidFill>
                  <a:srgbClr val="9CA3AF"/>
                </a:solidFill>
                <a:latin typeface="Consolas"/>
                <a:ea typeface="Consolas"/>
                <a:cs typeface="Consolas"/>
                <a:sym typeface="Consolas"/>
              </a:rPr>
              <a:t># 结果: [1, 4, 9, 16]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map 与 filter</a:t>
            </a:r>
            <a:endParaRPr lang="en-US" sz="1100"/>
          </a:p>
        </p:txBody>
      </p:sp>
      <p:sp>
        <p:nvSpPr>
          <p:cNvPr id="4" name="AutoShape 4"/>
          <p:cNvSpPr/>
          <p:nvPr/>
        </p:nvSpPr>
        <p:spPr>
          <a:xfrm>
            <a:off x="762000" y="1778000"/>
            <a:ext cx="5207000" cy="4191000"/>
          </a:xfrm>
          <a:prstGeom prst="roundRect">
            <a:avLst>
              <a:gd name="adj" fmla="val 0"/>
            </a:avLst>
          </a:prstGeom>
          <a:solidFill>
            <a:srgbClr val="FFFFFF">
              <a:alpha val="6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68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 map(function, iterable)</a:t>
            </a:r>
            <a:endParaRPr lang="en-US" sz="1100"/>
          </a:p>
        </p:txBody>
      </p:sp>
      <p:sp>
        <p:nvSpPr>
          <p:cNvPr id="6" name="AutoShape 6"/>
          <p:cNvSpPr/>
          <p:nvPr/>
        </p:nvSpPr>
        <p:spPr>
          <a:xfrm>
            <a:off x="952500" y="24765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将指定函数依次作用于可迭代对象的每个元素，返回新的迭代器。它像一个“数据加工厂”，用于对序列进行批量转换或计算。</a:t>
            </a:r>
            <a:endParaRPr lang="en-US" sz="1100"/>
          </a:p>
        </p:txBody>
      </p:sp>
      <p:sp>
        <p:nvSpPr>
          <p:cNvPr id="7" name="AutoShape 7"/>
          <p:cNvSpPr/>
          <p:nvPr/>
        </p:nvSpPr>
        <p:spPr>
          <a:xfrm>
            <a:off x="952500" y="3556000"/>
            <a:ext cx="4826000" cy="2095500"/>
          </a:xfrm>
          <a:prstGeom prst="roundRect">
            <a:avLst>
              <a:gd name="adj" fmla="val 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79500" y="3683000"/>
            <a:ext cx="4572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9CA3AF"/>
                </a:solidFill>
                <a:latin typeface="Roboto Mono"/>
                <a:ea typeface="Roboto Mono"/>
                <a:cs typeface="Roboto Mono"/>
                <a:sym typeface="Roboto Mono"/>
              </a:rPr>
              <a:t># 定义列表 &amp; 计算平方</a:t>
            </a:r>
            <a:endParaRPr lang="en-US" sz="1100"/>
          </a:p>
          <a:p>
            <a:pPr marL="0" indent="0" algn="l">
              <a:lnSpc>
                <a:spcPct val="108333"/>
              </a:lnSpc>
            </a:pPr>
            <a:r>
              <a:rPr lang="en-US" sz="1300" b="0" i="0" u="none" strike="noStrike">
                <a:solidFill>
                  <a:srgbClr val="E5E7EB"/>
                </a:solidFill>
                <a:latin typeface="Roboto Mono"/>
                <a:ea typeface="Roboto Mono"/>
                <a:cs typeface="Roboto Mono"/>
                <a:sym typeface="Roboto Mono"/>
              </a:rPr>
              <a:t>nums = [1, 2, 3, 4]</a:t>
            </a:r>
          </a:p>
          <a:p>
            <a:pPr marL="0" indent="0" algn="l">
              <a:lnSpc>
                <a:spcPct val="108333"/>
              </a:lnSpc>
            </a:pPr>
            <a:r>
              <a:rPr lang="en-US" sz="1300" b="0" i="0" u="none" strike="noStrike">
                <a:solidFill>
                  <a:srgbClr val="E5E7EB"/>
                </a:solidFill>
                <a:latin typeface="Roboto Mono"/>
                <a:ea typeface="Roboto Mono"/>
                <a:cs typeface="Roboto Mono"/>
                <a:sym typeface="Roboto Mono"/>
              </a:rPr>
              <a:t>squared = list(map(lambda x: x**2, nums))</a:t>
            </a:r>
          </a:p>
          <a:p>
            <a:pPr marL="0" indent="0" algn="l">
              <a:lnSpc>
                <a:spcPct val="108333"/>
              </a:lnSpc>
            </a:pPr>
            <a:r>
              <a:rPr lang="en-US" sz="1300" b="0" i="0" u="none" strike="noStrike">
                <a:solidFill>
                  <a:srgbClr val="6EE7B7"/>
                </a:solidFill>
                <a:latin typeface="Roboto Mono"/>
                <a:ea typeface="Roboto Mono"/>
                <a:cs typeface="Roboto Mono"/>
                <a:sym typeface="Roboto Mono"/>
              </a:rPr>
              <a:t># 输出结果: [1, 4, 9, 16]</a:t>
            </a:r>
          </a:p>
          <a:p>
            <a:pPr marL="0" indent="0" algn="l">
              <a:lnSpc>
                <a:spcPct val="108333"/>
              </a:lnSpc>
            </a:pPr>
            <a:r>
              <a:rPr lang="en-US" sz="1300" b="0" i="0" u="none" strike="noStrike">
                <a:solidFill>
                  <a:srgbClr val="E5E7EB"/>
                </a:solidFill>
                <a:latin typeface="Roboto Mono"/>
                <a:ea typeface="Roboto Mono"/>
                <a:cs typeface="Roboto Mono"/>
                <a:sym typeface="Roboto Mono"/>
              </a:rPr>
              <a:t>str_nums = list(map(str, nums)) # 转为字符串列表</a:t>
            </a:r>
          </a:p>
        </p:txBody>
      </p:sp>
      <p:sp>
        <p:nvSpPr>
          <p:cNvPr id="9" name="AutoShape 9"/>
          <p:cNvSpPr/>
          <p:nvPr/>
        </p:nvSpPr>
        <p:spPr>
          <a:xfrm>
            <a:off x="6223000" y="1778000"/>
            <a:ext cx="5207000" cy="4191000"/>
          </a:xfrm>
          <a:prstGeom prst="roundRect">
            <a:avLst>
              <a:gd name="adj" fmla="val 0"/>
            </a:avLst>
          </a:prstGeom>
          <a:solidFill>
            <a:srgbClr val="FFFFFF">
              <a:alpha val="6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13500" y="1968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 filter(function, iterable)</a:t>
            </a:r>
            <a:endParaRPr lang="en-US" sz="1100"/>
          </a:p>
        </p:txBody>
      </p:sp>
      <p:sp>
        <p:nvSpPr>
          <p:cNvPr id="11" name="AutoShape 11"/>
          <p:cNvSpPr/>
          <p:nvPr/>
        </p:nvSpPr>
        <p:spPr>
          <a:xfrm>
            <a:off x="6413500" y="24765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根据判断函数的布尔值筛选元素，仅保留返回 True 的项。它像一个“数据筛子”，用于从序列中过滤出符合特定条件的数据。</a:t>
            </a:r>
            <a:endParaRPr lang="en-US" sz="1100"/>
          </a:p>
        </p:txBody>
      </p:sp>
      <p:sp>
        <p:nvSpPr>
          <p:cNvPr id="12" name="AutoShape 12"/>
          <p:cNvSpPr/>
          <p:nvPr/>
        </p:nvSpPr>
        <p:spPr>
          <a:xfrm>
            <a:off x="6413500" y="3556000"/>
            <a:ext cx="4826000" cy="2095500"/>
          </a:xfrm>
          <a:prstGeom prst="roundRect">
            <a:avLst>
              <a:gd name="adj" fmla="val 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540500" y="3683000"/>
            <a:ext cx="4572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9CA3AF"/>
                </a:solidFill>
                <a:latin typeface="Roboto Mono"/>
                <a:ea typeface="Roboto Mono"/>
                <a:cs typeface="Roboto Mono"/>
                <a:sym typeface="Roboto Mono"/>
              </a:rPr>
              <a:t># 定义列表 &amp; 筛选偶数</a:t>
            </a:r>
            <a:endParaRPr lang="en-US" sz="1100"/>
          </a:p>
          <a:p>
            <a:pPr marL="0" indent="0" algn="l">
              <a:lnSpc>
                <a:spcPct val="108333"/>
              </a:lnSpc>
            </a:pPr>
            <a:r>
              <a:rPr lang="en-US" sz="1300" b="0" i="0" u="none" strike="noStrike">
                <a:solidFill>
                  <a:srgbClr val="E5E7EB"/>
                </a:solidFill>
                <a:latin typeface="Roboto Mono"/>
                <a:ea typeface="Roboto Mono"/>
                <a:cs typeface="Roboto Mono"/>
                <a:sym typeface="Roboto Mono"/>
              </a:rPr>
              <a:t>nums = [1, 2, 3, 4, 5, 6]</a:t>
            </a:r>
          </a:p>
          <a:p>
            <a:pPr marL="0" indent="0" algn="l">
              <a:lnSpc>
                <a:spcPct val="108333"/>
              </a:lnSpc>
            </a:pPr>
            <a:r>
              <a:rPr lang="en-US" sz="1300" b="0" i="0" u="none" strike="noStrike">
                <a:solidFill>
                  <a:srgbClr val="E5E7EB"/>
                </a:solidFill>
                <a:latin typeface="Roboto Mono"/>
                <a:ea typeface="Roboto Mono"/>
                <a:cs typeface="Roboto Mono"/>
                <a:sym typeface="Roboto Mono"/>
              </a:rPr>
              <a:t>evens = list(filter(lambda x: x % 2 == 0, nums))</a:t>
            </a:r>
          </a:p>
          <a:p>
            <a:pPr marL="0" indent="0" algn="l">
              <a:lnSpc>
                <a:spcPct val="108333"/>
              </a:lnSpc>
            </a:pPr>
            <a:r>
              <a:rPr lang="en-US" sz="1300" b="0" i="0" u="none" strike="noStrike">
                <a:solidFill>
                  <a:srgbClr val="6EE7B7"/>
                </a:solidFill>
                <a:latin typeface="Roboto Mono"/>
                <a:ea typeface="Roboto Mono"/>
                <a:cs typeface="Roboto Mono"/>
                <a:sym typeface="Roboto Mono"/>
              </a:rPr>
              <a:t># 输出结果: [2, 4, 6]</a:t>
            </a:r>
          </a:p>
          <a:p>
            <a:pPr marL="0" indent="0" algn="l">
              <a:lnSpc>
                <a:spcPct val="108333"/>
              </a:lnSpc>
            </a:pPr>
            <a:r>
              <a:rPr lang="en-US" sz="1300" b="0" i="0" u="none" strike="noStrike">
                <a:solidFill>
                  <a:srgbClr val="E5E7EB"/>
                </a:solidFill>
                <a:latin typeface="Roboto Mono"/>
                <a:ea typeface="Roboto Mono"/>
                <a:cs typeface="Roboto Mono"/>
                <a:sym typeface="Roboto Mono"/>
              </a:rPr>
              <a:t>gt3 = list(filter(lambda x: x &gt; 3, nums)) # 筛选大于3的数</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functools.reduce</a:t>
            </a:r>
            <a:endParaRPr lang="en-US" sz="1100"/>
          </a:p>
        </p:txBody>
      </p:sp>
      <p:sp>
        <p:nvSpPr>
          <p:cNvPr id="4" name="AutoShape 4"/>
          <p:cNvSpPr/>
          <p:nvPr/>
        </p:nvSpPr>
        <p:spPr>
          <a:xfrm>
            <a:off x="762000" y="1651000"/>
            <a:ext cx="10668000" cy="889000"/>
          </a:xfrm>
          <a:prstGeom prst="roundRect">
            <a:avLst>
              <a:gd name="adj" fmla="val 0"/>
            </a:avLst>
          </a:prstGeom>
          <a:solidFill>
            <a:srgbClr val="FFFFFF">
              <a:alpha val="50000"/>
            </a:srgbClr>
          </a:solidFill>
          <a:ln cap="flat" cmpd="sng">
            <a:solidFill>
              <a:srgbClr val="E6CFCF">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778000"/>
            <a:ext cx="1028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374151"/>
                </a:solidFill>
                <a:latin typeface="Noto Sans SC"/>
                <a:ea typeface="Noto Sans SC"/>
                <a:cs typeface="Noto Sans SC"/>
                <a:sym typeface="Noto Sans SC"/>
              </a:rPr>
              <a:t>reduce 将一个二元函数“累积”应用于可迭代对象的元素，从左到右依次计算，最终将整个序列“归约”为单一值。它是实现聚合逻辑（如求和、求积）的高效工具。</a:t>
            </a:r>
            <a:endParaRPr lang="en-US" sz="1100"/>
          </a:p>
        </p:txBody>
      </p:sp>
      <p:sp>
        <p:nvSpPr>
          <p:cNvPr id="6" name="AutoShape 6"/>
          <p:cNvSpPr/>
          <p:nvPr/>
        </p:nvSpPr>
        <p:spPr>
          <a:xfrm>
            <a:off x="762000" y="2730500"/>
            <a:ext cx="10668000" cy="584200"/>
          </a:xfrm>
          <a:prstGeom prst="roundRect">
            <a:avLst>
              <a:gd name="adj" fmla="val 0"/>
            </a:avLst>
          </a:prstGeom>
          <a:solidFill>
            <a:srgbClr val="F3F4F6">
              <a:alpha val="8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2832100"/>
            <a:ext cx="10287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语法结构：</a:t>
            </a:r>
            <a:r>
              <a:rPr lang="en-US" sz="1500" b="0" i="0" u="none" strike="noStrike">
                <a:solidFill>
                  <a:srgbClr val="4B5563"/>
                </a:solidFill>
                <a:latin typeface="Menlo"/>
                <a:ea typeface="Menlo"/>
                <a:cs typeface="Menlo"/>
                <a:sym typeface="Menlo"/>
              </a:rPr>
              <a:t>reduce(function, iterable[, initializer])</a:t>
            </a:r>
            <a:endParaRPr lang="en-US" sz="1100"/>
          </a:p>
        </p:txBody>
      </p:sp>
      <p:sp>
        <p:nvSpPr>
          <p:cNvPr id="8" name="AutoShape 8"/>
          <p:cNvSpPr/>
          <p:nvPr/>
        </p:nvSpPr>
        <p:spPr>
          <a:xfrm>
            <a:off x="762000" y="3683000"/>
            <a:ext cx="3429000" cy="2413000"/>
          </a:xfrm>
          <a:prstGeom prst="roundRect">
            <a:avLst>
              <a:gd name="adj" fmla="val 0"/>
            </a:avLst>
          </a:prstGeom>
          <a:solidFill>
            <a:srgbClr val="F9FAFB">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14400" y="38354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01. 计算累积乘积</a:t>
            </a:r>
            <a:endParaRPr lang="en-US" sz="1100"/>
          </a:p>
        </p:txBody>
      </p:sp>
      <p:sp>
        <p:nvSpPr>
          <p:cNvPr id="10" name="AutoShape 10"/>
          <p:cNvSpPr/>
          <p:nvPr/>
        </p:nvSpPr>
        <p:spPr>
          <a:xfrm>
            <a:off x="914400" y="42164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Menlo"/>
                <a:ea typeface="Menlo"/>
                <a:cs typeface="Menlo"/>
                <a:sym typeface="Menlo"/>
              </a:rPr>
              <a:t>nums = [1, 2, 3, 4]</a:t>
            </a:r>
            <a:br>
              <a:rPr lang="en-US" sz="1300" b="0" i="0" u="none" strike="noStrike">
                <a:solidFill>
                  <a:srgbClr val="4B5563"/>
                </a:solidFill>
                <a:latin typeface="Menlo"/>
                <a:ea typeface="Menlo"/>
                <a:cs typeface="Menlo"/>
                <a:sym typeface="Menlo"/>
              </a:rPr>
            </a:br>
            <a:r>
              <a:rPr lang="en-US" sz="1300" b="0" i="0" u="none" strike="noStrike">
                <a:solidFill>
                  <a:srgbClr val="4B5563"/>
                </a:solidFill>
                <a:latin typeface="Menlo"/>
                <a:ea typeface="Menlo"/>
                <a:cs typeface="Menlo"/>
                <a:sym typeface="Menlo"/>
              </a:rPr>
              <a:t>product = reduce(</a:t>
            </a:r>
            <a:br>
              <a:rPr lang="en-US" sz="1300" b="0" i="0" u="none" strike="noStrike">
                <a:solidFill>
                  <a:srgbClr val="4B5563"/>
                </a:solidFill>
                <a:latin typeface="Menlo"/>
                <a:ea typeface="Menlo"/>
                <a:cs typeface="Menlo"/>
                <a:sym typeface="Menlo"/>
              </a:rPr>
            </a:br>
            <a:r>
              <a:rPr lang="en-US" sz="1300" b="0" i="0" u="none" strike="noStrike">
                <a:solidFill>
                  <a:srgbClr val="4B5563"/>
                </a:solidFill>
                <a:latin typeface="Menlo"/>
                <a:ea typeface="Menlo"/>
                <a:cs typeface="Menlo"/>
                <a:sym typeface="Menlo"/>
              </a:rPr>
              <a:t>lambda x,y: x*y, nums</a:t>
            </a:r>
            <a:br>
              <a:rPr lang="en-US" sz="1300" b="0" i="0" u="none" strike="noStrike">
                <a:solidFill>
                  <a:srgbClr val="4B5563"/>
                </a:solidFill>
                <a:latin typeface="Menlo"/>
                <a:ea typeface="Menlo"/>
                <a:cs typeface="Menlo"/>
                <a:sym typeface="Menlo"/>
              </a:rPr>
            </a:br>
            <a:r>
              <a:rPr lang="en-US" sz="1300" b="0" i="0" u="none" strike="noStrike">
                <a:solidFill>
                  <a:srgbClr val="4B5563"/>
                </a:solidFill>
                <a:latin typeface="Menlo"/>
                <a:ea typeface="Menlo"/>
                <a:cs typeface="Menlo"/>
                <a:sym typeface="Menlo"/>
              </a:rPr>
              <a:t>)</a:t>
            </a:r>
            <a:br>
              <a:rPr lang="en-US" sz="1300" b="0" i="0" u="none" strike="noStrike">
                <a:solidFill>
                  <a:srgbClr val="4B5563"/>
                </a:solidFill>
                <a:latin typeface="Menlo"/>
                <a:ea typeface="Menlo"/>
                <a:cs typeface="Menlo"/>
                <a:sym typeface="Menlo"/>
              </a:rPr>
            </a:br>
            <a:r>
              <a:rPr lang="en-US" sz="1300" b="0" i="0" u="none" strike="noStrike">
                <a:solidFill>
                  <a:srgbClr val="4B5563"/>
                </a:solidFill>
                <a:latin typeface="Menlo"/>
                <a:ea typeface="Menlo"/>
                <a:cs typeface="Menlo"/>
                <a:sym typeface="Menlo"/>
              </a:rPr>
              <a:t>print(product)</a:t>
            </a:r>
            <a:endParaRPr lang="en-US" sz="1100"/>
          </a:p>
        </p:txBody>
      </p:sp>
      <p:sp>
        <p:nvSpPr>
          <p:cNvPr id="11" name="AutoShape 11"/>
          <p:cNvSpPr/>
          <p:nvPr/>
        </p:nvSpPr>
        <p:spPr>
          <a:xfrm>
            <a:off x="914400" y="5486400"/>
            <a:ext cx="3124200" cy="406400"/>
          </a:xfrm>
          <a:prstGeom prst="roundRect">
            <a:avLst>
              <a:gd name="adj" fmla="val 0"/>
            </a:avLst>
          </a:prstGeom>
          <a:solidFill>
            <a:srgbClr val="DCFCE7">
              <a:alpha val="70000"/>
            </a:srgbClr>
          </a:solidFill>
          <a:ln cap="flat" cmpd="sng">
            <a:solidFill>
              <a:srgbClr val="AFE3C1">
                <a:alpha val="7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990600" y="5562600"/>
            <a:ext cx="2997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66534"/>
                </a:solidFill>
                <a:latin typeface="Noto Sans SC"/>
                <a:ea typeface="Noto Sans SC"/>
                <a:cs typeface="Noto Sans SC"/>
                <a:sym typeface="Noto Sans SC"/>
              </a:rPr>
              <a:t>➜ 输出：24 (1 × 2 × 3 × 4)</a:t>
            </a:r>
            <a:endParaRPr lang="en-US" sz="1100"/>
          </a:p>
        </p:txBody>
      </p:sp>
      <p:sp>
        <p:nvSpPr>
          <p:cNvPr id="13" name="AutoShape 13"/>
          <p:cNvSpPr/>
          <p:nvPr/>
        </p:nvSpPr>
        <p:spPr>
          <a:xfrm>
            <a:off x="4381500" y="3683000"/>
            <a:ext cx="3429000" cy="2413000"/>
          </a:xfrm>
          <a:prstGeom prst="roundRect">
            <a:avLst>
              <a:gd name="adj" fmla="val 0"/>
            </a:avLst>
          </a:prstGeom>
          <a:solidFill>
            <a:srgbClr val="F9FAFB">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533900" y="38354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02. 计算累积求和</a:t>
            </a:r>
            <a:endParaRPr lang="en-US" sz="1100"/>
          </a:p>
        </p:txBody>
      </p:sp>
      <p:sp>
        <p:nvSpPr>
          <p:cNvPr id="15" name="AutoShape 15"/>
          <p:cNvSpPr/>
          <p:nvPr/>
        </p:nvSpPr>
        <p:spPr>
          <a:xfrm>
            <a:off x="4533900" y="42164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Menlo"/>
                <a:ea typeface="Menlo"/>
                <a:cs typeface="Menlo"/>
                <a:sym typeface="Menlo"/>
              </a:rPr>
              <a:t>nums = [1, 2, 3, 4]</a:t>
            </a:r>
            <a:br>
              <a:rPr lang="en-US" sz="1300" b="0" i="0" u="none" strike="noStrike">
                <a:solidFill>
                  <a:srgbClr val="4B5563"/>
                </a:solidFill>
                <a:latin typeface="Menlo"/>
                <a:ea typeface="Menlo"/>
                <a:cs typeface="Menlo"/>
                <a:sym typeface="Menlo"/>
              </a:rPr>
            </a:br>
            <a:r>
              <a:rPr lang="en-US" sz="1300" b="0" i="0" u="none" strike="noStrike">
                <a:solidFill>
                  <a:srgbClr val="4B5563"/>
                </a:solidFill>
                <a:latin typeface="Menlo"/>
                <a:ea typeface="Menlo"/>
                <a:cs typeface="Menlo"/>
                <a:sym typeface="Menlo"/>
              </a:rPr>
              <a:t>total = reduce(</a:t>
            </a:r>
            <a:br>
              <a:rPr lang="en-US" sz="1300" b="0" i="0" u="none" strike="noStrike">
                <a:solidFill>
                  <a:srgbClr val="4B5563"/>
                </a:solidFill>
                <a:latin typeface="Menlo"/>
                <a:ea typeface="Menlo"/>
                <a:cs typeface="Menlo"/>
                <a:sym typeface="Menlo"/>
              </a:rPr>
            </a:br>
            <a:r>
              <a:rPr lang="en-US" sz="1300" b="0" i="0" u="none" strike="noStrike">
                <a:solidFill>
                  <a:srgbClr val="4B5563"/>
                </a:solidFill>
                <a:latin typeface="Menlo"/>
                <a:ea typeface="Menlo"/>
                <a:cs typeface="Menlo"/>
                <a:sym typeface="Menlo"/>
              </a:rPr>
              <a:t>lambda x,y: x+y, nums</a:t>
            </a:r>
            <a:br>
              <a:rPr lang="en-US" sz="1300" b="0" i="0" u="none" strike="noStrike">
                <a:solidFill>
                  <a:srgbClr val="4B5563"/>
                </a:solidFill>
                <a:latin typeface="Menlo"/>
                <a:ea typeface="Menlo"/>
                <a:cs typeface="Menlo"/>
                <a:sym typeface="Menlo"/>
              </a:rPr>
            </a:br>
            <a:r>
              <a:rPr lang="en-US" sz="1300" b="0" i="0" u="none" strike="noStrike">
                <a:solidFill>
                  <a:srgbClr val="4B5563"/>
                </a:solidFill>
                <a:latin typeface="Menlo"/>
                <a:ea typeface="Menlo"/>
                <a:cs typeface="Menlo"/>
                <a:sym typeface="Menlo"/>
              </a:rPr>
              <a:t>)</a:t>
            </a:r>
            <a:br>
              <a:rPr lang="en-US" sz="1300" b="0" i="0" u="none" strike="noStrike">
                <a:solidFill>
                  <a:srgbClr val="4B5563"/>
                </a:solidFill>
                <a:latin typeface="Menlo"/>
                <a:ea typeface="Menlo"/>
                <a:cs typeface="Menlo"/>
                <a:sym typeface="Menlo"/>
              </a:rPr>
            </a:br>
            <a:r>
              <a:rPr lang="en-US" sz="1300" b="0" i="0" u="none" strike="noStrike">
                <a:solidFill>
                  <a:srgbClr val="4B5563"/>
                </a:solidFill>
                <a:latin typeface="Menlo"/>
                <a:ea typeface="Menlo"/>
                <a:cs typeface="Menlo"/>
                <a:sym typeface="Menlo"/>
              </a:rPr>
              <a:t>print(total)</a:t>
            </a:r>
            <a:endParaRPr lang="en-US" sz="1100"/>
          </a:p>
        </p:txBody>
      </p:sp>
      <p:sp>
        <p:nvSpPr>
          <p:cNvPr id="16" name="AutoShape 16"/>
          <p:cNvSpPr/>
          <p:nvPr/>
        </p:nvSpPr>
        <p:spPr>
          <a:xfrm>
            <a:off x="4533900" y="5486400"/>
            <a:ext cx="3124200" cy="406400"/>
          </a:xfrm>
          <a:prstGeom prst="roundRect">
            <a:avLst>
              <a:gd name="adj" fmla="val 0"/>
            </a:avLst>
          </a:prstGeom>
          <a:solidFill>
            <a:srgbClr val="DBEAFE">
              <a:alpha val="70000"/>
            </a:srgbClr>
          </a:solidFill>
          <a:ln cap="flat" cmpd="sng">
            <a:solidFill>
              <a:srgbClr val="AEC5E5">
                <a:alpha val="7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610100" y="5562600"/>
            <a:ext cx="2997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E40AF"/>
                </a:solidFill>
                <a:latin typeface="Noto Sans SC"/>
                <a:ea typeface="Noto Sans SC"/>
                <a:cs typeface="Noto Sans SC"/>
                <a:sym typeface="Noto Sans SC"/>
              </a:rPr>
              <a:t>➜ 输出：10 (1 + 2 + 3 + 4)</a:t>
            </a:r>
            <a:endParaRPr lang="en-US" sz="1100"/>
          </a:p>
        </p:txBody>
      </p:sp>
      <p:sp>
        <p:nvSpPr>
          <p:cNvPr id="18" name="AutoShape 18"/>
          <p:cNvSpPr/>
          <p:nvPr/>
        </p:nvSpPr>
        <p:spPr>
          <a:xfrm>
            <a:off x="8001000" y="3683000"/>
            <a:ext cx="3429000" cy="2413000"/>
          </a:xfrm>
          <a:prstGeom prst="roundRect">
            <a:avLst>
              <a:gd name="adj" fmla="val 0"/>
            </a:avLst>
          </a:prstGeom>
          <a:solidFill>
            <a:srgbClr val="F9FAFB">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153400" y="38354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03. 带初始值的归约</a:t>
            </a:r>
            <a:endParaRPr lang="en-US" sz="1100"/>
          </a:p>
        </p:txBody>
      </p:sp>
      <p:sp>
        <p:nvSpPr>
          <p:cNvPr id="20" name="AutoShape 20"/>
          <p:cNvSpPr/>
          <p:nvPr/>
        </p:nvSpPr>
        <p:spPr>
          <a:xfrm>
            <a:off x="8153400" y="42164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Menlo"/>
                <a:ea typeface="Menlo"/>
                <a:cs typeface="Menlo"/>
                <a:sym typeface="Menlo"/>
              </a:rPr>
              <a:t>nums = [1, 2, 3, 4]</a:t>
            </a:r>
            <a:br>
              <a:rPr lang="en-US" sz="1300" b="0" i="0" u="none" strike="noStrike">
                <a:solidFill>
                  <a:srgbClr val="4B5563"/>
                </a:solidFill>
                <a:latin typeface="Menlo"/>
                <a:ea typeface="Menlo"/>
                <a:cs typeface="Menlo"/>
                <a:sym typeface="Menlo"/>
              </a:rPr>
            </a:br>
            <a:r>
              <a:rPr lang="en-US" sz="1300" b="0" i="0" u="none" strike="noStrike">
                <a:solidFill>
                  <a:srgbClr val="4B5563"/>
                </a:solidFill>
                <a:latin typeface="Menlo"/>
                <a:ea typeface="Menlo"/>
                <a:cs typeface="Menlo"/>
                <a:sym typeface="Menlo"/>
              </a:rPr>
              <a:t>total = reduce(</a:t>
            </a:r>
            <a:br>
              <a:rPr lang="en-US" sz="1300" b="0" i="0" u="none" strike="noStrike">
                <a:solidFill>
                  <a:srgbClr val="4B5563"/>
                </a:solidFill>
                <a:latin typeface="Menlo"/>
                <a:ea typeface="Menlo"/>
                <a:cs typeface="Menlo"/>
                <a:sym typeface="Menlo"/>
              </a:rPr>
            </a:br>
            <a:r>
              <a:rPr lang="en-US" sz="1300" b="0" i="0" u="none" strike="noStrike">
                <a:solidFill>
                  <a:srgbClr val="4B5563"/>
                </a:solidFill>
                <a:latin typeface="Menlo"/>
                <a:ea typeface="Menlo"/>
                <a:cs typeface="Menlo"/>
                <a:sym typeface="Menlo"/>
              </a:rPr>
              <a:t>lambda x,y: x+y, nums, 100</a:t>
            </a:r>
            <a:br>
              <a:rPr lang="en-US" sz="1300" b="0" i="0" u="none" strike="noStrike">
                <a:solidFill>
                  <a:srgbClr val="4B5563"/>
                </a:solidFill>
                <a:latin typeface="Menlo"/>
                <a:ea typeface="Menlo"/>
                <a:cs typeface="Menlo"/>
                <a:sym typeface="Menlo"/>
              </a:rPr>
            </a:br>
            <a:r>
              <a:rPr lang="en-US" sz="1300" b="0" i="0" u="none" strike="noStrike">
                <a:solidFill>
                  <a:srgbClr val="4B5563"/>
                </a:solidFill>
                <a:latin typeface="Menlo"/>
                <a:ea typeface="Menlo"/>
                <a:cs typeface="Menlo"/>
                <a:sym typeface="Menlo"/>
              </a:rPr>
              <a:t>)</a:t>
            </a:r>
            <a:br>
              <a:rPr lang="en-US" sz="1300" b="0" i="0" u="none" strike="noStrike">
                <a:solidFill>
                  <a:srgbClr val="4B5563"/>
                </a:solidFill>
                <a:latin typeface="Menlo"/>
                <a:ea typeface="Menlo"/>
                <a:cs typeface="Menlo"/>
                <a:sym typeface="Menlo"/>
              </a:rPr>
            </a:br>
            <a:r>
              <a:rPr lang="en-US" sz="1300" b="0" i="0" u="none" strike="noStrike">
                <a:solidFill>
                  <a:srgbClr val="4B5563"/>
                </a:solidFill>
                <a:latin typeface="Menlo"/>
                <a:ea typeface="Menlo"/>
                <a:cs typeface="Menlo"/>
                <a:sym typeface="Menlo"/>
              </a:rPr>
              <a:t>print(total)</a:t>
            </a:r>
            <a:endParaRPr lang="en-US" sz="1100"/>
          </a:p>
        </p:txBody>
      </p:sp>
      <p:sp>
        <p:nvSpPr>
          <p:cNvPr id="21" name="AutoShape 21"/>
          <p:cNvSpPr/>
          <p:nvPr/>
        </p:nvSpPr>
        <p:spPr>
          <a:xfrm>
            <a:off x="8153400" y="5486400"/>
            <a:ext cx="3124200" cy="406400"/>
          </a:xfrm>
          <a:prstGeom prst="roundRect">
            <a:avLst>
              <a:gd name="adj" fmla="val 0"/>
            </a:avLst>
          </a:prstGeom>
          <a:solidFill>
            <a:srgbClr val="FEF3C7">
              <a:alpha val="70000"/>
            </a:srgbClr>
          </a:solidFill>
          <a:ln cap="flat" cmpd="sng">
            <a:solidFill>
              <a:srgbClr val="E5D69C">
                <a:alpha val="70000"/>
              </a:srgbClr>
            </a:solid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229600" y="5562600"/>
            <a:ext cx="2997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2400E"/>
                </a:solidFill>
                <a:latin typeface="Noto Sans SC"/>
                <a:ea typeface="Noto Sans SC"/>
                <a:cs typeface="Noto Sans SC"/>
                <a:sym typeface="Noto Sans SC"/>
              </a:rPr>
              <a:t>➜ 输出：110 (100 + 1 + 2 + 3 + 4)</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2.3 生成器 (Generator)</a:t>
            </a:r>
            <a:endParaRPr lang="en-US" sz="1100"/>
          </a:p>
        </p:txBody>
      </p:sp>
      <p:sp>
        <p:nvSpPr>
          <p:cNvPr id="4" name="AutoShape 4"/>
          <p:cNvSpPr/>
          <p:nvPr/>
        </p:nvSpPr>
        <p:spPr>
          <a:xfrm>
            <a:off x="762000" y="1968500"/>
            <a:ext cx="3378200" cy="3429000"/>
          </a:xfrm>
          <a:prstGeom prst="roundRect">
            <a:avLst>
              <a:gd name="adj" fmla="val 0"/>
            </a:avLst>
          </a:prstGeom>
          <a:solidFill>
            <a:srgbClr val="FFFFFF">
              <a:alpha val="6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222500"/>
            <a:ext cx="304800" cy="304800"/>
          </a:xfrm>
          <a:prstGeom prst="rect">
            <a:avLst/>
          </a:prstGeom>
        </p:spPr>
      </p:pic>
      <p:sp>
        <p:nvSpPr>
          <p:cNvPr id="6" name="AutoShape 6"/>
          <p:cNvSpPr/>
          <p:nvPr/>
        </p:nvSpPr>
        <p:spPr>
          <a:xfrm>
            <a:off x="1397000" y="2184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什么是生成器？</a:t>
            </a:r>
            <a:endParaRPr lang="en-US" sz="1100"/>
          </a:p>
        </p:txBody>
      </p:sp>
      <p:cxnSp>
        <p:nvCxnSpPr>
          <p:cNvPr id="7" name="Connector 7"/>
          <p:cNvCxnSpPr/>
          <p:nvPr/>
        </p:nvCxnSpPr>
        <p:spPr>
          <a:xfrm rot="-15211">
            <a:off x="1016014" y="27241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8" name="AutoShape 8"/>
          <p:cNvSpPr/>
          <p:nvPr/>
        </p:nvSpPr>
        <p:spPr>
          <a:xfrm>
            <a:off x="1016000" y="2921000"/>
            <a:ext cx="28702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一种特殊的迭代器，核心在于</a:t>
            </a:r>
            <a:r>
              <a:rPr lang="en-US" sz="1400" b="1" i="0" u="none" strike="noStrike">
                <a:solidFill>
                  <a:srgbClr val="EF4444"/>
                </a:solidFill>
                <a:latin typeface="Noto Sans SC"/>
                <a:ea typeface="Noto Sans SC"/>
                <a:cs typeface="Noto Sans SC"/>
                <a:sym typeface="Noto Sans SC"/>
              </a:rPr>
              <a:t>yield</a:t>
            </a:r>
            <a:r>
              <a:rPr lang="en-US" sz="1400" b="0" i="0" u="none" strike="noStrike">
                <a:solidFill>
                  <a:srgbClr val="4B5563"/>
                </a:solidFill>
                <a:latin typeface="Noto Sans SC"/>
                <a:ea typeface="Noto Sans SC"/>
                <a:cs typeface="Noto Sans SC"/>
                <a:sym typeface="Noto Sans SC"/>
              </a:rPr>
              <a:t>关键字。它允许函数“暂停”执行并返回值，下次调用时从暂停处继续，实现高效的</a:t>
            </a:r>
            <a:r>
              <a:rPr lang="en-US" sz="1400" b="1" i="0" u="none" strike="noStrike">
                <a:solidFill>
                  <a:srgbClr val="4B5563"/>
                </a:solidFill>
                <a:latin typeface="Noto Sans SC"/>
                <a:ea typeface="Noto Sans SC"/>
                <a:cs typeface="Noto Sans SC"/>
                <a:sym typeface="Noto Sans SC"/>
              </a:rPr>
              <a:t>惰性计算</a:t>
            </a:r>
            <a:r>
              <a:rPr lang="en-US" sz="1400" b="0" i="0" u="none" strike="noStrike">
                <a:solidFill>
                  <a:srgbClr val="4B5563"/>
                </a:solidFill>
                <a:latin typeface="Noto Sans SC"/>
                <a:ea typeface="Noto Sans SC"/>
                <a:cs typeface="Noto Sans SC"/>
                <a:sym typeface="Noto Sans SC"/>
              </a:rPr>
              <a:t>，是处理大数据或无限序列的内存优化利器。</a:t>
            </a:r>
            <a:endParaRPr lang="en-US" sz="1100"/>
          </a:p>
        </p:txBody>
      </p:sp>
      <p:sp>
        <p:nvSpPr>
          <p:cNvPr id="9" name="AutoShape 9"/>
          <p:cNvSpPr/>
          <p:nvPr/>
        </p:nvSpPr>
        <p:spPr>
          <a:xfrm>
            <a:off x="4406900" y="1968500"/>
            <a:ext cx="3378200" cy="3429000"/>
          </a:xfrm>
          <a:prstGeom prst="roundRect">
            <a:avLst>
              <a:gd name="adj" fmla="val 0"/>
            </a:avLst>
          </a:prstGeom>
          <a:solidFill>
            <a:srgbClr val="FFFFFF">
              <a:alpha val="6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2222500"/>
            <a:ext cx="304800" cy="304800"/>
          </a:xfrm>
          <a:prstGeom prst="rect">
            <a:avLst/>
          </a:prstGeom>
        </p:spPr>
      </p:pic>
      <p:sp>
        <p:nvSpPr>
          <p:cNvPr id="11" name="AutoShape 11"/>
          <p:cNvSpPr/>
          <p:nvPr/>
        </p:nvSpPr>
        <p:spPr>
          <a:xfrm>
            <a:off x="5041900" y="2184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两种创建方式</a:t>
            </a:r>
            <a:endParaRPr lang="en-US" sz="1100"/>
          </a:p>
        </p:txBody>
      </p:sp>
      <p:cxnSp>
        <p:nvCxnSpPr>
          <p:cNvPr id="12" name="Connector 12"/>
          <p:cNvCxnSpPr/>
          <p:nvPr/>
        </p:nvCxnSpPr>
        <p:spPr>
          <a:xfrm rot="-15211">
            <a:off x="4660914" y="27241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3" name="AutoShape 13"/>
          <p:cNvSpPr/>
          <p:nvPr/>
        </p:nvSpPr>
        <p:spPr>
          <a:xfrm>
            <a:off x="4660900" y="2921000"/>
            <a:ext cx="28702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1. 生成器函数：</a:t>
            </a:r>
            <a:r>
              <a:rPr lang="en-US" sz="1400" b="0" i="0" u="none" strike="noStrike">
                <a:solidFill>
                  <a:srgbClr val="4B5563"/>
                </a:solidFill>
                <a:latin typeface="Noto Sans SC"/>
                <a:ea typeface="Noto Sans SC"/>
                <a:cs typeface="Noto Sans SC"/>
                <a:sym typeface="Noto Sans SC"/>
              </a:rPr>
              <a:t>在函数定义中使用 yield 替代 return，调用即返回生成器对象。</a:t>
            </a:r>
            <a:endParaRPr lang="en-US" sz="1100"/>
          </a:p>
          <a:p>
            <a:pPr marL="0" indent="0" algn="l">
              <a:lnSpc>
                <a:spcPct val="125000"/>
              </a:lnSpc>
            </a:pPr>
            <a:r>
              <a:rPr lang="en-US" sz="1600" b="1" i="0" u="none" strike="noStrike">
                <a:solidFill>
                  <a:srgbClr val="374151"/>
                </a:solidFill>
                <a:latin typeface="Noto Sans SC"/>
                <a:ea typeface="Noto Sans SC"/>
                <a:cs typeface="Noto Sans SC"/>
                <a:sym typeface="Noto Sans SC"/>
              </a:rPr>
              <a:t>2. 生成器表达式：</a:t>
            </a:r>
            <a:r>
              <a:rPr lang="en-US" sz="1400" b="0" i="0" u="none" strike="noStrike">
                <a:solidFill>
                  <a:srgbClr val="4B5563"/>
                </a:solidFill>
                <a:latin typeface="Noto Sans SC"/>
                <a:ea typeface="Noto Sans SC"/>
                <a:cs typeface="Noto Sans SC"/>
                <a:sym typeface="Noto Sans SC"/>
              </a:rPr>
              <a:t>极简语法：</a:t>
            </a:r>
            <a:r>
              <a:rPr lang="en-US" sz="1400" b="1" i="0" u="none" strike="noStrike">
                <a:solidFill>
                  <a:srgbClr val="EF4444"/>
                </a:solidFill>
                <a:latin typeface="Noto Sans SC"/>
                <a:ea typeface="Noto Sans SC"/>
                <a:cs typeface="Noto Sans SC"/>
                <a:sym typeface="Noto Sans SC"/>
              </a:rPr>
              <a:t>(x*x for x in range(10))</a:t>
            </a:r>
            <a:r>
              <a:rPr lang="en-US" sz="1400" b="0" i="0" u="none" strike="noStrike">
                <a:solidFill>
                  <a:srgbClr val="4B5563"/>
                </a:solidFill>
                <a:latin typeface="Noto Sans SC"/>
                <a:ea typeface="Noto Sans SC"/>
                <a:cs typeface="Noto Sans SC"/>
                <a:sym typeface="Noto Sans SC"/>
              </a:rPr>
              <a:t>，比列表推导式更轻量。</a:t>
            </a:r>
          </a:p>
        </p:txBody>
      </p:sp>
      <p:sp>
        <p:nvSpPr>
          <p:cNvPr id="14" name="AutoShape 14"/>
          <p:cNvSpPr/>
          <p:nvPr/>
        </p:nvSpPr>
        <p:spPr>
          <a:xfrm>
            <a:off x="8051800" y="1968500"/>
            <a:ext cx="3378200" cy="3429000"/>
          </a:xfrm>
          <a:prstGeom prst="roundRect">
            <a:avLst>
              <a:gd name="adj" fmla="val 0"/>
            </a:avLst>
          </a:prstGeom>
          <a:solidFill>
            <a:srgbClr val="FFFFFF">
              <a:alpha val="6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2222500"/>
            <a:ext cx="304800" cy="304800"/>
          </a:xfrm>
          <a:prstGeom prst="rect">
            <a:avLst/>
          </a:prstGeom>
        </p:spPr>
      </p:pic>
      <p:sp>
        <p:nvSpPr>
          <p:cNvPr id="16" name="AutoShape 16"/>
          <p:cNvSpPr/>
          <p:nvPr/>
        </p:nvSpPr>
        <p:spPr>
          <a:xfrm>
            <a:off x="8686800" y="2184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惰性计算的机制</a:t>
            </a:r>
            <a:endParaRPr lang="en-US" sz="1100"/>
          </a:p>
        </p:txBody>
      </p:sp>
      <p:cxnSp>
        <p:nvCxnSpPr>
          <p:cNvPr id="17" name="Connector 17"/>
          <p:cNvCxnSpPr/>
          <p:nvPr/>
        </p:nvCxnSpPr>
        <p:spPr>
          <a:xfrm rot="-15211">
            <a:off x="8305814" y="27241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8" name="AutoShape 18"/>
          <p:cNvSpPr/>
          <p:nvPr/>
        </p:nvSpPr>
        <p:spPr>
          <a:xfrm>
            <a:off x="8305800" y="2921000"/>
            <a:ext cx="28702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调用函数时并不立即执行代码，而是返回一个迭代器。只有在调用</a:t>
            </a:r>
            <a:r>
              <a:rPr lang="en-US" sz="1400" b="1" i="0" u="none" strike="noStrike">
                <a:solidFill>
                  <a:srgbClr val="EF4444"/>
                </a:solidFill>
                <a:latin typeface="Noto Sans SC"/>
                <a:ea typeface="Noto Sans SC"/>
                <a:cs typeface="Noto Sans SC"/>
                <a:sym typeface="Noto Sans SC"/>
              </a:rPr>
              <a:t>next()</a:t>
            </a:r>
            <a:r>
              <a:rPr lang="en-US" sz="1400" b="0" i="0" u="none" strike="noStrike">
                <a:solidFill>
                  <a:srgbClr val="4B5563"/>
                </a:solidFill>
                <a:latin typeface="Noto Sans SC"/>
                <a:ea typeface="Noto Sans SC"/>
                <a:cs typeface="Noto Sans SC"/>
                <a:sym typeface="Noto Sans SC"/>
              </a:rPr>
              <a:t>或进行 for 循环迭代时，函数才会执行到 yield 处暂停并返回值，实现“用多少，生成多少”。</a:t>
            </a:r>
            <a:endParaRPr lang="en-US" sz="1100"/>
          </a:p>
        </p:txBody>
      </p:sp>
      <p:sp>
        <p:nvSpPr>
          <p:cNvPr id="19" name="AutoShape 19"/>
          <p:cNvSpPr/>
          <p:nvPr/>
        </p:nvSpPr>
        <p:spPr>
          <a:xfrm>
            <a:off x="762000" y="5651500"/>
            <a:ext cx="10668000" cy="812800"/>
          </a:xfrm>
          <a:prstGeom prst="roundRect">
            <a:avLst>
              <a:gd name="adj" fmla="val 0"/>
            </a:avLst>
          </a:prstGeom>
          <a:solidFill>
            <a:srgbClr val="1F293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52500" y="5816600"/>
            <a:ext cx="10287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 核心价值：</a:t>
            </a:r>
            <a:r>
              <a:rPr lang="en-US" sz="1400" b="0" i="0" u="none" strike="noStrike">
                <a:solidFill>
                  <a:srgbClr val="374151"/>
                </a:solidFill>
                <a:latin typeface="Noto Sans SC"/>
                <a:ea typeface="Noto Sans SC"/>
                <a:cs typeface="Noto Sans SC"/>
                <a:sym typeface="Noto Sans SC"/>
              </a:rPr>
              <a:t>生成器避免了一次性在内存中创建完整的数据集，这使得它在处理大规模数据、实时数据流或数学上的无限序列时，具有无可比拟的内存效率优势。</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生成器示例</a:t>
            </a:r>
            <a:endParaRPr lang="en-US" sz="1100"/>
          </a:p>
        </p:txBody>
      </p:sp>
      <p:sp>
        <p:nvSpPr>
          <p:cNvPr id="4" name="AutoShape 4"/>
          <p:cNvSpPr/>
          <p:nvPr/>
        </p:nvSpPr>
        <p:spPr>
          <a:xfrm>
            <a:off x="762000" y="1778000"/>
            <a:ext cx="10668000" cy="3683000"/>
          </a:xfrm>
          <a:prstGeom prst="roundRect">
            <a:avLst>
              <a:gd name="adj" fmla="val 0"/>
            </a:avLst>
          </a:prstGeom>
          <a:solidFill>
            <a:srgbClr val="1F2937">
              <a:alpha val="90000"/>
            </a:srgbClr>
          </a:solidFill>
          <a:ln w="12700" cap="flat" cmpd="sng">
            <a:solidFill>
              <a:srgbClr val="D1D5DB">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10668000" cy="457200"/>
          </a:xfrm>
          <a:prstGeom prst="roundRect">
            <a:avLst>
              <a:gd name="adj" fmla="val 0"/>
            </a:avLst>
          </a:prstGeom>
          <a:solidFill>
            <a:srgbClr val="37415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65200" y="19304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219200" y="1930400"/>
            <a:ext cx="152400" cy="1524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473200" y="1930400"/>
            <a:ext cx="152400" cy="1524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854200" y="18796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Source Code Pro"/>
                <a:ea typeface="Source Code Pro"/>
                <a:cs typeface="Source Code Pro"/>
                <a:sym typeface="Source Code Pro"/>
              </a:rPr>
              <a:t>generator_demo.py</a:t>
            </a:r>
            <a:endParaRPr lang="en-US" sz="1100"/>
          </a:p>
        </p:txBody>
      </p:sp>
      <p:sp>
        <p:nvSpPr>
          <p:cNvPr id="10" name="AutoShape 10"/>
          <p:cNvSpPr/>
          <p:nvPr/>
        </p:nvSpPr>
        <p:spPr>
          <a:xfrm>
            <a:off x="965200" y="2362200"/>
            <a:ext cx="102616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6B7280"/>
                </a:solidFill>
                <a:latin typeface="Source Code Pro"/>
                <a:ea typeface="Source Code Pro"/>
                <a:cs typeface="Source Code Pro"/>
                <a:sym typeface="Source Code Pro"/>
              </a:rPr>
              <a:t># 定义一个简单的生成器函数，生成从1到n的整数</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C084FC"/>
                </a:solidFill>
                <a:latin typeface="Source Code Pro"/>
                <a:ea typeface="Source Code Pro"/>
                <a:cs typeface="Source Code Pro"/>
                <a:sym typeface="Source Code Pro"/>
              </a:rPr>
              <a:t>def</a:t>
            </a:r>
            <a:r>
              <a:rPr lang="en-US" sz="1400" b="0" i="0" u="none" strike="noStrike">
                <a:solidFill>
                  <a:srgbClr val="FBBF24"/>
                </a:solidFill>
                <a:latin typeface="Source Code Pro"/>
                <a:ea typeface="Source Code Pro"/>
                <a:cs typeface="Source Code Pro"/>
                <a:sym typeface="Source Code Pro"/>
              </a:rPr>
              <a:t>count_up_to</a:t>
            </a:r>
            <a:r>
              <a:rPr lang="en-US" sz="1400" b="0" i="0" u="none" strike="noStrike">
                <a:solidFill>
                  <a:srgbClr val="E5E7EB"/>
                </a:solidFill>
                <a:latin typeface="Source Code Pro"/>
                <a:ea typeface="Source Code Pro"/>
                <a:cs typeface="Source Code Pro"/>
                <a:sym typeface="Source Code Pro"/>
              </a:rPr>
              <a:t>(n):</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E5E7EB"/>
                </a:solidFill>
                <a:latin typeface="Source Code Pro"/>
                <a:ea typeface="Source Code Pro"/>
                <a:cs typeface="Source Code Pro"/>
                <a:sym typeface="Source Code Pro"/>
              </a:rPr>
              <a:t>current = 1</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C084FC"/>
                </a:solidFill>
                <a:latin typeface="Source Code Pro"/>
                <a:ea typeface="Source Code Pro"/>
                <a:cs typeface="Source Code Pro"/>
                <a:sym typeface="Source Code Pro"/>
              </a:rPr>
              <a:t>while</a:t>
            </a:r>
            <a:r>
              <a:rPr lang="en-US" sz="1400" b="0" i="0" u="none" strike="noStrike">
                <a:solidFill>
                  <a:srgbClr val="E5E7EB"/>
                </a:solidFill>
                <a:latin typeface="Source Code Pro"/>
                <a:ea typeface="Source Code Pro"/>
                <a:cs typeface="Source Code Pro"/>
                <a:sym typeface="Source Code Pro"/>
              </a:rPr>
              <a:t>current &lt;= n:</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C084FC"/>
                </a:solidFill>
                <a:latin typeface="Source Code Pro"/>
                <a:ea typeface="Source Code Pro"/>
                <a:cs typeface="Source Code Pro"/>
                <a:sym typeface="Source Code Pro"/>
              </a:rPr>
              <a:t>yield</a:t>
            </a:r>
            <a:r>
              <a:rPr lang="en-US" sz="1400" b="0" i="0" u="none" strike="noStrike">
                <a:solidFill>
                  <a:srgbClr val="E5E7EB"/>
                </a:solidFill>
                <a:latin typeface="Source Code Pro"/>
                <a:ea typeface="Source Code Pro"/>
                <a:cs typeface="Source Code Pro"/>
                <a:sym typeface="Source Code Pro"/>
              </a:rPr>
              <a:t>current</a:t>
            </a:r>
            <a:r>
              <a:rPr lang="en-US" sz="1400" b="0" i="0" u="none" strike="noStrike">
                <a:solidFill>
                  <a:srgbClr val="6B7280"/>
                </a:solidFill>
                <a:latin typeface="Source Code Pro"/>
                <a:ea typeface="Source Code Pro"/>
                <a:cs typeface="Source Code Pro"/>
                <a:sym typeface="Source Code Pro"/>
              </a:rPr>
              <a:t># 暂停执行并返回当前值</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E5E7EB"/>
                </a:solidFill>
                <a:latin typeface="Source Code Pro"/>
                <a:ea typeface="Source Code Pro"/>
                <a:cs typeface="Source Code Pro"/>
                <a:sym typeface="Source Code Pro"/>
              </a:rPr>
              <a:t>current += 1</a:t>
            </a:r>
            <a:br>
              <a:rPr lang="en-US" sz="1400" b="0" i="0" u="none" strike="noStrike">
                <a:solidFill>
                  <a:srgbClr val="1F2329"/>
                </a:solidFill>
                <a:latin typeface="Source Code Pro"/>
                <a:ea typeface="Source Code Pro"/>
                <a:cs typeface="Source Code Pro"/>
                <a:sym typeface="Source Code Pro"/>
              </a:rPr>
            </a:b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6B7280"/>
                </a:solidFill>
                <a:latin typeface="Source Code Pro"/>
                <a:ea typeface="Source Code Pro"/>
                <a:cs typeface="Source Code Pro"/>
                <a:sym typeface="Source Code Pro"/>
              </a:rPr>
              <a:t># 使用生成器：惰性求值，每次调用 next() 推进一次</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E5E7EB"/>
                </a:solidFill>
                <a:latin typeface="Source Code Pro"/>
                <a:ea typeface="Source Code Pro"/>
                <a:cs typeface="Source Code Pro"/>
                <a:sym typeface="Source Code Pro"/>
              </a:rPr>
              <a:t>generator = count_up_to(3)</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E5E7EB"/>
                </a:solidFill>
                <a:latin typeface="Source Code Pro"/>
                <a:ea typeface="Source Code Pro"/>
                <a:cs typeface="Source Code Pro"/>
                <a:sym typeface="Source Code Pro"/>
              </a:rPr>
              <a:t>print(next(generator))</a:t>
            </a:r>
            <a:r>
              <a:rPr lang="en-US" sz="1400" b="0" i="0" u="none" strike="noStrike">
                <a:solidFill>
                  <a:srgbClr val="6B7280"/>
                </a:solidFill>
                <a:latin typeface="Source Code Pro"/>
                <a:ea typeface="Source Code Pro"/>
                <a:cs typeface="Source Code Pro"/>
                <a:sym typeface="Source Code Pro"/>
              </a:rPr>
              <a:t># 输出: 1</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E5E7EB"/>
                </a:solidFill>
                <a:latin typeface="Source Code Pro"/>
                <a:ea typeface="Source Code Pro"/>
                <a:cs typeface="Source Code Pro"/>
                <a:sym typeface="Source Code Pro"/>
              </a:rPr>
              <a:t>print(next(generator))</a:t>
            </a:r>
            <a:r>
              <a:rPr lang="en-US" sz="1400" b="0" i="0" u="none" strike="noStrike">
                <a:solidFill>
                  <a:srgbClr val="6B7280"/>
                </a:solidFill>
                <a:latin typeface="Source Code Pro"/>
                <a:ea typeface="Source Code Pro"/>
                <a:cs typeface="Source Code Pro"/>
                <a:sym typeface="Source Code Pro"/>
              </a:rPr>
              <a:t># 输出: 2</a:t>
            </a:r>
            <a:endParaRPr lang="en-US" sz="1100"/>
          </a:p>
        </p:txBody>
      </p:sp>
      <p:sp>
        <p:nvSpPr>
          <p:cNvPr id="11" name="AutoShape 11"/>
          <p:cNvSpPr/>
          <p:nvPr/>
        </p:nvSpPr>
        <p:spPr>
          <a:xfrm>
            <a:off x="762000" y="5651500"/>
            <a:ext cx="10668000" cy="762000"/>
          </a:xfrm>
          <a:prstGeom prst="roundRect">
            <a:avLst>
              <a:gd name="adj" fmla="val 0"/>
            </a:avLst>
          </a:prstGeom>
          <a:solidFill>
            <a:srgbClr val="EFF6FF">
              <a:alpha val="7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5200" y="5880100"/>
            <a:ext cx="304800" cy="304800"/>
          </a:xfrm>
          <a:prstGeom prst="rect">
            <a:avLst/>
          </a:prstGeom>
        </p:spPr>
      </p:pic>
      <p:sp>
        <p:nvSpPr>
          <p:cNvPr id="13" name="AutoShape 13"/>
          <p:cNvSpPr/>
          <p:nvPr/>
        </p:nvSpPr>
        <p:spPr>
          <a:xfrm>
            <a:off x="1397000" y="5740400"/>
            <a:ext cx="990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E40AF"/>
                </a:solidFill>
                <a:latin typeface="Noto Sans SC"/>
                <a:ea typeface="Noto Sans SC"/>
                <a:cs typeface="Noto Sans SC"/>
                <a:sym typeface="Noto Sans SC"/>
              </a:rPr>
              <a:t>核心优势：</a:t>
            </a:r>
            <a:r>
              <a:rPr lang="en-US" sz="1400" b="0" i="0" u="none" strike="noStrike">
                <a:solidFill>
                  <a:srgbClr val="1E40AF"/>
                </a:solidFill>
                <a:latin typeface="Noto Sans SC"/>
                <a:ea typeface="Noto Sans SC"/>
                <a:cs typeface="Noto Sans SC"/>
                <a:sym typeface="Noto Sans SC"/>
              </a:rPr>
              <a:t>生成器通过惰性计算实现“随用随取”，无需一次性生成并存储所有数据，极大节省内存空间。它不仅是迭代器，更是实现协程和异步编程的基础。</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032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1F2937">
                    <a:alpha val="12157"/>
                  </a:srgbClr>
                </a:solidFill>
                <a:latin typeface="Noto Sans SC"/>
                <a:ea typeface="Noto Sans SC"/>
                <a:cs typeface="Noto Sans SC"/>
                <a:sym typeface="Noto Sans SC"/>
              </a:rPr>
              <a:t>PART 02</a:t>
            </a:r>
            <a:endParaRPr lang="en-US" sz="1100"/>
          </a:p>
        </p:txBody>
      </p:sp>
      <p:sp>
        <p:nvSpPr>
          <p:cNvPr id="4" name="AutoShape 4"/>
          <p:cNvSpPr/>
          <p:nvPr/>
        </p:nvSpPr>
        <p:spPr>
          <a:xfrm>
            <a:off x="0" y="3683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1F2937"/>
                </a:solidFill>
                <a:latin typeface="Noto Sans SC"/>
                <a:ea typeface="Noto Sans SC"/>
                <a:cs typeface="Noto Sans SC"/>
                <a:sym typeface="Noto Sans SC"/>
              </a:rPr>
              <a:t>NumPy科学计算库</a:t>
            </a:r>
            <a:endParaRPr lang="en-US" sz="1100"/>
          </a:p>
        </p:txBody>
      </p:sp>
      <p:sp>
        <p:nvSpPr>
          <p:cNvPr id="5" name="AutoShape 5"/>
          <p:cNvSpPr/>
          <p:nvPr/>
        </p:nvSpPr>
        <p:spPr>
          <a:xfrm>
            <a:off x="4572000" y="5080000"/>
            <a:ext cx="3048000" cy="25400"/>
          </a:xfrm>
          <a:prstGeom prst="roundRect">
            <a:avLst>
              <a:gd name="adj" fmla="val 0"/>
            </a:avLst>
          </a:prstGeom>
          <a:solidFill>
            <a:srgbClr val="1F2937">
              <a:alpha val="15000"/>
            </a:srgbClr>
          </a:solidFill>
          <a:ln cap="flat" cmpd="sng">
            <a:solidFill>
              <a:srgbClr val="0E141E">
                <a:alpha val="15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70000" y="5461000"/>
            <a:ext cx="965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600" b="0" i="0" u="none" strike="noStrike">
                <a:solidFill>
                  <a:srgbClr val="4B5563"/>
                </a:solidFill>
                <a:latin typeface="Noto Sans SC"/>
                <a:ea typeface="Noto Sans SC"/>
                <a:cs typeface="Noto Sans SC"/>
                <a:sym typeface="Noto Sans SC"/>
              </a:rPr>
              <a:t>构建高效数值计算的基石，为数据分析、机器学习与深度学习提供底层算力支持</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NumPy核心：`ndarray` 对象</a:t>
            </a:r>
            <a:endParaRPr lang="en-US" sz="1100"/>
          </a:p>
        </p:txBody>
      </p:sp>
      <p:pic>
        <p:nvPicPr>
          <p:cNvPr id="4" name="Picture 4"/>
          <p:cNvPicPr>
            <a:picLocks noChangeAspect="1"/>
          </p:cNvPicPr>
          <p:nvPr/>
        </p:nvPicPr>
        <p:blipFill>
          <a:blip r:embed="rId4"/>
          <a:srcRect/>
          <a:stretch>
            <a:fillRect/>
          </a:stretch>
        </p:blipFill>
        <p:spPr>
          <a:xfrm>
            <a:off x="762000" y="2159000"/>
            <a:ext cx="4064000" cy="2286000"/>
          </a:xfrm>
          <a:prstGeom prst="rect">
            <a:avLst/>
          </a:prstGeom>
          <a:noFill/>
          <a:ln w="25400" cap="flat" cmpd="sng">
            <a:noFill/>
            <a:prstDash val="solid"/>
            <a:round/>
          </a:ln>
          <a:effectLst>
            <a:outerShdw blurRad="152400" dist="50800" dir="2700000" algn="tl" rotWithShape="0">
              <a:srgbClr val="1F2937">
                <a:alpha val="8000"/>
              </a:srgbClr>
            </a:outerShdw>
          </a:effectLst>
        </p:spPr>
      </p:pic>
      <p:sp>
        <p:nvSpPr>
          <p:cNvPr id="5" name="AutoShape 5"/>
          <p:cNvSpPr/>
          <p:nvPr/>
        </p:nvSpPr>
        <p:spPr>
          <a:xfrm>
            <a:off x="762000" y="4953000"/>
            <a:ext cx="4064000" cy="889000"/>
          </a:xfrm>
          <a:prstGeom prst="roundRect">
            <a:avLst>
              <a:gd name="adj" fmla="val 0"/>
            </a:avLst>
          </a:prstGeom>
          <a:solidFill>
            <a:srgbClr val="F3F4F6">
              <a:alpha val="8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5143500"/>
            <a:ext cx="381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1F2937"/>
                </a:solidFill>
                <a:latin typeface="Consolas"/>
                <a:ea typeface="Consolas"/>
                <a:cs typeface="Consolas"/>
                <a:sym typeface="Consolas"/>
              </a:rPr>
              <a:t>import numpy as np</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 约定俗成的标准导入方式</a:t>
            </a:r>
          </a:p>
        </p:txBody>
      </p:sp>
      <p:sp>
        <p:nvSpPr>
          <p:cNvPr id="7" name="AutoShape 7"/>
          <p:cNvSpPr/>
          <p:nvPr/>
        </p:nvSpPr>
        <p:spPr>
          <a:xfrm>
            <a:off x="5334000" y="2032000"/>
            <a:ext cx="609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`ndarray`（N-dimensional array）是 NumPy 的核心数据结构。作为一种</a:t>
            </a:r>
            <a:r>
              <a:rPr lang="en-US" sz="1400" b="1" i="0" u="none" strike="noStrike">
                <a:solidFill>
                  <a:srgbClr val="374151"/>
                </a:solidFill>
                <a:latin typeface="Noto Sans SC"/>
                <a:ea typeface="Noto Sans SC"/>
                <a:cs typeface="Noto Sans SC"/>
                <a:sym typeface="Noto Sans SC"/>
              </a:rPr>
              <a:t>同质多维数组</a:t>
            </a:r>
            <a:r>
              <a:rPr lang="en-US" sz="1400" b="0" i="0" u="none" strike="noStrike">
                <a:solidFill>
                  <a:srgbClr val="374151"/>
                </a:solidFill>
                <a:latin typeface="Noto Sans SC"/>
                <a:ea typeface="Noto Sans SC"/>
                <a:cs typeface="Noto Sans SC"/>
                <a:sym typeface="Noto Sans SC"/>
              </a:rPr>
              <a:t>，它要求所有元素类型一致，这一特性为高效的数值计算、内存管理和向量化操作奠定了坚实基础。</a:t>
            </a:r>
            <a:endParaRPr lang="en-US" sz="1100"/>
          </a:p>
        </p:txBody>
      </p:sp>
      <p:sp>
        <p:nvSpPr>
          <p:cNvPr id="8" name="AutoShape 8"/>
          <p:cNvSpPr/>
          <p:nvPr/>
        </p:nvSpPr>
        <p:spPr>
          <a:xfrm>
            <a:off x="5334000" y="3302000"/>
            <a:ext cx="6096000" cy="863600"/>
          </a:xfrm>
          <a:prstGeom prst="roundRect">
            <a:avLst>
              <a:gd name="adj" fmla="val 0"/>
            </a:avLst>
          </a:prstGeom>
          <a:solidFill>
            <a:srgbClr val="EFF6F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24500" y="3454400"/>
            <a:ext cx="304800" cy="304800"/>
          </a:xfrm>
          <a:prstGeom prst="rect">
            <a:avLst/>
          </a:prstGeom>
        </p:spPr>
      </p:pic>
      <p:sp>
        <p:nvSpPr>
          <p:cNvPr id="10" name="AutoShape 10"/>
          <p:cNvSpPr/>
          <p:nvPr/>
        </p:nvSpPr>
        <p:spPr>
          <a:xfrm>
            <a:off x="5969000" y="3403600"/>
            <a:ext cx="533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极致的计算效率</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内存连续存储，支持向量化运算，避免了Python原生循环的开销，计算速度通常呈数量级提升。</a:t>
            </a:r>
          </a:p>
        </p:txBody>
      </p:sp>
      <p:sp>
        <p:nvSpPr>
          <p:cNvPr id="11" name="AutoShape 11"/>
          <p:cNvSpPr/>
          <p:nvPr/>
        </p:nvSpPr>
        <p:spPr>
          <a:xfrm>
            <a:off x="5334000" y="4254500"/>
            <a:ext cx="6096000" cy="863600"/>
          </a:xfrm>
          <a:prstGeom prst="roundRect">
            <a:avLst>
              <a:gd name="adj" fmla="val 0"/>
            </a:avLst>
          </a:prstGeom>
          <a:solidFill>
            <a:srgbClr val="EFF6F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24500" y="4406900"/>
            <a:ext cx="304800" cy="304800"/>
          </a:xfrm>
          <a:prstGeom prst="rect">
            <a:avLst/>
          </a:prstGeom>
        </p:spPr>
      </p:pic>
      <p:sp>
        <p:nvSpPr>
          <p:cNvPr id="13" name="AutoShape 13"/>
          <p:cNvSpPr/>
          <p:nvPr/>
        </p:nvSpPr>
        <p:spPr>
          <a:xfrm>
            <a:off x="5969000" y="4356100"/>
            <a:ext cx="533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强大的数学功能</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内置丰富的数学函数库，支持对整个数组直接进行矩阵运算、傅里叶变换等，代码更简洁直观。</a:t>
            </a:r>
          </a:p>
        </p:txBody>
      </p:sp>
      <p:sp>
        <p:nvSpPr>
          <p:cNvPr id="14" name="AutoShape 14"/>
          <p:cNvSpPr/>
          <p:nvPr/>
        </p:nvSpPr>
        <p:spPr>
          <a:xfrm>
            <a:off x="5334000" y="5207000"/>
            <a:ext cx="6096000" cy="863600"/>
          </a:xfrm>
          <a:prstGeom prst="roundRect">
            <a:avLst>
              <a:gd name="adj" fmla="val 0"/>
            </a:avLst>
          </a:prstGeom>
          <a:solidFill>
            <a:srgbClr val="EFF6FF">
              <a:alpha val="6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24500" y="5359400"/>
            <a:ext cx="304800" cy="304800"/>
          </a:xfrm>
          <a:prstGeom prst="rect">
            <a:avLst/>
          </a:prstGeom>
        </p:spPr>
      </p:pic>
      <p:sp>
        <p:nvSpPr>
          <p:cNvPr id="16" name="AutoShape 16"/>
          <p:cNvSpPr/>
          <p:nvPr/>
        </p:nvSpPr>
        <p:spPr>
          <a:xfrm>
            <a:off x="5969000" y="5308600"/>
            <a:ext cx="533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数据科学的基石</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是 Pandas、Scikit-learn、PyTorch 等数据分析与深度学习库的底层依赖，连接整个生态系统。</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1.1 创建 ndarray</a:t>
            </a:r>
            <a:endParaRPr lang="en-US" sz="1100"/>
          </a:p>
        </p:txBody>
      </p:sp>
      <p:sp>
        <p:nvSpPr>
          <p:cNvPr id="4" name="AutoShape 4"/>
          <p:cNvSpPr/>
          <p:nvPr/>
        </p:nvSpPr>
        <p:spPr>
          <a:xfrm>
            <a:off x="762000" y="1778000"/>
            <a:ext cx="5207000" cy="4191000"/>
          </a:xfrm>
          <a:prstGeom prst="roundRect">
            <a:avLst>
              <a:gd name="adj" fmla="val 0"/>
            </a:avLst>
          </a:prstGeom>
          <a:solidFill>
            <a:srgbClr val="FFFFFF">
              <a:alpha val="6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032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01 基础构建：从 Python 列表转换</a:t>
            </a:r>
            <a:endParaRPr lang="en-US" sz="1100"/>
          </a:p>
        </p:txBody>
      </p:sp>
      <p:sp>
        <p:nvSpPr>
          <p:cNvPr id="6" name="AutoShape 6"/>
          <p:cNvSpPr/>
          <p:nvPr/>
        </p:nvSpPr>
        <p:spPr>
          <a:xfrm>
            <a:off x="1016000" y="2603500"/>
            <a:ext cx="4699000" cy="2540000"/>
          </a:xfrm>
          <a:prstGeom prst="roundRect">
            <a:avLst>
              <a:gd name="adj" fmla="val 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143000" y="2730500"/>
            <a:ext cx="4445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C7D2FE"/>
                </a:solidFill>
                <a:latin typeface="Roboto Mono"/>
                <a:ea typeface="Roboto Mono"/>
                <a:cs typeface="Roboto Mono"/>
                <a:sym typeface="Roboto Mono"/>
              </a:rPr>
              <a:t>import numpy as np</a:t>
            </a:r>
            <a:endParaRPr lang="en-US" sz="1100"/>
          </a:p>
          <a:p>
            <a:pPr marL="0" indent="0" algn="l">
              <a:lnSpc>
                <a:spcPct val="116666"/>
              </a:lnSpc>
            </a:pPr>
            <a:r>
              <a:rPr lang="en-US" sz="1300" b="0" i="0" u="none" strike="noStrike">
                <a:solidFill>
                  <a:srgbClr val="9CA3AF"/>
                </a:solidFill>
                <a:latin typeface="Roboto Mono"/>
                <a:ea typeface="Roboto Mono"/>
                <a:cs typeface="Roboto Mono"/>
                <a:sym typeface="Roboto Mono"/>
              </a:rPr>
              <a:t># 1. 生成一维数组 (1D Array)</a:t>
            </a:r>
          </a:p>
          <a:p>
            <a:pPr marL="0" indent="0" algn="l">
              <a:lnSpc>
                <a:spcPct val="116666"/>
              </a:lnSpc>
            </a:pPr>
            <a:r>
              <a:rPr lang="en-US" sz="1300" b="0" i="0" u="none" strike="noStrike">
                <a:solidFill>
                  <a:srgbClr val="E5E7EB"/>
                </a:solidFill>
                <a:latin typeface="Roboto Mono"/>
                <a:ea typeface="Roboto Mono"/>
                <a:cs typeface="Roboto Mono"/>
                <a:sym typeface="Roboto Mono"/>
              </a:rPr>
              <a:t>arr1 = np.array([1, 2, 3, 4, 5])</a:t>
            </a:r>
          </a:p>
          <a:p>
            <a:pPr marL="0" indent="0" algn="l">
              <a:lnSpc>
                <a:spcPct val="116666"/>
              </a:lnSpc>
            </a:pPr>
            <a:r>
              <a:rPr lang="en-US" sz="1300" b="0" i="0" u="none" strike="noStrike">
                <a:solidFill>
                  <a:srgbClr val="9CA3AF"/>
                </a:solidFill>
                <a:latin typeface="Roboto Mono"/>
                <a:ea typeface="Roboto Mono"/>
                <a:cs typeface="Roboto Mono"/>
                <a:sym typeface="Roboto Mono"/>
              </a:rPr>
              <a:t># 2. 生成二维矩阵 (2D Matrix)</a:t>
            </a:r>
          </a:p>
          <a:p>
            <a:pPr marL="0" indent="0" algn="l">
              <a:lnSpc>
                <a:spcPct val="116666"/>
              </a:lnSpc>
            </a:pPr>
            <a:r>
              <a:rPr lang="en-US" sz="1300" b="0" i="0" u="none" strike="noStrike">
                <a:solidFill>
                  <a:srgbClr val="E5E7EB"/>
                </a:solidFill>
                <a:latin typeface="Roboto Mono"/>
                <a:ea typeface="Roboto Mono"/>
                <a:cs typeface="Roboto Mono"/>
                <a:sym typeface="Roboto Mono"/>
              </a:rPr>
              <a:t>arr2 = np.array([[1, 2, 3], [4, 5, 6]])</a:t>
            </a:r>
          </a:p>
          <a:p>
            <a:pPr marL="0" indent="0" algn="l">
              <a:lnSpc>
                <a:spcPct val="116666"/>
              </a:lnSpc>
            </a:pPr>
            <a:r>
              <a:rPr lang="en-US" sz="1300" b="0" i="0" u="none" strike="noStrike">
                <a:solidFill>
                  <a:srgbClr val="6EE7B7"/>
                </a:solidFill>
                <a:latin typeface="Roboto Mono"/>
                <a:ea typeface="Roboto Mono"/>
                <a:cs typeface="Roboto Mono"/>
                <a:sym typeface="Roboto Mono"/>
              </a:rPr>
              <a:t># 输出形状: (2, 3)，即2行3列</a:t>
            </a:r>
          </a:p>
        </p:txBody>
      </p:sp>
      <p:sp>
        <p:nvSpPr>
          <p:cNvPr id="8" name="AutoShape 8"/>
          <p:cNvSpPr/>
          <p:nvPr/>
        </p:nvSpPr>
        <p:spPr>
          <a:xfrm>
            <a:off x="1016000" y="5397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a:ea typeface="Noto Sans SC"/>
                <a:cs typeface="Noto Sans SC"/>
                <a:sym typeface="Noto Sans SC"/>
              </a:rPr>
              <a:t>💡 提示：嵌套的列表结构会自动映射为多维数组，这是最直观的创建方式，适合小规模数据。</a:t>
            </a:r>
            <a:endParaRPr lang="en-US" sz="1100"/>
          </a:p>
        </p:txBody>
      </p:sp>
      <p:sp>
        <p:nvSpPr>
          <p:cNvPr id="9" name="AutoShape 9"/>
          <p:cNvSpPr/>
          <p:nvPr/>
        </p:nvSpPr>
        <p:spPr>
          <a:xfrm>
            <a:off x="6223000" y="1778000"/>
            <a:ext cx="5207000" cy="4191000"/>
          </a:xfrm>
          <a:prstGeom prst="roundRect">
            <a:avLst>
              <a:gd name="adj" fmla="val 0"/>
            </a:avLst>
          </a:prstGeom>
          <a:solidFill>
            <a:srgbClr val="FFFFFF">
              <a:alpha val="6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77000" y="2032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02 高效创建：内置函数速查</a:t>
            </a:r>
            <a:endParaRPr lang="en-US" sz="1100"/>
          </a:p>
        </p:txBody>
      </p:sp>
      <p:sp>
        <p:nvSpPr>
          <p:cNvPr id="11" name="AutoShape 11"/>
          <p:cNvSpPr/>
          <p:nvPr/>
        </p:nvSpPr>
        <p:spPr>
          <a:xfrm>
            <a:off x="6477000" y="2603500"/>
            <a:ext cx="2349500" cy="1206500"/>
          </a:xfrm>
          <a:prstGeom prst="roundRect">
            <a:avLst>
              <a:gd name="adj" fmla="val 0"/>
            </a:avLst>
          </a:prstGeom>
          <a:solidFill>
            <a:srgbClr val="F3F4F6">
              <a:alpha val="8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2730500"/>
            <a:ext cx="304800" cy="304800"/>
          </a:xfrm>
          <a:prstGeom prst="rect">
            <a:avLst/>
          </a:prstGeom>
        </p:spPr>
      </p:pic>
      <p:sp>
        <p:nvSpPr>
          <p:cNvPr id="13" name="AutoShape 13"/>
          <p:cNvSpPr/>
          <p:nvPr/>
        </p:nvSpPr>
        <p:spPr>
          <a:xfrm>
            <a:off x="6985000" y="2730500"/>
            <a:ext cx="184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占位初始化</a:t>
            </a:r>
            <a:endParaRPr lang="en-US" sz="1100"/>
          </a:p>
        </p:txBody>
      </p:sp>
      <p:sp>
        <p:nvSpPr>
          <p:cNvPr id="14" name="AutoShape 14"/>
          <p:cNvSpPr/>
          <p:nvPr/>
        </p:nvSpPr>
        <p:spPr>
          <a:xfrm>
            <a:off x="6604000" y="3111500"/>
            <a:ext cx="209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使用</a:t>
            </a:r>
            <a:r>
              <a:rPr lang="en-US" sz="1200" b="0" i="0" u="none" strike="noStrike">
                <a:solidFill>
                  <a:srgbClr val="3B82F6"/>
                </a:solidFill>
                <a:latin typeface="Noto Sans SC"/>
                <a:ea typeface="Noto Sans SC"/>
                <a:cs typeface="Noto Sans SC"/>
                <a:sym typeface="Noto Sans SC"/>
              </a:rPr>
              <a:t>np.zeros()</a:t>
            </a:r>
            <a:r>
              <a:rPr lang="en-US" sz="1200" b="0" i="0" u="none" strike="noStrike">
                <a:solidFill>
                  <a:srgbClr val="4B5563"/>
                </a:solidFill>
                <a:latin typeface="Noto Sans SC"/>
                <a:ea typeface="Noto Sans SC"/>
                <a:cs typeface="Noto Sans SC"/>
                <a:sym typeface="Noto Sans SC"/>
              </a:rPr>
              <a:t>或</a:t>
            </a:r>
            <a:r>
              <a:rPr lang="en-US" sz="1200" b="0" i="0" u="none" strike="noStrike">
                <a:solidFill>
                  <a:srgbClr val="3B82F6"/>
                </a:solidFill>
                <a:latin typeface="Noto Sans SC"/>
                <a:ea typeface="Noto Sans SC"/>
                <a:cs typeface="Noto Sans SC"/>
                <a:sym typeface="Noto Sans SC"/>
              </a:rPr>
              <a:t>np.ones()</a:t>
            </a:r>
            <a:r>
              <a:rPr lang="en-US" sz="1200" b="0" i="0" u="none" strike="noStrike">
                <a:solidFill>
                  <a:srgbClr val="4B5563"/>
                </a:solidFill>
                <a:latin typeface="Noto Sans SC"/>
                <a:ea typeface="Noto Sans SC"/>
                <a:cs typeface="Noto Sans SC"/>
                <a:sym typeface="Noto Sans SC"/>
              </a:rPr>
              <a:t>快速创建全0或全1数组，适合预分配内存。</a:t>
            </a:r>
            <a:endParaRPr lang="en-US" sz="1100"/>
          </a:p>
        </p:txBody>
      </p:sp>
      <p:sp>
        <p:nvSpPr>
          <p:cNvPr id="15" name="AutoShape 15"/>
          <p:cNvSpPr/>
          <p:nvPr/>
        </p:nvSpPr>
        <p:spPr>
          <a:xfrm>
            <a:off x="8953500" y="2603500"/>
            <a:ext cx="2349500" cy="1206500"/>
          </a:xfrm>
          <a:prstGeom prst="roundRect">
            <a:avLst>
              <a:gd name="adj" fmla="val 0"/>
            </a:avLst>
          </a:prstGeom>
          <a:solidFill>
            <a:srgbClr val="F3F4F6">
              <a:alpha val="8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080500" y="2730500"/>
            <a:ext cx="304800" cy="304800"/>
          </a:xfrm>
          <a:prstGeom prst="rect">
            <a:avLst/>
          </a:prstGeom>
        </p:spPr>
      </p:pic>
      <p:sp>
        <p:nvSpPr>
          <p:cNvPr id="17" name="AutoShape 17"/>
          <p:cNvSpPr/>
          <p:nvPr/>
        </p:nvSpPr>
        <p:spPr>
          <a:xfrm>
            <a:off x="9461500" y="2730500"/>
            <a:ext cx="184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数值序列生成</a:t>
            </a:r>
            <a:endParaRPr lang="en-US" sz="1100"/>
          </a:p>
        </p:txBody>
      </p:sp>
      <p:sp>
        <p:nvSpPr>
          <p:cNvPr id="18" name="AutoShape 18"/>
          <p:cNvSpPr/>
          <p:nvPr/>
        </p:nvSpPr>
        <p:spPr>
          <a:xfrm>
            <a:off x="9080500" y="3111500"/>
            <a:ext cx="209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使用</a:t>
            </a:r>
            <a:r>
              <a:rPr lang="en-US" sz="1200" b="0" i="0" u="none" strike="noStrike">
                <a:solidFill>
                  <a:srgbClr val="10B981"/>
                </a:solidFill>
                <a:latin typeface="Noto Sans SC"/>
                <a:ea typeface="Noto Sans SC"/>
                <a:cs typeface="Noto Sans SC"/>
                <a:sym typeface="Noto Sans SC"/>
              </a:rPr>
              <a:t>np.arange()</a:t>
            </a:r>
            <a:r>
              <a:rPr lang="en-US" sz="1200" b="0" i="0" u="none" strike="noStrike">
                <a:solidFill>
                  <a:srgbClr val="4B5563"/>
                </a:solidFill>
                <a:latin typeface="Noto Sans SC"/>
                <a:ea typeface="Noto Sans SC"/>
                <a:cs typeface="Noto Sans SC"/>
                <a:sym typeface="Noto Sans SC"/>
              </a:rPr>
              <a:t>替代 Python 原生 range，支持浮点数步长与更高效的生成。</a:t>
            </a:r>
            <a:endParaRPr lang="en-US" sz="1100"/>
          </a:p>
        </p:txBody>
      </p:sp>
      <p:sp>
        <p:nvSpPr>
          <p:cNvPr id="19" name="AutoShape 19"/>
          <p:cNvSpPr/>
          <p:nvPr/>
        </p:nvSpPr>
        <p:spPr>
          <a:xfrm>
            <a:off x="6477000" y="3937000"/>
            <a:ext cx="2349500" cy="1206500"/>
          </a:xfrm>
          <a:prstGeom prst="roundRect">
            <a:avLst>
              <a:gd name="adj" fmla="val 0"/>
            </a:avLst>
          </a:prstGeom>
          <a:solidFill>
            <a:srgbClr val="F3F4F6">
              <a:alpha val="8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4064000"/>
            <a:ext cx="304800" cy="304800"/>
          </a:xfrm>
          <a:prstGeom prst="rect">
            <a:avLst/>
          </a:prstGeom>
        </p:spPr>
      </p:pic>
      <p:sp>
        <p:nvSpPr>
          <p:cNvPr id="21" name="AutoShape 21"/>
          <p:cNvSpPr/>
          <p:nvPr/>
        </p:nvSpPr>
        <p:spPr>
          <a:xfrm>
            <a:off x="6985000" y="4064000"/>
            <a:ext cx="184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随机数组生成</a:t>
            </a:r>
            <a:endParaRPr lang="en-US" sz="1100"/>
          </a:p>
        </p:txBody>
      </p:sp>
      <p:sp>
        <p:nvSpPr>
          <p:cNvPr id="22" name="AutoShape 22"/>
          <p:cNvSpPr/>
          <p:nvPr/>
        </p:nvSpPr>
        <p:spPr>
          <a:xfrm>
            <a:off x="6604000" y="4445000"/>
            <a:ext cx="209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通过</a:t>
            </a:r>
            <a:r>
              <a:rPr lang="en-US" sz="1200" b="0" i="0" u="none" strike="noStrike">
                <a:solidFill>
                  <a:srgbClr val="F59E0B"/>
                </a:solidFill>
                <a:latin typeface="Noto Sans SC"/>
                <a:ea typeface="Noto Sans SC"/>
                <a:cs typeface="Noto Sans SC"/>
                <a:sym typeface="Noto Sans SC"/>
              </a:rPr>
              <a:t>np.random</a:t>
            </a:r>
            <a:r>
              <a:rPr lang="en-US" sz="1200" b="0" i="0" u="none" strike="noStrike">
                <a:solidFill>
                  <a:srgbClr val="4B5563"/>
                </a:solidFill>
                <a:latin typeface="Noto Sans SC"/>
                <a:ea typeface="Noto Sans SC"/>
                <a:cs typeface="Noto Sans SC"/>
                <a:sym typeface="Noto Sans SC"/>
              </a:rPr>
              <a:t>模块生成正态或均匀分布的随机数，常用于数据模拟与模型测试。</a:t>
            </a:r>
            <a:endParaRPr lang="en-US" sz="1100"/>
          </a:p>
        </p:txBody>
      </p:sp>
      <p:sp>
        <p:nvSpPr>
          <p:cNvPr id="23" name="AutoShape 23"/>
          <p:cNvSpPr/>
          <p:nvPr/>
        </p:nvSpPr>
        <p:spPr>
          <a:xfrm>
            <a:off x="8953500" y="3937000"/>
            <a:ext cx="2349500" cy="1206500"/>
          </a:xfrm>
          <a:prstGeom prst="roundRect">
            <a:avLst>
              <a:gd name="adj" fmla="val 0"/>
            </a:avLst>
          </a:prstGeom>
          <a:solidFill>
            <a:srgbClr val="F3F4F6">
              <a:alpha val="8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80500" y="4064000"/>
            <a:ext cx="304800" cy="304800"/>
          </a:xfrm>
          <a:prstGeom prst="rect">
            <a:avLst/>
          </a:prstGeom>
        </p:spPr>
      </p:pic>
      <p:sp>
        <p:nvSpPr>
          <p:cNvPr id="25" name="AutoShape 25"/>
          <p:cNvSpPr/>
          <p:nvPr/>
        </p:nvSpPr>
        <p:spPr>
          <a:xfrm>
            <a:off x="9461500" y="4064000"/>
            <a:ext cx="184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线性代数矩阵</a:t>
            </a:r>
            <a:endParaRPr lang="en-US" sz="1100"/>
          </a:p>
        </p:txBody>
      </p:sp>
      <p:sp>
        <p:nvSpPr>
          <p:cNvPr id="26" name="AutoShape 26"/>
          <p:cNvSpPr/>
          <p:nvPr/>
        </p:nvSpPr>
        <p:spPr>
          <a:xfrm>
            <a:off x="9080500" y="4445000"/>
            <a:ext cx="209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利用</a:t>
            </a:r>
            <a:r>
              <a:rPr lang="en-US" sz="1200" b="0" i="0" u="none" strike="noStrike">
                <a:solidFill>
                  <a:srgbClr val="8B5CF6"/>
                </a:solidFill>
                <a:latin typeface="Noto Sans SC"/>
                <a:ea typeface="Noto Sans SC"/>
                <a:cs typeface="Noto Sans SC"/>
                <a:sym typeface="Noto Sans SC"/>
              </a:rPr>
              <a:t>np.eye()</a:t>
            </a:r>
            <a:r>
              <a:rPr lang="en-US" sz="1200" b="0" i="0" u="none" strike="noStrike">
                <a:solidFill>
                  <a:srgbClr val="4B5563"/>
                </a:solidFill>
                <a:latin typeface="Noto Sans SC"/>
                <a:ea typeface="Noto Sans SC"/>
                <a:cs typeface="Noto Sans SC"/>
                <a:sym typeface="Noto Sans SC"/>
              </a:rPr>
              <a:t>创建单位矩阵，或</a:t>
            </a:r>
            <a:r>
              <a:rPr lang="en-US" sz="1200" b="0" i="0" u="none" strike="noStrike">
                <a:solidFill>
                  <a:srgbClr val="8B5CF6"/>
                </a:solidFill>
                <a:latin typeface="Noto Sans SC"/>
                <a:ea typeface="Noto Sans SC"/>
                <a:cs typeface="Noto Sans SC"/>
                <a:sym typeface="Noto Sans SC"/>
              </a:rPr>
              <a:t>np.diag()</a:t>
            </a:r>
            <a:r>
              <a:rPr lang="en-US" sz="1200" b="0" i="0" u="none" strike="noStrike">
                <a:solidFill>
                  <a:srgbClr val="4B5563"/>
                </a:solidFill>
                <a:latin typeface="Noto Sans SC"/>
                <a:ea typeface="Noto Sans SC"/>
                <a:cs typeface="Noto Sans SC"/>
                <a:sym typeface="Noto Sans SC"/>
              </a:rPr>
              <a:t>创建对角矩阵。</a:t>
            </a:r>
            <a:endParaRPr lang="en-US" sz="1100"/>
          </a:p>
        </p:txBody>
      </p:sp>
      <p:sp>
        <p:nvSpPr>
          <p:cNvPr id="27" name="AutoShape 27"/>
          <p:cNvSpPr/>
          <p:nvPr/>
        </p:nvSpPr>
        <p:spPr>
          <a:xfrm>
            <a:off x="6477000" y="5397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a:ea typeface="Noto Sans SC"/>
                <a:cs typeface="Noto Sans SC"/>
                <a:sym typeface="Noto Sans SC"/>
              </a:rPr>
              <a:t>🚀 工程化建议：优先使用内置函数，它们在内存分配和计算效率上远优于手动构造列表。</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创建 ndarray 的便捷函数</a:t>
            </a:r>
            <a:endParaRPr lang="en-US" sz="1100"/>
          </a:p>
        </p:txBody>
      </p:sp>
      <p:sp>
        <p:nvSpPr>
          <p:cNvPr id="4" name="AutoShape 4"/>
          <p:cNvSpPr/>
          <p:nvPr/>
        </p:nvSpPr>
        <p:spPr>
          <a:xfrm>
            <a:off x="762000" y="1778000"/>
            <a:ext cx="10668000" cy="3810000"/>
          </a:xfrm>
          <a:prstGeom prst="roundRect">
            <a:avLst>
              <a:gd name="adj" fmla="val 0"/>
            </a:avLst>
          </a:prstGeom>
          <a:solidFill>
            <a:srgbClr val="1F2937">
              <a:alpha val="92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68500"/>
            <a:ext cx="177800" cy="1778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70000" y="1968500"/>
            <a:ext cx="177800" cy="1778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587500" y="1968500"/>
            <a:ext cx="177800" cy="1778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52500" y="2413000"/>
            <a:ext cx="10287000" cy="317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C084FC"/>
                </a:solidFill>
                <a:latin typeface="Source Code Pro"/>
                <a:ea typeface="Source Code Pro"/>
                <a:cs typeface="Source Code Pro"/>
                <a:sym typeface="Source Code Pro"/>
              </a:rPr>
              <a:t>import</a:t>
            </a:r>
            <a:r>
              <a:rPr lang="en-US" sz="1400" b="0" i="0" u="none" strike="noStrike">
                <a:solidFill>
                  <a:srgbClr val="E5E7EB"/>
                </a:solidFill>
                <a:latin typeface="Source Code Pro"/>
                <a:ea typeface="Source Code Pro"/>
                <a:cs typeface="Source Code Pro"/>
                <a:sym typeface="Source Code Pro"/>
              </a:rPr>
              <a:t>numpy</a:t>
            </a:r>
            <a:r>
              <a:rPr lang="en-US" sz="1400" b="0" i="0" u="none" strike="noStrike">
                <a:solidFill>
                  <a:srgbClr val="C084FC"/>
                </a:solidFill>
                <a:latin typeface="Source Code Pro"/>
                <a:ea typeface="Source Code Pro"/>
                <a:cs typeface="Source Code Pro"/>
                <a:sym typeface="Source Code Pro"/>
              </a:rPr>
              <a:t>as</a:t>
            </a:r>
            <a:r>
              <a:rPr lang="en-US" sz="1400" b="0" i="0" u="none" strike="noStrike">
                <a:solidFill>
                  <a:srgbClr val="E5E7EB"/>
                </a:solidFill>
                <a:latin typeface="Source Code Pro"/>
                <a:ea typeface="Source Code Pro"/>
                <a:cs typeface="Source Code Pro"/>
                <a:sym typeface="Source Code Pro"/>
              </a:rPr>
              <a:t>np</a:t>
            </a:r>
            <a:endParaRPr lang="en-US" sz="1100"/>
          </a:p>
          <a:p>
            <a:pPr marL="0" indent="0" algn="l">
              <a:lnSpc>
                <a:spcPct val="116666"/>
              </a:lnSpc>
            </a:pPr>
            <a:r>
              <a:rPr lang="en-US" sz="1400" b="0" i="0" u="none" strike="noStrike">
                <a:solidFill>
                  <a:srgbClr val="6B7280"/>
                </a:solidFill>
                <a:latin typeface="Source Code Pro"/>
                <a:ea typeface="Source Code Pro"/>
                <a:cs typeface="Source Code Pro"/>
                <a:sym typeface="Source Code Pro"/>
              </a:rPr>
              <a:t># 1. 全零数组：初始化指定维度的空容器，默认浮点型</a:t>
            </a:r>
          </a:p>
          <a:p>
            <a:pPr marL="0" indent="0" algn="l">
              <a:lnSpc>
                <a:spcPct val="116666"/>
              </a:lnSpc>
            </a:pPr>
            <a:r>
              <a:rPr lang="en-US" sz="1400" b="0" i="0" u="none" strike="noStrike">
                <a:solidFill>
                  <a:srgbClr val="E5E7EB"/>
                </a:solidFill>
                <a:latin typeface="Source Code Pro"/>
                <a:ea typeface="Source Code Pro"/>
                <a:cs typeface="Source Code Pro"/>
                <a:sym typeface="Source Code Pro"/>
              </a:rPr>
              <a:t>zeros_arr = np.</a:t>
            </a:r>
            <a:r>
              <a:rPr lang="en-US" sz="1400" b="0" i="0" u="none" strike="noStrike">
                <a:solidFill>
                  <a:srgbClr val="60A5FA"/>
                </a:solidFill>
                <a:latin typeface="Source Code Pro"/>
                <a:ea typeface="Source Code Pro"/>
                <a:cs typeface="Source Code Pro"/>
                <a:sym typeface="Source Code Pro"/>
              </a:rPr>
              <a:t>zeros</a:t>
            </a:r>
            <a:r>
              <a:rPr lang="en-US" sz="1400" b="0" i="0" u="none" strike="noStrike">
                <a:solidFill>
                  <a:srgbClr val="E5E7EB"/>
                </a:solidFill>
                <a:latin typeface="Source Code Pro"/>
                <a:ea typeface="Source Code Pro"/>
                <a:cs typeface="Source Code Pro"/>
                <a:sym typeface="Source Code Pro"/>
              </a:rPr>
              <a:t>((2, 3))</a:t>
            </a:r>
            <a:r>
              <a:rPr lang="en-US" sz="1400" b="0" i="0" u="none" strike="noStrike">
                <a:solidFill>
                  <a:srgbClr val="6B7280"/>
                </a:solidFill>
                <a:latin typeface="Source Code Pro"/>
                <a:ea typeface="Source Code Pro"/>
                <a:cs typeface="Source Code Pro"/>
                <a:sym typeface="Source Code Pro"/>
              </a:rPr>
              <a:t># 输出: [[0. 0. 0.] [0. 0. 0.]]</a:t>
            </a:r>
          </a:p>
          <a:p>
            <a:pPr marL="0" indent="0" algn="l">
              <a:lnSpc>
                <a:spcPct val="116666"/>
              </a:lnSpc>
            </a:pPr>
            <a:r>
              <a:rPr lang="en-US" sz="1400" b="0" i="0" u="none" strike="noStrike">
                <a:solidFill>
                  <a:srgbClr val="6B7280"/>
                </a:solidFill>
                <a:latin typeface="Source Code Pro"/>
                <a:ea typeface="Source Code Pro"/>
                <a:cs typeface="Source Code Pro"/>
                <a:sym typeface="Source Code Pro"/>
              </a:rPr>
              <a:t># 2. 全一数组：常用于占位或作为权重初始值的基准</a:t>
            </a:r>
          </a:p>
          <a:p>
            <a:pPr marL="0" indent="0" algn="l">
              <a:lnSpc>
                <a:spcPct val="116666"/>
              </a:lnSpc>
            </a:pPr>
            <a:r>
              <a:rPr lang="en-US" sz="1400" b="0" i="0" u="none" strike="noStrike">
                <a:solidFill>
                  <a:srgbClr val="E5E7EB"/>
                </a:solidFill>
                <a:latin typeface="Source Code Pro"/>
                <a:ea typeface="Source Code Pro"/>
                <a:cs typeface="Source Code Pro"/>
                <a:sym typeface="Source Code Pro"/>
              </a:rPr>
              <a:t>ones_arr = np.</a:t>
            </a:r>
            <a:r>
              <a:rPr lang="en-US" sz="1400" b="0" i="0" u="none" strike="noStrike">
                <a:solidFill>
                  <a:srgbClr val="60A5FA"/>
                </a:solidFill>
                <a:latin typeface="Source Code Pro"/>
                <a:ea typeface="Source Code Pro"/>
                <a:cs typeface="Source Code Pro"/>
                <a:sym typeface="Source Code Pro"/>
              </a:rPr>
              <a:t>ones</a:t>
            </a:r>
            <a:r>
              <a:rPr lang="en-US" sz="1400" b="0" i="0" u="none" strike="noStrike">
                <a:solidFill>
                  <a:srgbClr val="E5E7EB"/>
                </a:solidFill>
                <a:latin typeface="Source Code Pro"/>
                <a:ea typeface="Source Code Pro"/>
                <a:cs typeface="Source Code Pro"/>
                <a:sym typeface="Source Code Pro"/>
              </a:rPr>
              <a:t>((3, 2))</a:t>
            </a:r>
            <a:r>
              <a:rPr lang="en-US" sz="1400" b="0" i="0" u="none" strike="noStrike">
                <a:solidFill>
                  <a:srgbClr val="6B7280"/>
                </a:solidFill>
                <a:latin typeface="Source Code Pro"/>
                <a:ea typeface="Source Code Pro"/>
                <a:cs typeface="Source Code Pro"/>
                <a:sym typeface="Source Code Pro"/>
              </a:rPr>
              <a:t># 输出: [[1. 1.] [1. 1.] [1. 1.]]</a:t>
            </a:r>
          </a:p>
          <a:p>
            <a:pPr marL="0" indent="0" algn="l">
              <a:lnSpc>
                <a:spcPct val="116666"/>
              </a:lnSpc>
            </a:pPr>
            <a:r>
              <a:rPr lang="en-US" sz="1400" b="0" i="0" u="none" strike="noStrike">
                <a:solidFill>
                  <a:srgbClr val="6B7280"/>
                </a:solidFill>
                <a:latin typeface="Source Code Pro"/>
                <a:ea typeface="Source Code Pro"/>
                <a:cs typeface="Source Code Pro"/>
                <a:sym typeface="Source Code Pro"/>
              </a:rPr>
              <a:t># 3. 单位矩阵：线性代数核心，对角线为1，用于变换基准</a:t>
            </a:r>
          </a:p>
          <a:p>
            <a:pPr marL="0" indent="0" algn="l">
              <a:lnSpc>
                <a:spcPct val="116666"/>
              </a:lnSpc>
            </a:pPr>
            <a:r>
              <a:rPr lang="en-US" sz="1400" b="0" i="0" u="none" strike="noStrike">
                <a:solidFill>
                  <a:srgbClr val="E5E7EB"/>
                </a:solidFill>
                <a:latin typeface="Source Code Pro"/>
                <a:ea typeface="Source Code Pro"/>
                <a:cs typeface="Source Code Pro"/>
                <a:sym typeface="Source Code Pro"/>
              </a:rPr>
              <a:t>eye_mat = np.</a:t>
            </a:r>
            <a:r>
              <a:rPr lang="en-US" sz="1400" b="0" i="0" u="none" strike="noStrike">
                <a:solidFill>
                  <a:srgbClr val="60A5FA"/>
                </a:solidFill>
                <a:latin typeface="Source Code Pro"/>
                <a:ea typeface="Source Code Pro"/>
                <a:cs typeface="Source Code Pro"/>
                <a:sym typeface="Source Code Pro"/>
              </a:rPr>
              <a:t>eye</a:t>
            </a:r>
            <a:r>
              <a:rPr lang="en-US" sz="1400" b="0" i="0" u="none" strike="noStrike">
                <a:solidFill>
                  <a:srgbClr val="E5E7EB"/>
                </a:solidFill>
                <a:latin typeface="Source Code Pro"/>
                <a:ea typeface="Source Code Pro"/>
                <a:cs typeface="Source Code Pro"/>
                <a:sym typeface="Source Code Pro"/>
              </a:rPr>
              <a:t>(3)</a:t>
            </a:r>
            <a:r>
              <a:rPr lang="en-US" sz="1400" b="0" i="0" u="none" strike="noStrike">
                <a:solidFill>
                  <a:srgbClr val="6B7280"/>
                </a:solidFill>
                <a:latin typeface="Source Code Pro"/>
                <a:ea typeface="Source Code Pro"/>
                <a:cs typeface="Source Code Pro"/>
                <a:sym typeface="Source Code Pro"/>
              </a:rPr>
              <a:t># 输出: [[1. 0. 0.] [0. 1. 0.] [0. 0. 1.]]</a:t>
            </a:r>
          </a:p>
          <a:p>
            <a:pPr marL="0" indent="0" algn="l">
              <a:lnSpc>
                <a:spcPct val="116666"/>
              </a:lnSpc>
            </a:pPr>
            <a:r>
              <a:rPr lang="en-US" sz="1400" b="0" i="0" u="none" strike="noStrike">
                <a:solidFill>
                  <a:srgbClr val="6B7280"/>
                </a:solidFill>
                <a:latin typeface="Source Code Pro"/>
                <a:ea typeface="Source Code Pro"/>
                <a:cs typeface="Source Code Pro"/>
                <a:sym typeface="Source Code Pro"/>
              </a:rPr>
              <a:t># 4. 随机数组：生成 [0, 1) 之间的随机浮点数，用于参数随机初始化</a:t>
            </a:r>
          </a:p>
          <a:p>
            <a:pPr marL="0" indent="0" algn="l">
              <a:lnSpc>
                <a:spcPct val="116666"/>
              </a:lnSpc>
            </a:pPr>
            <a:r>
              <a:rPr lang="en-US" sz="1400" b="0" i="0" u="none" strike="noStrike">
                <a:solidFill>
                  <a:srgbClr val="E5E7EB"/>
                </a:solidFill>
                <a:latin typeface="Source Code Pro"/>
                <a:ea typeface="Source Code Pro"/>
                <a:cs typeface="Source Code Pro"/>
                <a:sym typeface="Source Code Pro"/>
              </a:rPr>
              <a:t>rand_arr = np.random.</a:t>
            </a:r>
            <a:r>
              <a:rPr lang="en-US" sz="1400" b="0" i="0" u="none" strike="noStrike">
                <a:solidFill>
                  <a:srgbClr val="60A5FA"/>
                </a:solidFill>
                <a:latin typeface="Source Code Pro"/>
                <a:ea typeface="Source Code Pro"/>
                <a:cs typeface="Source Code Pro"/>
                <a:sym typeface="Source Code Pro"/>
              </a:rPr>
              <a:t>rand</a:t>
            </a:r>
            <a:r>
              <a:rPr lang="en-US" sz="1400" b="0" i="0" u="none" strike="noStrike">
                <a:solidFill>
                  <a:srgbClr val="E5E7EB"/>
                </a:solidFill>
                <a:latin typeface="Source Code Pro"/>
                <a:ea typeface="Source Code Pro"/>
                <a:cs typeface="Source Code Pro"/>
                <a:sym typeface="Source Code Pro"/>
              </a:rPr>
              <a:t>((2, 2))</a:t>
            </a:r>
            <a:r>
              <a:rPr lang="en-US" sz="1400" b="0" i="0" u="none" strike="noStrike">
                <a:solidFill>
                  <a:srgbClr val="6B7280"/>
                </a:solidFill>
                <a:latin typeface="Source Code Pro"/>
                <a:ea typeface="Source Code Pro"/>
                <a:cs typeface="Source Code Pro"/>
                <a:sym typeface="Source Code Pro"/>
              </a:rPr>
              <a:t># 输出: [[0.23 0.56] [0.89 0.12]] (值随机)</a:t>
            </a:r>
          </a:p>
        </p:txBody>
      </p:sp>
      <p:sp>
        <p:nvSpPr>
          <p:cNvPr id="9" name="AutoShape 9"/>
          <p:cNvSpPr/>
          <p:nvPr/>
        </p:nvSpPr>
        <p:spPr>
          <a:xfrm>
            <a:off x="762000" y="5842000"/>
            <a:ext cx="10668000" cy="571500"/>
          </a:xfrm>
          <a:prstGeom prst="roundRect">
            <a:avLst>
              <a:gd name="adj" fmla="val 0"/>
            </a:avLst>
          </a:prstGeom>
          <a:solidFill>
            <a:srgbClr val="F3F4F6">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89000" y="5943600"/>
            <a:ext cx="1041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 核心价值：这些函数是 NumPy 数组初始化的基石，能够高效地创建不同特性的数组，广泛应用于数据科学、机器学习的参数初始化与矩阵运算场景。</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1.2 `ndarray` 属性</a:t>
            </a:r>
            <a:endParaRPr lang="en-US" sz="1100"/>
          </a:p>
        </p:txBody>
      </p:sp>
      <p:sp>
        <p:nvSpPr>
          <p:cNvPr id="4" name="AutoShape 4"/>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4B5563"/>
                </a:solidFill>
                <a:latin typeface="Noto Sans SC"/>
                <a:ea typeface="Noto Sans SC"/>
                <a:cs typeface="Noto Sans SC"/>
                <a:sym typeface="Noto Sans SC"/>
              </a:rPr>
              <a:t>NumPy 的核心数据结构 `ndarray` 拥有一系列关键属性，能帮助我们快速洞察数组的维度构成、形态特征与存储细节，是高效进行数值计算与数据处理的基础。</a:t>
            </a:r>
            <a:endParaRPr lang="en-US" sz="1100"/>
          </a:p>
        </p:txBody>
      </p:sp>
      <p:sp>
        <p:nvSpPr>
          <p:cNvPr id="5" name="AutoShape 5"/>
          <p:cNvSpPr/>
          <p:nvPr/>
        </p:nvSpPr>
        <p:spPr>
          <a:xfrm>
            <a:off x="762000" y="2540000"/>
            <a:ext cx="5207000" cy="3175000"/>
          </a:xfrm>
          <a:prstGeom prst="roundRect">
            <a:avLst>
              <a:gd name="adj" fmla="val 0"/>
            </a:avLst>
          </a:prstGeom>
          <a:solidFill>
            <a:srgbClr val="1F2937">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2730500"/>
            <a:ext cx="48895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9CA3AF"/>
                </a:solidFill>
                <a:latin typeface="Roboto Mono"/>
                <a:ea typeface="Roboto Mono"/>
                <a:cs typeface="Roboto Mono"/>
                <a:sym typeface="Roboto Mono"/>
              </a:rPr>
              <a:t># 导入库并初始化一个2行3列的二维数组</a:t>
            </a:r>
            <a:endParaRPr lang="en-US" sz="1100"/>
          </a:p>
          <a:p>
            <a:pPr marL="0" indent="0" algn="l">
              <a:lnSpc>
                <a:spcPct val="116666"/>
              </a:lnSpc>
            </a:pPr>
            <a:r>
              <a:rPr lang="en-US" sz="1300" b="0" i="0" u="none" strike="noStrike">
                <a:solidFill>
                  <a:srgbClr val="D1D5DB"/>
                </a:solidFill>
                <a:latin typeface="Roboto Mono"/>
                <a:ea typeface="Roboto Mono"/>
                <a:cs typeface="Roboto Mono"/>
                <a:sym typeface="Roboto Mono"/>
              </a:rPr>
              <a:t>import numpy as np</a:t>
            </a:r>
          </a:p>
          <a:p>
            <a:pPr marL="0" indent="0" algn="l">
              <a:lnSpc>
                <a:spcPct val="116666"/>
              </a:lnSpc>
            </a:pPr>
            <a:r>
              <a:rPr lang="en-US" sz="1300" b="0" i="0" u="none" strike="noStrike">
                <a:solidFill>
                  <a:srgbClr val="D1D5DB"/>
                </a:solidFill>
                <a:latin typeface="Roboto Mono"/>
                <a:ea typeface="Roboto Mono"/>
                <a:cs typeface="Roboto Mono"/>
                <a:sym typeface="Roboto Mono"/>
              </a:rPr>
              <a:t>arr = np.array([[1, 2, 3], [4, 5, 6]])</a:t>
            </a:r>
          </a:p>
          <a:p>
            <a:pPr marL="0" indent="0" algn="l">
              <a:lnSpc>
                <a:spcPct val="116666"/>
              </a:lnSpc>
            </a:pPr>
            <a:r>
              <a:rPr lang="en-US" sz="1300" b="0" i="0" u="none" strike="noStrike">
                <a:solidFill>
                  <a:srgbClr val="9CA3AF"/>
                </a:solidFill>
                <a:latin typeface="Roboto Mono"/>
                <a:ea typeface="Roboto Mono"/>
                <a:cs typeface="Roboto Mono"/>
                <a:sym typeface="Roboto Mono"/>
              </a:rPr>
              <a:t># 输出关键属性信息</a:t>
            </a:r>
          </a:p>
          <a:p>
            <a:pPr marL="0" indent="0" algn="l">
              <a:lnSpc>
                <a:spcPct val="116666"/>
              </a:lnSpc>
            </a:pPr>
            <a:r>
              <a:rPr lang="en-US" sz="1300" b="0" i="0" u="none" strike="noStrike">
                <a:solidFill>
                  <a:srgbClr val="D1D5DB"/>
                </a:solidFill>
                <a:latin typeface="Roboto Mono"/>
                <a:ea typeface="Roboto Mono"/>
                <a:cs typeface="Roboto Mono"/>
                <a:sym typeface="Roboto Mono"/>
              </a:rPr>
              <a:t>print(f"维度: {arr.ndim}, 形状: {arr.shape}")</a:t>
            </a:r>
          </a:p>
          <a:p>
            <a:pPr marL="0" indent="0" algn="l">
              <a:lnSpc>
                <a:spcPct val="116666"/>
              </a:lnSpc>
            </a:pPr>
            <a:r>
              <a:rPr lang="en-US" sz="1300" b="0" i="0" u="none" strike="noStrike">
                <a:solidFill>
                  <a:srgbClr val="D1D5DB"/>
                </a:solidFill>
                <a:latin typeface="Roboto Mono"/>
                <a:ea typeface="Roboto Mono"/>
                <a:cs typeface="Roboto Mono"/>
                <a:sym typeface="Roboto Mono"/>
              </a:rPr>
              <a:t>print(f"总元素: {arr.size}, 类型: {arr.dtype}")</a:t>
            </a:r>
          </a:p>
          <a:p>
            <a:pPr marL="0" indent="0" algn="l">
              <a:lnSpc>
                <a:spcPct val="116666"/>
              </a:lnSpc>
            </a:pPr>
            <a:r>
              <a:rPr lang="en-US" sz="1300" b="0" i="0" u="none" strike="noStrike">
                <a:solidFill>
                  <a:srgbClr val="6EE7B7"/>
                </a:solidFill>
                <a:latin typeface="Roboto Mono"/>
                <a:ea typeface="Roboto Mono"/>
                <a:cs typeface="Roboto Mono"/>
                <a:sym typeface="Roboto Mono"/>
              </a:rPr>
              <a:t># &gt; 维度: 2, 形状: (2, 3), 总元素: 6, 类型: int64</a:t>
            </a:r>
          </a:p>
        </p:txBody>
      </p:sp>
      <p:sp>
        <p:nvSpPr>
          <p:cNvPr id="7" name="AutoShape 7"/>
          <p:cNvSpPr/>
          <p:nvPr/>
        </p:nvSpPr>
        <p:spPr>
          <a:xfrm>
            <a:off x="6223000" y="2540000"/>
            <a:ext cx="2667000" cy="1524000"/>
          </a:xfrm>
          <a:prstGeom prst="roundRect">
            <a:avLst>
              <a:gd name="adj" fmla="val 0"/>
            </a:avLst>
          </a:prstGeom>
          <a:solidFill>
            <a:srgbClr val="F9FAFB">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2730500"/>
            <a:ext cx="279400" cy="279400"/>
          </a:xfrm>
          <a:prstGeom prst="rect">
            <a:avLst/>
          </a:prstGeom>
        </p:spPr>
      </p:pic>
      <p:sp>
        <p:nvSpPr>
          <p:cNvPr id="9" name="AutoShape 9"/>
          <p:cNvSpPr/>
          <p:nvPr/>
        </p:nvSpPr>
        <p:spPr>
          <a:xfrm>
            <a:off x="6756400" y="27178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ndim · 维度数量</a:t>
            </a:r>
            <a:endParaRPr lang="en-US" sz="1100"/>
          </a:p>
        </p:txBody>
      </p:sp>
      <p:sp>
        <p:nvSpPr>
          <p:cNvPr id="10" name="AutoShape 10"/>
          <p:cNvSpPr/>
          <p:nvPr/>
        </p:nvSpPr>
        <p:spPr>
          <a:xfrm>
            <a:off x="6413500" y="3175000"/>
            <a:ext cx="228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返回数组的轴（维度）数量。例如二维矩阵返回 2，一维向量返回 1，标量返回 0。</a:t>
            </a:r>
            <a:endParaRPr lang="en-US" sz="1100"/>
          </a:p>
        </p:txBody>
      </p:sp>
      <p:sp>
        <p:nvSpPr>
          <p:cNvPr id="11" name="AutoShape 11"/>
          <p:cNvSpPr/>
          <p:nvPr/>
        </p:nvSpPr>
        <p:spPr>
          <a:xfrm>
            <a:off x="9017000" y="2540000"/>
            <a:ext cx="2667000" cy="1524000"/>
          </a:xfrm>
          <a:prstGeom prst="roundRect">
            <a:avLst>
              <a:gd name="adj" fmla="val 0"/>
            </a:avLst>
          </a:prstGeom>
          <a:solidFill>
            <a:srgbClr val="F9FAFB">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07500" y="2730500"/>
            <a:ext cx="279400" cy="279400"/>
          </a:xfrm>
          <a:prstGeom prst="rect">
            <a:avLst/>
          </a:prstGeom>
        </p:spPr>
      </p:pic>
      <p:sp>
        <p:nvSpPr>
          <p:cNvPr id="13" name="AutoShape 13"/>
          <p:cNvSpPr/>
          <p:nvPr/>
        </p:nvSpPr>
        <p:spPr>
          <a:xfrm>
            <a:off x="9550400" y="27178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shape · 数组形状</a:t>
            </a:r>
            <a:endParaRPr lang="en-US" sz="1100"/>
          </a:p>
        </p:txBody>
      </p:sp>
      <p:sp>
        <p:nvSpPr>
          <p:cNvPr id="14" name="AutoShape 14"/>
          <p:cNvSpPr/>
          <p:nvPr/>
        </p:nvSpPr>
        <p:spPr>
          <a:xfrm>
            <a:off x="9207500" y="3175000"/>
            <a:ext cx="228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以元组形式表示各维度的大小。例如 (2, 3) 代表该数组包含 2 行和 3 列。</a:t>
            </a:r>
            <a:endParaRPr lang="en-US" sz="1100"/>
          </a:p>
        </p:txBody>
      </p:sp>
      <p:sp>
        <p:nvSpPr>
          <p:cNvPr id="15" name="AutoShape 15"/>
          <p:cNvSpPr/>
          <p:nvPr/>
        </p:nvSpPr>
        <p:spPr>
          <a:xfrm>
            <a:off x="6223000" y="4254500"/>
            <a:ext cx="2667000" cy="1524000"/>
          </a:xfrm>
          <a:prstGeom prst="roundRect">
            <a:avLst>
              <a:gd name="adj" fmla="val 0"/>
            </a:avLst>
          </a:prstGeom>
          <a:solidFill>
            <a:srgbClr val="F9FAFB">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13500" y="4445000"/>
            <a:ext cx="279400" cy="279400"/>
          </a:xfrm>
          <a:prstGeom prst="rect">
            <a:avLst/>
          </a:prstGeom>
        </p:spPr>
      </p:pic>
      <p:sp>
        <p:nvSpPr>
          <p:cNvPr id="17" name="AutoShape 17"/>
          <p:cNvSpPr/>
          <p:nvPr/>
        </p:nvSpPr>
        <p:spPr>
          <a:xfrm>
            <a:off x="6756400" y="44323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size · 元素总数</a:t>
            </a:r>
            <a:endParaRPr lang="en-US" sz="1100"/>
          </a:p>
        </p:txBody>
      </p:sp>
      <p:sp>
        <p:nvSpPr>
          <p:cNvPr id="18" name="AutoShape 18"/>
          <p:cNvSpPr/>
          <p:nvPr/>
        </p:nvSpPr>
        <p:spPr>
          <a:xfrm>
            <a:off x="6413500" y="4889500"/>
            <a:ext cx="228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数组中所有元素的总个数，等于 shape 元组中各数值的乘积，反映了数据的规模。</a:t>
            </a:r>
            <a:endParaRPr lang="en-US" sz="1100"/>
          </a:p>
        </p:txBody>
      </p:sp>
      <p:sp>
        <p:nvSpPr>
          <p:cNvPr id="19" name="AutoShape 19"/>
          <p:cNvSpPr/>
          <p:nvPr/>
        </p:nvSpPr>
        <p:spPr>
          <a:xfrm>
            <a:off x="9017000" y="4254500"/>
            <a:ext cx="2667000" cy="1524000"/>
          </a:xfrm>
          <a:prstGeom prst="roundRect">
            <a:avLst>
              <a:gd name="adj" fmla="val 0"/>
            </a:avLst>
          </a:prstGeom>
          <a:solidFill>
            <a:srgbClr val="F9FAFB">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207500" y="4445000"/>
            <a:ext cx="279400" cy="279400"/>
          </a:xfrm>
          <a:prstGeom prst="rect">
            <a:avLst/>
          </a:prstGeom>
        </p:spPr>
      </p:pic>
      <p:sp>
        <p:nvSpPr>
          <p:cNvPr id="21" name="AutoShape 21"/>
          <p:cNvSpPr/>
          <p:nvPr/>
        </p:nvSpPr>
        <p:spPr>
          <a:xfrm>
            <a:off x="9550400" y="44323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dtype · 数据类型</a:t>
            </a:r>
            <a:endParaRPr lang="en-US" sz="1100"/>
          </a:p>
        </p:txBody>
      </p:sp>
      <p:sp>
        <p:nvSpPr>
          <p:cNvPr id="22" name="AutoShape 22"/>
          <p:cNvSpPr/>
          <p:nvPr/>
        </p:nvSpPr>
        <p:spPr>
          <a:xfrm>
            <a:off x="9207500" y="4889500"/>
            <a:ext cx="228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描述数组元素的类型（如 int64, float32），决定了数据的存储精度与内存占用量。</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2. 数组操作：基本运算</a:t>
            </a:r>
            <a:endParaRPr lang="en-US" sz="1100"/>
          </a:p>
        </p:txBody>
      </p:sp>
      <p:sp>
        <p:nvSpPr>
          <p:cNvPr id="4" name="AutoShape 4"/>
          <p:cNvSpPr/>
          <p:nvPr/>
        </p:nvSpPr>
        <p:spPr>
          <a:xfrm>
            <a:off x="762000" y="1651000"/>
            <a:ext cx="1066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374151"/>
                </a:solidFill>
                <a:latin typeface="Noto Sans SC"/>
                <a:ea typeface="Noto Sans SC"/>
                <a:cs typeface="Noto Sans SC"/>
                <a:sym typeface="Noto Sans SC"/>
              </a:rPr>
              <a:t>NumPy 最核心的优势在于向量化运算。它允许我们像操作单个数值一样直接对整个数组进行数学操作，无需编写繁琐的 Python 循环，这种方式在底层由优化的 C 语言实现，极大地提升了计算效率。</a:t>
            </a:r>
            <a:endParaRPr lang="en-US" sz="1100"/>
          </a:p>
        </p:txBody>
      </p:sp>
      <p:sp>
        <p:nvSpPr>
          <p:cNvPr id="5" name="AutoShape 5"/>
          <p:cNvSpPr/>
          <p:nvPr/>
        </p:nvSpPr>
        <p:spPr>
          <a:xfrm>
            <a:off x="762000" y="3048000"/>
            <a:ext cx="5207000" cy="26670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3238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01 核心算术运算符</a:t>
            </a:r>
            <a:endParaRPr lang="en-US" sz="1100"/>
          </a:p>
        </p:txBody>
      </p:sp>
      <p:cxnSp>
        <p:nvCxnSpPr>
          <p:cNvPr id="7" name="Connector 7"/>
          <p:cNvCxnSpPr/>
          <p:nvPr/>
        </p:nvCxnSpPr>
        <p:spPr>
          <a:xfrm rot="-9291">
            <a:off x="1016009" y="3740150"/>
            <a:ext cx="4699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8" name="AutoShape 8"/>
          <p:cNvSpPr/>
          <p:nvPr/>
        </p:nvSpPr>
        <p:spPr>
          <a:xfrm>
            <a:off x="1016000" y="3873500"/>
            <a:ext cx="4699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500" b="1" i="0" u="none" strike="noStrike">
                <a:solidFill>
                  <a:srgbClr val="4B5563"/>
                </a:solidFill>
                <a:latin typeface="Noto Sans SC"/>
                <a:ea typeface="Noto Sans SC"/>
                <a:cs typeface="Noto Sans SC"/>
                <a:sym typeface="Noto Sans SC"/>
              </a:rPr>
              <a:t>基础运算：</a:t>
            </a:r>
            <a:r>
              <a:rPr lang="en-US" sz="1500" b="0" i="0" u="none" strike="noStrike">
                <a:solidFill>
                  <a:srgbClr val="4B5563"/>
                </a:solidFill>
                <a:latin typeface="Noto Sans SC"/>
                <a:ea typeface="Noto Sans SC"/>
                <a:cs typeface="Noto Sans SC"/>
                <a:sym typeface="Noto Sans SC"/>
              </a:rPr>
              <a:t>+ (加) / - (减) / / (除) / // (整除)</a:t>
            </a:r>
            <a:endParaRPr lang="en-US" sz="1100"/>
          </a:p>
          <a:p>
            <a:pPr marL="0" indent="0" algn="l">
              <a:lnSpc>
                <a:spcPct val="133333"/>
              </a:lnSpc>
            </a:pPr>
            <a:r>
              <a:rPr lang="en-US" sz="1500" b="1" i="0" u="none" strike="noStrike">
                <a:solidFill>
                  <a:srgbClr val="4B5563"/>
                </a:solidFill>
                <a:latin typeface="Noto Sans SC"/>
                <a:ea typeface="Noto Sans SC"/>
                <a:cs typeface="Noto Sans SC"/>
                <a:sym typeface="Noto Sans SC"/>
              </a:rPr>
              <a:t>元素级乘：</a:t>
            </a:r>
            <a:r>
              <a:rPr lang="en-US" sz="1500" b="0" i="0" u="none" strike="noStrike">
                <a:solidFill>
                  <a:srgbClr val="4B5563"/>
                </a:solidFill>
                <a:latin typeface="Noto Sans SC"/>
                <a:ea typeface="Noto Sans SC"/>
                <a:cs typeface="Noto Sans SC"/>
                <a:sym typeface="Noto Sans SC"/>
              </a:rPr>
              <a:t> (对应位置相乘，非矩阵乘法)</a:t>
            </a:r>
          </a:p>
          <a:p>
            <a:pPr marL="0" indent="0" algn="l">
              <a:lnSpc>
                <a:spcPct val="133333"/>
              </a:lnSpc>
            </a:pPr>
            <a:r>
              <a:rPr lang="en-US" sz="1500" b="1" i="0" u="none" strike="noStrike">
                <a:solidFill>
                  <a:srgbClr val="4B5563"/>
                </a:solidFill>
                <a:latin typeface="Noto Sans SC"/>
                <a:ea typeface="Noto Sans SC"/>
                <a:cs typeface="Noto Sans SC"/>
                <a:sym typeface="Noto Sans SC"/>
              </a:rPr>
              <a:t>进阶运算：</a:t>
            </a:r>
            <a:r>
              <a:rPr lang="en-US" sz="1500" b="0" i="0" u="none" strike="noStrike">
                <a:solidFill>
                  <a:srgbClr val="4B5563"/>
                </a:solidFill>
                <a:latin typeface="Noto Sans SC"/>
                <a:ea typeface="Noto Sans SC"/>
                <a:cs typeface="Noto Sans SC"/>
                <a:sym typeface="Noto Sans SC"/>
              </a:rPr>
              <a:t> (幂运算) / % (取模) / @ (矩阵乘法)</a:t>
            </a:r>
          </a:p>
        </p:txBody>
      </p:sp>
      <p:sp>
        <p:nvSpPr>
          <p:cNvPr id="9" name="AutoShape 9"/>
          <p:cNvSpPr/>
          <p:nvPr/>
        </p:nvSpPr>
        <p:spPr>
          <a:xfrm>
            <a:off x="6223000" y="3048000"/>
            <a:ext cx="5207000" cy="2667000"/>
          </a:xfrm>
          <a:prstGeom prst="roundRect">
            <a:avLst>
              <a:gd name="adj" fmla="val 0"/>
            </a:avLst>
          </a:prstGeom>
          <a:solidFill>
            <a:srgbClr val="FFFFFF">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77000" y="3238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02 运算执行规则</a:t>
            </a:r>
            <a:endParaRPr lang="en-US" sz="1100"/>
          </a:p>
        </p:txBody>
      </p:sp>
      <p:cxnSp>
        <p:nvCxnSpPr>
          <p:cNvPr id="11" name="Connector 11"/>
          <p:cNvCxnSpPr/>
          <p:nvPr/>
        </p:nvCxnSpPr>
        <p:spPr>
          <a:xfrm rot="-9291">
            <a:off x="6477009" y="3740150"/>
            <a:ext cx="4699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2" name="AutoShape 12"/>
          <p:cNvSpPr/>
          <p:nvPr/>
        </p:nvSpPr>
        <p:spPr>
          <a:xfrm>
            <a:off x="6477000" y="3873500"/>
            <a:ext cx="4699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500" b="1" i="0" u="none" strike="noStrike">
                <a:solidFill>
                  <a:srgbClr val="4B5563"/>
                </a:solidFill>
                <a:latin typeface="Noto Sans SC"/>
                <a:ea typeface="Noto Sans SC"/>
                <a:cs typeface="Noto Sans SC"/>
                <a:sym typeface="Noto Sans SC"/>
              </a:rPr>
              <a:t>形状一致原则：</a:t>
            </a:r>
            <a:r>
              <a:rPr lang="en-US" sz="1500" b="0" i="0" u="none" strike="noStrike">
                <a:solidFill>
                  <a:srgbClr val="4B5563"/>
                </a:solidFill>
                <a:latin typeface="Noto Sans SC"/>
                <a:ea typeface="Noto Sans SC"/>
                <a:cs typeface="Noto Sans SC"/>
                <a:sym typeface="Noto Sans SC"/>
              </a:rPr>
              <a:t>若两数组形状完全相同，运算将在对应位置的元素间逐元素进行。</a:t>
            </a:r>
            <a:endParaRPr lang="en-US" sz="1100"/>
          </a:p>
          <a:p>
            <a:pPr marL="0" indent="0" algn="l">
              <a:lnSpc>
                <a:spcPct val="133333"/>
              </a:lnSpc>
            </a:pPr>
            <a:r>
              <a:rPr lang="en-US" sz="1500" b="1" i="0" u="none" strike="noStrike">
                <a:solidFill>
                  <a:srgbClr val="4B5563"/>
                </a:solidFill>
                <a:latin typeface="Noto Sans SC"/>
                <a:ea typeface="Noto Sans SC"/>
                <a:cs typeface="Noto Sans SC"/>
                <a:sym typeface="Noto Sans SC"/>
              </a:rPr>
              <a:t>广播机制：</a:t>
            </a:r>
            <a:r>
              <a:rPr lang="en-US" sz="1500" b="0" i="0" u="none" strike="noStrike">
                <a:solidFill>
                  <a:srgbClr val="4B5563"/>
                </a:solidFill>
                <a:latin typeface="Noto Sans SC"/>
                <a:ea typeface="Noto Sans SC"/>
                <a:cs typeface="Noto Sans SC"/>
                <a:sym typeface="Noto Sans SC"/>
              </a:rPr>
              <a:t>形状不同时，NumPy会尝试自动扩展维度（广播）以匹配运算，避免手动循环。</a:t>
            </a:r>
          </a:p>
        </p:txBody>
      </p:sp>
      <p:sp>
        <p:nvSpPr>
          <p:cNvPr id="13" name="AutoShape 13"/>
          <p:cNvSpPr/>
          <p:nvPr/>
        </p:nvSpPr>
        <p:spPr>
          <a:xfrm>
            <a:off x="762000" y="5969000"/>
            <a:ext cx="10668000" cy="558800"/>
          </a:xfrm>
          <a:prstGeom prst="roundRect">
            <a:avLst>
              <a:gd name="adj" fmla="val 0"/>
            </a:avLst>
          </a:prstGeom>
          <a:solidFill>
            <a:srgbClr val="1F293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89000" y="5969000"/>
            <a:ext cx="10414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 性能洞察：</a:t>
            </a:r>
            <a:r>
              <a:rPr lang="en-US" sz="1400" b="0" i="0" u="none" strike="noStrike">
                <a:solidFill>
                  <a:srgbClr val="374151"/>
                </a:solidFill>
                <a:latin typeface="Noto Sans SC"/>
                <a:ea typeface="Noto Sans SC"/>
                <a:cs typeface="Noto Sans SC"/>
                <a:sym typeface="Noto Sans SC"/>
              </a:rPr>
              <a:t>向量化运算通过减少 Python 与 C 语言之间的交互开销，将计算效率提升 10 倍甚至 100 倍以上。</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基本运算示例</a:t>
            </a:r>
            <a:endParaRPr lang="en-US" sz="1100"/>
          </a:p>
        </p:txBody>
      </p:sp>
      <p:sp>
        <p:nvSpPr>
          <p:cNvPr id="4" name="AutoShape 4"/>
          <p:cNvSpPr/>
          <p:nvPr/>
        </p:nvSpPr>
        <p:spPr>
          <a:xfrm>
            <a:off x="762000" y="1778000"/>
            <a:ext cx="10668000" cy="3556000"/>
          </a:xfrm>
          <a:prstGeom prst="roundRect">
            <a:avLst>
              <a:gd name="adj" fmla="val 0"/>
            </a:avLst>
          </a:prstGeom>
          <a:solidFill>
            <a:srgbClr val="1F2937">
              <a:alpha val="92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0066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95400" y="2006600"/>
            <a:ext cx="152400" cy="152400"/>
          </a:xfrm>
          <a:prstGeom prst="ellipse">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574800" y="2006600"/>
            <a:ext cx="152400" cy="152400"/>
          </a:xfrm>
          <a:prstGeom prst="ellipse">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968500" y="19685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Source Code Pro"/>
                <a:ea typeface="Source Code Pro"/>
                <a:cs typeface="Source Code Pro"/>
                <a:sym typeface="Source Code Pro"/>
              </a:rPr>
              <a:t>numpy_arithmetic.py</a:t>
            </a:r>
            <a:endParaRPr lang="en-US" sz="1100"/>
          </a:p>
        </p:txBody>
      </p:sp>
      <p:cxnSp>
        <p:nvCxnSpPr>
          <p:cNvPr id="9" name="Connector 9"/>
          <p:cNvCxnSpPr/>
          <p:nvPr/>
        </p:nvCxnSpPr>
        <p:spPr>
          <a:xfrm rot="-4092">
            <a:off x="762004" y="2406650"/>
            <a:ext cx="10668000" cy="12700"/>
          </a:xfrm>
          <a:prstGeom prst="straightConnector1">
            <a:avLst/>
          </a:prstGeom>
          <a:solidFill>
            <a:srgbClr val="DEE0E3">
              <a:alpha val="100000"/>
            </a:srgbClr>
          </a:solidFill>
          <a:ln w="12700" cap="flat" cmpd="sng">
            <a:solidFill>
              <a:srgbClr val="4B5563">
                <a:alpha val="100000"/>
              </a:srgbClr>
            </a:solidFill>
            <a:prstDash val="solid"/>
            <a:round/>
            <a:headEnd type="none" w="med" len="med"/>
            <a:tailEnd type="none" w="med" len="med"/>
          </a:ln>
        </p:spPr>
      </p:cxnSp>
      <p:sp>
        <p:nvSpPr>
          <p:cNvPr id="10" name="AutoShape 10"/>
          <p:cNvSpPr/>
          <p:nvPr/>
        </p:nvSpPr>
        <p:spPr>
          <a:xfrm>
            <a:off x="1016000" y="2667000"/>
            <a:ext cx="4953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C084FC"/>
                </a:solidFill>
                <a:latin typeface="Source Code Pro"/>
                <a:ea typeface="Source Code Pro"/>
                <a:cs typeface="Source Code Pro"/>
                <a:sym typeface="Source Code Pro"/>
              </a:rPr>
              <a:t>import</a:t>
            </a:r>
            <a:r>
              <a:rPr lang="en-US" sz="1400" b="0" i="0" u="none" strike="noStrike">
                <a:solidFill>
                  <a:srgbClr val="E5E7EB"/>
                </a:solidFill>
                <a:latin typeface="Source Code Pro"/>
                <a:ea typeface="Source Code Pro"/>
                <a:cs typeface="Source Code Pro"/>
                <a:sym typeface="Source Code Pro"/>
              </a:rPr>
              <a:t>numpy</a:t>
            </a:r>
            <a:r>
              <a:rPr lang="en-US" sz="1400" b="0" i="0" u="none" strike="noStrike">
                <a:solidFill>
                  <a:srgbClr val="C084FC"/>
                </a:solidFill>
                <a:latin typeface="Source Code Pro"/>
                <a:ea typeface="Source Code Pro"/>
                <a:cs typeface="Source Code Pro"/>
                <a:sym typeface="Source Code Pro"/>
              </a:rPr>
              <a:t>as</a:t>
            </a:r>
            <a:r>
              <a:rPr lang="en-US" sz="1400" b="0" i="0" u="none" strike="noStrike">
                <a:solidFill>
                  <a:srgbClr val="E5E7EB"/>
                </a:solidFill>
                <a:latin typeface="Source Code Pro"/>
                <a:ea typeface="Source Code Pro"/>
                <a:cs typeface="Source Code Pro"/>
                <a:sym typeface="Source Code Pro"/>
              </a:rPr>
              <a:t>np</a:t>
            </a:r>
            <a:endParaRPr lang="en-US" sz="1100"/>
          </a:p>
          <a:p>
            <a:pPr marL="0" indent="0" algn="l">
              <a:lnSpc>
                <a:spcPct val="125000"/>
              </a:lnSpc>
            </a:pPr>
            <a:r>
              <a:rPr lang="en-US" sz="1400" b="0" i="0" u="none" strike="noStrike">
                <a:solidFill>
                  <a:srgbClr val="E5E7EB"/>
                </a:solidFill>
                <a:latin typeface="Source Code Pro"/>
                <a:ea typeface="Source Code Pro"/>
                <a:cs typeface="Source Code Pro"/>
                <a:sym typeface="Source Code Pro"/>
              </a:rPr>
              <a:t>a = np.array([1, 2, 3]) # 定义数组 a</a:t>
            </a:r>
          </a:p>
          <a:p>
            <a:pPr marL="0" indent="0" algn="l">
              <a:lnSpc>
                <a:spcPct val="125000"/>
              </a:lnSpc>
            </a:pPr>
            <a:r>
              <a:rPr lang="en-US" sz="1400" b="0" i="0" u="none" strike="noStrike">
                <a:solidFill>
                  <a:srgbClr val="E5E7EB"/>
                </a:solidFill>
                <a:latin typeface="Source Code Pro"/>
                <a:ea typeface="Source Code Pro"/>
                <a:cs typeface="Source Code Pro"/>
                <a:sym typeface="Source Code Pro"/>
              </a:rPr>
              <a:t>b = np.array([4, 5, 6]) # 定义数组 b</a:t>
            </a:r>
          </a:p>
          <a:p>
            <a:pPr marL="0" indent="0" algn="l">
              <a:lnSpc>
                <a:spcPct val="125000"/>
              </a:lnSpc>
            </a:pPr>
            <a:r>
              <a:rPr lang="en-US" sz="1400" b="0" i="0" u="none" strike="noStrike">
                <a:solidFill>
                  <a:srgbClr val="6B7280"/>
                </a:solidFill>
                <a:latin typeface="Source Code Pro"/>
                <a:ea typeface="Source Code Pro"/>
                <a:cs typeface="Source Code Pro"/>
                <a:sym typeface="Source Code Pro"/>
              </a:rPr>
              <a:t># 基础算术：对应元素运算</a:t>
            </a:r>
          </a:p>
          <a:p>
            <a:pPr marL="0" indent="0" algn="l">
              <a:lnSpc>
                <a:spcPct val="125000"/>
              </a:lnSpc>
            </a:pPr>
            <a:r>
              <a:rPr lang="en-US" sz="1400" b="0" i="0" u="none" strike="noStrike">
                <a:solidFill>
                  <a:srgbClr val="E5E7EB"/>
                </a:solidFill>
                <a:latin typeface="Source Code Pro"/>
                <a:ea typeface="Source Code Pro"/>
                <a:cs typeface="Source Code Pro"/>
                <a:sym typeface="Source Code Pro"/>
              </a:rPr>
              <a:t>print("相加: ", a + b) # 输出 [5 7 9]</a:t>
            </a:r>
          </a:p>
          <a:p>
            <a:pPr marL="0" indent="0" algn="l">
              <a:lnSpc>
                <a:spcPct val="125000"/>
              </a:lnSpc>
            </a:pPr>
            <a:r>
              <a:rPr lang="en-US" sz="1400" b="0" i="0" u="none" strike="noStrike">
                <a:solidFill>
                  <a:srgbClr val="E5E7EB"/>
                </a:solidFill>
                <a:latin typeface="Source Code Pro"/>
                <a:ea typeface="Source Code Pro"/>
                <a:cs typeface="Source Code Pro"/>
                <a:sym typeface="Source Code Pro"/>
              </a:rPr>
              <a:t>print("相减: ", a - b) # 输出 [-3 -3 -3]</a:t>
            </a:r>
          </a:p>
        </p:txBody>
      </p:sp>
      <p:cxnSp>
        <p:nvCxnSpPr>
          <p:cNvPr id="11" name="Connector 11"/>
          <p:cNvCxnSpPr/>
          <p:nvPr/>
        </p:nvCxnSpPr>
        <p:spPr>
          <a:xfrm rot="5380901">
            <a:off x="4953000" y="3867168"/>
            <a:ext cx="2286000" cy="12700"/>
          </a:xfrm>
          <a:prstGeom prst="straightConnector1">
            <a:avLst/>
          </a:prstGeom>
          <a:solidFill>
            <a:srgbClr val="DEE0E3">
              <a:alpha val="100000"/>
            </a:srgbClr>
          </a:solidFill>
          <a:ln w="12700" cap="flat" cmpd="sng">
            <a:solidFill>
              <a:srgbClr val="4B5563">
                <a:alpha val="50000"/>
              </a:srgbClr>
            </a:solidFill>
            <a:prstDash val="dash"/>
            <a:round/>
            <a:headEnd type="none" w="med" len="med"/>
            <a:tailEnd type="none" w="med" len="med"/>
          </a:ln>
        </p:spPr>
      </p:cxnSp>
      <p:sp>
        <p:nvSpPr>
          <p:cNvPr id="12" name="AutoShape 12"/>
          <p:cNvSpPr/>
          <p:nvPr/>
        </p:nvSpPr>
        <p:spPr>
          <a:xfrm>
            <a:off x="6350000" y="2667000"/>
            <a:ext cx="4953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B7280"/>
                </a:solidFill>
                <a:latin typeface="Source Code Pro"/>
                <a:ea typeface="Source Code Pro"/>
                <a:cs typeface="Source Code Pro"/>
                <a:sym typeface="Source Code Pro"/>
              </a:rPr>
              <a:t># 进阶运算与广播机制</a:t>
            </a:r>
            <a:endParaRPr lang="en-US" sz="1100"/>
          </a:p>
          <a:p>
            <a:pPr marL="0" indent="0" algn="l">
              <a:lnSpc>
                <a:spcPct val="125000"/>
              </a:lnSpc>
            </a:pPr>
            <a:r>
              <a:rPr lang="en-US" sz="1400" b="0" i="0" u="none" strike="noStrike">
                <a:solidFill>
                  <a:srgbClr val="E5E7EB"/>
                </a:solidFill>
                <a:latin typeface="Source Code Pro"/>
                <a:ea typeface="Source Code Pro"/>
                <a:cs typeface="Source Code Pro"/>
                <a:sym typeface="Source Code Pro"/>
              </a:rPr>
              <a:t>print("乘除: ", a * b, a / b)</a:t>
            </a:r>
          </a:p>
          <a:p>
            <a:pPr marL="0" indent="0" algn="l">
              <a:lnSpc>
                <a:spcPct val="125000"/>
              </a:lnSpc>
            </a:pPr>
            <a:r>
              <a:rPr lang="en-US" sz="1400" b="0" i="0" u="none" strike="noStrike">
                <a:solidFill>
                  <a:srgbClr val="E5E7EB"/>
                </a:solidFill>
                <a:latin typeface="Source Code Pro"/>
                <a:ea typeface="Source Code Pro"/>
                <a:cs typeface="Source Code Pro"/>
                <a:sym typeface="Source Code Pro"/>
              </a:rPr>
              <a:t>print("平方: ", a ** 2) # 输出 [1 4 9]</a:t>
            </a:r>
          </a:p>
          <a:p>
            <a:pPr marL="0" indent="0" algn="l">
              <a:lnSpc>
                <a:spcPct val="125000"/>
              </a:lnSpc>
            </a:pPr>
            <a:r>
              <a:rPr lang="en-US" sz="1400" b="0" i="0" u="none" strike="noStrike">
                <a:solidFill>
                  <a:srgbClr val="E5E7EB"/>
                </a:solidFill>
                <a:latin typeface="Source Code Pro"/>
                <a:ea typeface="Source Code Pro"/>
                <a:cs typeface="Source Code Pro"/>
                <a:sym typeface="Source Code Pro"/>
              </a:rPr>
              <a:t># 标量与数组运算</a:t>
            </a:r>
          </a:p>
          <a:p>
            <a:pPr marL="0" indent="0" algn="l">
              <a:lnSpc>
                <a:spcPct val="125000"/>
              </a:lnSpc>
            </a:pPr>
            <a:r>
              <a:rPr lang="en-US" sz="1400" b="0" i="0" u="none" strike="noStrike">
                <a:solidFill>
                  <a:srgbClr val="E5E7EB"/>
                </a:solidFill>
                <a:latin typeface="Source Code Pro"/>
                <a:ea typeface="Source Code Pro"/>
                <a:cs typeface="Source Code Pro"/>
                <a:sym typeface="Source Code Pro"/>
              </a:rPr>
              <a:t>result = a + 10 # 广播加法</a:t>
            </a:r>
          </a:p>
          <a:p>
            <a:pPr marL="0" indent="0" algn="l">
              <a:lnSpc>
                <a:spcPct val="125000"/>
              </a:lnSpc>
            </a:pPr>
            <a:r>
              <a:rPr lang="en-US" sz="1400" b="0" i="0" u="none" strike="noStrike">
                <a:solidFill>
                  <a:srgbClr val="E5E7EB"/>
                </a:solidFill>
                <a:latin typeface="Source Code Pro"/>
                <a:ea typeface="Source Code Pro"/>
                <a:cs typeface="Source Code Pro"/>
                <a:sym typeface="Source Code Pro"/>
              </a:rPr>
              <a:t>print("加标量: ", result) # 输出 [11 12 13]</a:t>
            </a:r>
          </a:p>
        </p:txBody>
      </p:sp>
      <p:sp>
        <p:nvSpPr>
          <p:cNvPr id="13" name="AutoShape 13"/>
          <p:cNvSpPr/>
          <p:nvPr/>
        </p:nvSpPr>
        <p:spPr>
          <a:xfrm>
            <a:off x="762000" y="5588000"/>
            <a:ext cx="10668000" cy="762000"/>
          </a:xfrm>
          <a:prstGeom prst="roundRect">
            <a:avLst>
              <a:gd name="adj" fmla="val 0"/>
            </a:avLst>
          </a:prstGeom>
          <a:solidFill>
            <a:srgbClr val="3B82F6">
              <a:alpha val="10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816600"/>
            <a:ext cx="304800" cy="304800"/>
          </a:xfrm>
          <a:prstGeom prst="rect">
            <a:avLst/>
          </a:prstGeom>
        </p:spPr>
      </p:pic>
      <p:sp>
        <p:nvSpPr>
          <p:cNvPr id="15" name="AutoShape 15"/>
          <p:cNvSpPr/>
          <p:nvPr/>
        </p:nvSpPr>
        <p:spPr>
          <a:xfrm>
            <a:off x="1397000" y="5740400"/>
            <a:ext cx="990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E40AF"/>
                </a:solidFill>
                <a:latin typeface="Noto Sans SC"/>
                <a:ea typeface="Noto Sans SC"/>
                <a:cs typeface="Noto Sans SC"/>
                <a:sym typeface="Noto Sans SC"/>
              </a:rPr>
              <a:t>核心要点：</a:t>
            </a:r>
            <a:r>
              <a:rPr lang="en-US" sz="1400" b="0" i="0" u="none" strike="noStrike">
                <a:solidFill>
                  <a:srgbClr val="374151"/>
                </a:solidFill>
                <a:latin typeface="Noto Sans SC"/>
                <a:ea typeface="Noto Sans SC"/>
                <a:cs typeface="Noto Sans SC"/>
                <a:sym typeface="Noto Sans SC"/>
              </a:rPr>
              <a:t>NumPy 数组运算默认是</a:t>
            </a:r>
            <a:r>
              <a:rPr lang="en-US" sz="1400" b="1" i="0" u="none" strike="noStrike">
                <a:solidFill>
                  <a:srgbClr val="374151"/>
                </a:solidFill>
                <a:latin typeface="Noto Sans SC"/>
                <a:ea typeface="Noto Sans SC"/>
                <a:cs typeface="Noto Sans SC"/>
                <a:sym typeface="Noto Sans SC"/>
              </a:rPr>
              <a:t>元素级</a:t>
            </a:r>
            <a:r>
              <a:rPr lang="en-US" sz="1400" b="0" i="0" u="none" strike="noStrike">
                <a:solidFill>
                  <a:srgbClr val="374151"/>
                </a:solidFill>
                <a:latin typeface="Noto Sans SC"/>
                <a:ea typeface="Noto Sans SC"/>
                <a:cs typeface="Noto Sans SC"/>
                <a:sym typeface="Noto Sans SC"/>
              </a:rPr>
              <a:t>的（Element-wise）。若需进行线性代数中的矩阵乘法，请使用 np.dot() 或 @ 运算符。</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2.2 数组操作：索引与切片</a:t>
            </a:r>
            <a:endParaRPr lang="en-US" sz="1100"/>
          </a:p>
        </p:txBody>
      </p:sp>
      <p:sp>
        <p:nvSpPr>
          <p:cNvPr id="4" name="AutoShape 4"/>
          <p:cNvSpPr/>
          <p:nvPr/>
        </p:nvSpPr>
        <p:spPr>
          <a:xfrm>
            <a:off x="762000" y="1587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4B5563"/>
                </a:solidFill>
                <a:latin typeface="Noto Sans SC"/>
                <a:ea typeface="Noto Sans SC"/>
                <a:cs typeface="Noto Sans SC"/>
                <a:sym typeface="Noto Sans SC"/>
              </a:rPr>
              <a:t>NumPy数组的索引和切片机制与Python列表高度相似，但针对多维数据结构进行了深度优化，能够更高效地访问和处理复杂的数组元素，是数据分析与科学计算的基础操作。</a:t>
            </a:r>
            <a:endParaRPr lang="en-US" sz="1100"/>
          </a:p>
        </p:txBody>
      </p:sp>
      <p:sp>
        <p:nvSpPr>
          <p:cNvPr id="5" name="AutoShape 5"/>
          <p:cNvSpPr/>
          <p:nvPr/>
        </p:nvSpPr>
        <p:spPr>
          <a:xfrm>
            <a:off x="762000" y="2667000"/>
            <a:ext cx="5207000" cy="2984500"/>
          </a:xfrm>
          <a:prstGeom prst="roundRect">
            <a:avLst>
              <a:gd name="adj" fmla="val 0"/>
            </a:avLst>
          </a:prstGeom>
          <a:solidFill>
            <a:srgbClr val="FFFFFF">
              <a:alpha val="6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2857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01 一维数组：对标 Python 列表</a:t>
            </a:r>
            <a:endParaRPr lang="en-US" sz="1100"/>
          </a:p>
        </p:txBody>
      </p:sp>
      <p:sp>
        <p:nvSpPr>
          <p:cNvPr id="7" name="AutoShape 7"/>
          <p:cNvSpPr/>
          <p:nvPr/>
        </p:nvSpPr>
        <p:spPr>
          <a:xfrm>
            <a:off x="1016000" y="3365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74151"/>
                </a:solidFill>
                <a:latin typeface="Noto Sans SC"/>
                <a:ea typeface="Noto Sans SC"/>
                <a:cs typeface="Noto Sans SC"/>
                <a:sym typeface="Noto Sans SC"/>
              </a:rPr>
              <a:t>语法与原生列表完全一致，支持正/负索引与灵活的切片，上手零成本，是处理序列数据的基础。</a:t>
            </a:r>
            <a:endParaRPr lang="en-US" sz="1100"/>
          </a:p>
        </p:txBody>
      </p:sp>
      <p:sp>
        <p:nvSpPr>
          <p:cNvPr id="8" name="AutoShape 8"/>
          <p:cNvSpPr/>
          <p:nvPr/>
        </p:nvSpPr>
        <p:spPr>
          <a:xfrm>
            <a:off x="1016000" y="4127500"/>
            <a:ext cx="4699000" cy="1333500"/>
          </a:xfrm>
          <a:prstGeom prst="roundRect">
            <a:avLst>
              <a:gd name="adj" fmla="val 0"/>
            </a:avLst>
          </a:prstGeom>
          <a:solidFill>
            <a:srgbClr val="1F2937">
              <a:alpha val="6000"/>
            </a:srgbClr>
          </a:solidFill>
          <a:ln cap="flat" cmpd="sng">
            <a:solidFill>
              <a:srgbClr val="0E141E">
                <a:alpha val="6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143000" y="4254500"/>
            <a:ext cx="4445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Source Code Pro"/>
                <a:ea typeface="Source Code Pro"/>
                <a:cs typeface="Source Code Pro"/>
                <a:sym typeface="Source Code Pro"/>
              </a:rPr>
              <a:t>arr = np.array([10, 20, 30, 40, 50])</a:t>
            </a:r>
            <a:br>
              <a:rPr lang="en-US" sz="1300" b="0" i="0" u="none" strike="noStrike">
                <a:solidFill>
                  <a:srgbClr val="4B5563"/>
                </a:solidFill>
                <a:latin typeface="Source Code Pro"/>
                <a:ea typeface="Source Code Pro"/>
                <a:cs typeface="Source Code Pro"/>
                <a:sym typeface="Source Code Pro"/>
              </a:rPr>
            </a:br>
            <a:r>
              <a:rPr lang="en-US" sz="1300" b="0" i="0" u="none" strike="noStrike">
                <a:solidFill>
                  <a:srgbClr val="4B5563"/>
                </a:solidFill>
                <a:latin typeface="Source Code Pro"/>
                <a:ea typeface="Source Code Pro"/>
                <a:cs typeface="Source Code Pro"/>
                <a:sym typeface="Source Code Pro"/>
              </a:rPr>
              <a:t>print(arr[0]) # 取首个元素 → 10</a:t>
            </a:r>
            <a:br>
              <a:rPr lang="en-US" sz="1300" b="0" i="0" u="none" strike="noStrike">
                <a:solidFill>
                  <a:srgbClr val="4B5563"/>
                </a:solidFill>
                <a:latin typeface="Source Code Pro"/>
                <a:ea typeface="Source Code Pro"/>
                <a:cs typeface="Source Code Pro"/>
                <a:sym typeface="Source Code Pro"/>
              </a:rPr>
            </a:br>
            <a:r>
              <a:rPr lang="en-US" sz="1300" b="0" i="0" u="none" strike="noStrike">
                <a:solidFill>
                  <a:srgbClr val="4B5563"/>
                </a:solidFill>
                <a:latin typeface="Source Code Pro"/>
                <a:ea typeface="Source Code Pro"/>
                <a:cs typeface="Source Code Pro"/>
                <a:sym typeface="Source Code Pro"/>
              </a:rPr>
              <a:t>print(arr[1:4]) # 切片取值 → [20 30 40]</a:t>
            </a:r>
            <a:br>
              <a:rPr lang="en-US" sz="1300" b="0" i="0" u="none" strike="noStrike">
                <a:solidFill>
                  <a:srgbClr val="4B5563"/>
                </a:solidFill>
                <a:latin typeface="Source Code Pro"/>
                <a:ea typeface="Source Code Pro"/>
                <a:cs typeface="Source Code Pro"/>
                <a:sym typeface="Source Code Pro"/>
              </a:rPr>
            </a:br>
            <a:r>
              <a:rPr lang="en-US" sz="1300" b="0" i="0" u="none" strike="noStrike">
                <a:solidFill>
                  <a:srgbClr val="4B5563"/>
                </a:solidFill>
                <a:latin typeface="Source Code Pro"/>
                <a:ea typeface="Source Code Pro"/>
                <a:cs typeface="Source Code Pro"/>
                <a:sym typeface="Source Code Pro"/>
              </a:rPr>
              <a:t>print(arr[-1]) # 取末尾元素 → 50</a:t>
            </a:r>
            <a:endParaRPr lang="en-US" sz="1100"/>
          </a:p>
        </p:txBody>
      </p:sp>
      <p:sp>
        <p:nvSpPr>
          <p:cNvPr id="10" name="AutoShape 10"/>
          <p:cNvSpPr/>
          <p:nvPr/>
        </p:nvSpPr>
        <p:spPr>
          <a:xfrm>
            <a:off x="6223000" y="2667000"/>
            <a:ext cx="5207000" cy="2984500"/>
          </a:xfrm>
          <a:prstGeom prst="roundRect">
            <a:avLst>
              <a:gd name="adj" fmla="val 0"/>
            </a:avLst>
          </a:prstGeom>
          <a:solidFill>
            <a:srgbClr val="FFFFFF">
              <a:alpha val="6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477000" y="2857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02 多维数组：逗号分隔维度</a:t>
            </a:r>
            <a:endParaRPr lang="en-US" sz="1100"/>
          </a:p>
        </p:txBody>
      </p:sp>
      <p:sp>
        <p:nvSpPr>
          <p:cNvPr id="12" name="AutoShape 12"/>
          <p:cNvSpPr/>
          <p:nvPr/>
        </p:nvSpPr>
        <p:spPr>
          <a:xfrm>
            <a:off x="6477000" y="3365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74151"/>
                </a:solidFill>
                <a:latin typeface="Noto Sans SC"/>
                <a:ea typeface="Noto Sans SC"/>
                <a:cs typeface="Noto Sans SC"/>
                <a:sym typeface="Noto Sans SC"/>
              </a:rPr>
              <a:t>引入逗号 `,` 作为维度分隔符，可精准定位矩阵中的行与列，轻松提取子矩阵或特定元素。</a:t>
            </a:r>
            <a:endParaRPr lang="en-US" sz="1100"/>
          </a:p>
        </p:txBody>
      </p:sp>
      <p:sp>
        <p:nvSpPr>
          <p:cNvPr id="13" name="AutoShape 13"/>
          <p:cNvSpPr/>
          <p:nvPr/>
        </p:nvSpPr>
        <p:spPr>
          <a:xfrm>
            <a:off x="6477000" y="4127500"/>
            <a:ext cx="4699000" cy="1333500"/>
          </a:xfrm>
          <a:prstGeom prst="roundRect">
            <a:avLst>
              <a:gd name="adj" fmla="val 0"/>
            </a:avLst>
          </a:prstGeom>
          <a:solidFill>
            <a:srgbClr val="1F2937">
              <a:alpha val="6000"/>
            </a:srgbClr>
          </a:solidFill>
          <a:ln cap="flat" cmpd="sng">
            <a:solidFill>
              <a:srgbClr val="0E141E">
                <a:alpha val="6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604000" y="4254500"/>
            <a:ext cx="4445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Source Code Pro"/>
                <a:ea typeface="Source Code Pro"/>
                <a:cs typeface="Source Code Pro"/>
                <a:sym typeface="Source Code Pro"/>
              </a:rPr>
              <a:t>arr = np.array([[1,2], [3,4], [5,6]])</a:t>
            </a:r>
            <a:br>
              <a:rPr lang="en-US" sz="1300" b="0" i="0" u="none" strike="noStrike">
                <a:solidFill>
                  <a:srgbClr val="4B5563"/>
                </a:solidFill>
                <a:latin typeface="Source Code Pro"/>
                <a:ea typeface="Source Code Pro"/>
                <a:cs typeface="Source Code Pro"/>
                <a:sym typeface="Source Code Pro"/>
              </a:rPr>
            </a:br>
            <a:r>
              <a:rPr lang="en-US" sz="1300" b="0" i="0" u="none" strike="noStrike">
                <a:solidFill>
                  <a:srgbClr val="4B5563"/>
                </a:solidFill>
                <a:latin typeface="Source Code Pro"/>
                <a:ea typeface="Source Code Pro"/>
                <a:cs typeface="Source Code Pro"/>
                <a:sym typeface="Source Code Pro"/>
              </a:rPr>
              <a:t>print(arr[1, 0]) # 第2行第1列 → 3</a:t>
            </a:r>
            <a:br>
              <a:rPr lang="en-US" sz="1300" b="0" i="0" u="none" strike="noStrike">
                <a:solidFill>
                  <a:srgbClr val="4B5563"/>
                </a:solidFill>
                <a:latin typeface="Source Code Pro"/>
                <a:ea typeface="Source Code Pro"/>
                <a:cs typeface="Source Code Pro"/>
                <a:sym typeface="Source Code Pro"/>
              </a:rPr>
            </a:br>
            <a:r>
              <a:rPr lang="en-US" sz="1300" b="0" i="0" u="none" strike="noStrike">
                <a:solidFill>
                  <a:srgbClr val="4B5563"/>
                </a:solidFill>
                <a:latin typeface="Source Code Pro"/>
                <a:ea typeface="Source Code Pro"/>
                <a:cs typeface="Source Code Pro"/>
                <a:sym typeface="Source Code Pro"/>
              </a:rPr>
              <a:t>print(arr[:, 1]) # 所有行的第2列 → [2 4 6]</a:t>
            </a:r>
            <a:br>
              <a:rPr lang="en-US" sz="1300" b="0" i="0" u="none" strike="noStrike">
                <a:solidFill>
                  <a:srgbClr val="4B5563"/>
                </a:solidFill>
                <a:latin typeface="Source Code Pro"/>
                <a:ea typeface="Source Code Pro"/>
                <a:cs typeface="Source Code Pro"/>
                <a:sym typeface="Source Code Pro"/>
              </a:rPr>
            </a:br>
            <a:r>
              <a:rPr lang="en-US" sz="1300" b="0" i="0" u="none" strike="noStrike">
                <a:solidFill>
                  <a:srgbClr val="4B5563"/>
                </a:solidFill>
                <a:latin typeface="Source Code Pro"/>
                <a:ea typeface="Source Code Pro"/>
                <a:cs typeface="Source Code Pro"/>
                <a:sym typeface="Source Code Pro"/>
              </a:rPr>
              <a:t>print(arr[0:2, :])# 前2行所有列 → [[1 2] [3 4]]</a:t>
            </a:r>
            <a:endParaRPr lang="en-US" sz="1100"/>
          </a:p>
        </p:txBody>
      </p:sp>
      <p:sp>
        <p:nvSpPr>
          <p:cNvPr id="15" name="AutoShape 15"/>
          <p:cNvSpPr/>
          <p:nvPr/>
        </p:nvSpPr>
        <p:spPr>
          <a:xfrm>
            <a:off x="762000" y="5905500"/>
            <a:ext cx="10668000" cy="558800"/>
          </a:xfrm>
          <a:prstGeom prst="roundRect">
            <a:avLst>
              <a:gd name="adj" fmla="val 0"/>
            </a:avLst>
          </a:prstGeom>
          <a:solidFill>
            <a:srgbClr val="1F2937">
              <a:alpha val="8000"/>
            </a:srgbClr>
          </a:solidFill>
          <a:ln cap="flat" cmpd="sng">
            <a:solidFill>
              <a:srgbClr val="0E141E">
                <a:alpha val="8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952500" y="6045200"/>
            <a:ext cx="1041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a:ea typeface="Noto Sans SC"/>
                <a:cs typeface="Noto Sans SC"/>
                <a:sym typeface="Noto Sans SC"/>
              </a:rPr>
              <a:t>💡 核心特性：NumPy切片返回的是原数组的“视图”而非“副本”，修改切片内容会直接改变原数组，极大提升了大数据处理的内存效率。</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多维数组索引与切片示例</a:t>
            </a:r>
            <a:endParaRPr lang="en-US" sz="1100"/>
          </a:p>
        </p:txBody>
      </p:sp>
      <p:sp>
        <p:nvSpPr>
          <p:cNvPr id="4" name="AutoShape 4"/>
          <p:cNvSpPr/>
          <p:nvPr/>
        </p:nvSpPr>
        <p:spPr>
          <a:xfrm>
            <a:off x="762000" y="1905000"/>
            <a:ext cx="10668000" cy="2921000"/>
          </a:xfrm>
          <a:prstGeom prst="roundRect">
            <a:avLst>
              <a:gd name="adj" fmla="val 0"/>
            </a:avLst>
          </a:prstGeom>
          <a:solidFill>
            <a:srgbClr val="1F2937">
              <a:alpha val="85000"/>
            </a:srgbClr>
          </a:solidFill>
          <a:ln w="12700" cap="flat" cmpd="sng">
            <a:solidFill>
              <a:srgbClr val="4B5563">
                <a:alpha val="6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095500"/>
            <a:ext cx="101600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7DD3FC"/>
                </a:solidFill>
                <a:latin typeface="Roboto Mono"/>
                <a:ea typeface="Roboto Mono"/>
                <a:cs typeface="Roboto Mono"/>
                <a:sym typeface="Roboto Mono"/>
              </a:rPr>
              <a:t>import numpy as np</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E5E7EB"/>
                </a:solidFill>
                <a:latin typeface="Roboto Mono"/>
                <a:ea typeface="Roboto Mono"/>
                <a:cs typeface="Roboto Mono"/>
                <a:sym typeface="Roboto Mono"/>
              </a:rPr>
              <a:t>arr = np.array([[1, 2, 3], [4, 5, 6], [7, 8, 9]])</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9CA3AF"/>
                </a:solidFill>
                <a:latin typeface="Roboto Mono"/>
                <a:ea typeface="Roboto Mono"/>
                <a:cs typeface="Roboto Mono"/>
                <a:sym typeface="Roboto Mono"/>
              </a:rPr>
              <a:t># 1. 基础索引：获取第一行 / 第二列所有行</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A7F3D0"/>
                </a:solidFill>
                <a:latin typeface="Roboto Mono"/>
                <a:ea typeface="Roboto Mono"/>
                <a:cs typeface="Roboto Mono"/>
                <a:sym typeface="Roboto Mono"/>
              </a:rPr>
              <a:t>print(arr[0], arr[:, 1])</a:t>
            </a:r>
            <a:r>
              <a:rPr lang="en-US" sz="1400" b="0" i="0" u="none" strike="noStrike">
                <a:solidFill>
                  <a:srgbClr val="6B7280"/>
                </a:solidFill>
                <a:latin typeface="Roboto Mono"/>
                <a:ea typeface="Roboto Mono"/>
                <a:cs typeface="Roboto Mono"/>
                <a:sym typeface="Roboto Mono"/>
              </a:rPr>
              <a:t># → [1 2 3] [2 5 8]</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9CA3AF"/>
                </a:solidFill>
                <a:latin typeface="Roboto Mono"/>
                <a:ea typeface="Roboto Mono"/>
                <a:cs typeface="Roboto Mono"/>
                <a:sym typeface="Roboto Mono"/>
              </a:rPr>
              <a:t># 2. 高级应用：切片截取子矩阵 + 条件筛选</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A7F3D0"/>
                </a:solidFill>
                <a:latin typeface="Roboto Mono"/>
                <a:ea typeface="Roboto Mono"/>
                <a:cs typeface="Roboto Mono"/>
                <a:sym typeface="Roboto Mono"/>
              </a:rPr>
              <a:t>print(arr[1:3, 0:2], arr[arr &gt; 5])</a:t>
            </a:r>
            <a:endParaRPr lang="en-US" sz="1100"/>
          </a:p>
        </p:txBody>
      </p:sp>
      <p:sp>
        <p:nvSpPr>
          <p:cNvPr id="6" name="AutoShape 6"/>
          <p:cNvSpPr/>
          <p:nvPr/>
        </p:nvSpPr>
        <p:spPr>
          <a:xfrm>
            <a:off x="762000" y="5080000"/>
            <a:ext cx="3378200" cy="1397000"/>
          </a:xfrm>
          <a:prstGeom prst="roundRect">
            <a:avLst>
              <a:gd name="adj" fmla="val 0"/>
            </a:avLst>
          </a:prstGeom>
          <a:solidFill>
            <a:srgbClr val="F3F4F6">
              <a:alpha val="6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89000" y="5207000"/>
            <a:ext cx="3124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937"/>
                </a:solidFill>
                <a:latin typeface="Noto Sans SC"/>
                <a:ea typeface="Noto Sans SC"/>
                <a:cs typeface="Noto Sans SC"/>
                <a:sym typeface="Noto Sans SC"/>
              </a:rPr>
              <a:t>📌 基础索引</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使用整数下标访问单个元素或整行/整列，是最常用的索引方式，直接定位数据位置。</a:t>
            </a:r>
            <a:endParaRPr lang="en-US" sz="1100"/>
          </a:p>
        </p:txBody>
      </p:sp>
      <p:sp>
        <p:nvSpPr>
          <p:cNvPr id="8" name="AutoShape 8"/>
          <p:cNvSpPr/>
          <p:nvPr/>
        </p:nvSpPr>
        <p:spPr>
          <a:xfrm>
            <a:off x="4406900" y="5080000"/>
            <a:ext cx="3378200" cy="1397000"/>
          </a:xfrm>
          <a:prstGeom prst="roundRect">
            <a:avLst>
              <a:gd name="adj" fmla="val 0"/>
            </a:avLst>
          </a:prstGeom>
          <a:solidFill>
            <a:srgbClr val="F3F4F6">
              <a:alpha val="6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533900" y="5207000"/>
            <a:ext cx="3124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937"/>
                </a:solidFill>
                <a:latin typeface="Noto Sans SC"/>
                <a:ea typeface="Noto Sans SC"/>
                <a:cs typeface="Noto Sans SC"/>
                <a:sym typeface="Noto Sans SC"/>
              </a:rPr>
              <a:t>✂️ 切片截取</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通过 [起始:结束] 语法截取连续的子数组，支持多维同时切片，灵活获取数据子集。</a:t>
            </a:r>
            <a:endParaRPr lang="en-US" sz="1100"/>
          </a:p>
        </p:txBody>
      </p:sp>
      <p:sp>
        <p:nvSpPr>
          <p:cNvPr id="10" name="AutoShape 10"/>
          <p:cNvSpPr/>
          <p:nvPr/>
        </p:nvSpPr>
        <p:spPr>
          <a:xfrm>
            <a:off x="8051800" y="5080000"/>
            <a:ext cx="3378200" cy="1397000"/>
          </a:xfrm>
          <a:prstGeom prst="roundRect">
            <a:avLst>
              <a:gd name="adj" fmla="val 0"/>
            </a:avLst>
          </a:prstGeom>
          <a:solidFill>
            <a:srgbClr val="F3F4F6">
              <a:alpha val="6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178800" y="5207000"/>
            <a:ext cx="3124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937"/>
                </a:solidFill>
                <a:latin typeface="Noto Sans SC"/>
                <a:ea typeface="Noto Sans SC"/>
                <a:cs typeface="Noto Sans SC"/>
                <a:sym typeface="Noto Sans SC"/>
              </a:rPr>
              <a:t>⚡ 条件筛选</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利用布尔数组进行数据过滤，可快速提取满足特定条件（如大于阈值）的元素。</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2.3 数组操作：广播机制 (Broadcasting)</a:t>
            </a:r>
            <a:endParaRPr lang="en-US" sz="1100"/>
          </a:p>
        </p:txBody>
      </p:sp>
      <p:sp>
        <p:nvSpPr>
          <p:cNvPr id="4" name="AutoShape 4"/>
          <p:cNvSpPr/>
          <p:nvPr/>
        </p:nvSpPr>
        <p:spPr>
          <a:xfrm>
            <a:off x="762000" y="18415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4B5563"/>
                </a:solidFill>
                <a:latin typeface="Noto Sans SC"/>
                <a:ea typeface="Noto Sans SC"/>
                <a:cs typeface="Noto Sans SC"/>
                <a:sym typeface="Noto Sans SC"/>
              </a:rPr>
              <a:t>广播是 NumPy 实现不同形状数组间算术运算的核心机制。它通过隐式扩展较小数组的维度，使其在逻辑上与较大数组形状兼容，从而在不实际复制数据的前提下高效完成逐元素计算。</a:t>
            </a:r>
            <a:endParaRPr lang="en-US" sz="1100"/>
          </a:p>
        </p:txBody>
      </p:sp>
      <p:sp>
        <p:nvSpPr>
          <p:cNvPr id="5" name="AutoShape 5"/>
          <p:cNvSpPr/>
          <p:nvPr/>
        </p:nvSpPr>
        <p:spPr>
          <a:xfrm>
            <a:off x="762000" y="3048000"/>
            <a:ext cx="5207000" cy="1651000"/>
          </a:xfrm>
          <a:prstGeom prst="roundRect">
            <a:avLst>
              <a:gd name="adj" fmla="val 0"/>
            </a:avLst>
          </a:prstGeom>
          <a:solidFill>
            <a:srgbClr val="FFFFFF">
              <a:alpha val="5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276600"/>
            <a:ext cx="406400" cy="406400"/>
          </a:xfrm>
          <a:prstGeom prst="rect">
            <a:avLst/>
          </a:prstGeom>
        </p:spPr>
      </p:pic>
      <p:sp>
        <p:nvSpPr>
          <p:cNvPr id="7" name="AutoShape 7"/>
          <p:cNvSpPr/>
          <p:nvPr/>
        </p:nvSpPr>
        <p:spPr>
          <a:xfrm>
            <a:off x="1524000" y="3276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维度对齐原则</a:t>
            </a:r>
            <a:endParaRPr lang="en-US" sz="1100"/>
          </a:p>
        </p:txBody>
      </p:sp>
      <p:sp>
        <p:nvSpPr>
          <p:cNvPr id="8" name="AutoShape 8"/>
          <p:cNvSpPr/>
          <p:nvPr/>
        </p:nvSpPr>
        <p:spPr>
          <a:xfrm>
            <a:off x="1016000" y="37846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从右往左依次比较两个数组的维度大小，这是广播判断的起点。若维度数量不一致，则在较小数组的左侧补1，直至维度数量匹配。</a:t>
            </a:r>
            <a:endParaRPr lang="en-US" sz="1100"/>
          </a:p>
        </p:txBody>
      </p:sp>
      <p:sp>
        <p:nvSpPr>
          <p:cNvPr id="9" name="AutoShape 9"/>
          <p:cNvSpPr/>
          <p:nvPr/>
        </p:nvSpPr>
        <p:spPr>
          <a:xfrm>
            <a:off x="6223000" y="3048000"/>
            <a:ext cx="5207000" cy="1651000"/>
          </a:xfrm>
          <a:prstGeom prst="roundRect">
            <a:avLst>
              <a:gd name="adj" fmla="val 0"/>
            </a:avLst>
          </a:prstGeom>
          <a:solidFill>
            <a:srgbClr val="FFFFFF">
              <a:alpha val="5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3276600"/>
            <a:ext cx="406400" cy="406400"/>
          </a:xfrm>
          <a:prstGeom prst="rect">
            <a:avLst/>
          </a:prstGeom>
        </p:spPr>
      </p:pic>
      <p:sp>
        <p:nvSpPr>
          <p:cNvPr id="11" name="AutoShape 11"/>
          <p:cNvSpPr/>
          <p:nvPr/>
        </p:nvSpPr>
        <p:spPr>
          <a:xfrm>
            <a:off x="6985000" y="3276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维度兼容条件</a:t>
            </a:r>
            <a:endParaRPr lang="en-US" sz="1100"/>
          </a:p>
        </p:txBody>
      </p:sp>
      <p:sp>
        <p:nvSpPr>
          <p:cNvPr id="12" name="AutoShape 12"/>
          <p:cNvSpPr/>
          <p:nvPr/>
        </p:nvSpPr>
        <p:spPr>
          <a:xfrm>
            <a:off x="6477000" y="37846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对应维度的大小必须完全相等，或者其中一个维度的大小为 1。满足此条件时，NumPy 会自动将大小为 1 的维度“拉伸”以匹配另一数组的维度。</a:t>
            </a:r>
            <a:endParaRPr lang="en-US" sz="1100"/>
          </a:p>
        </p:txBody>
      </p:sp>
      <p:sp>
        <p:nvSpPr>
          <p:cNvPr id="13" name="AutoShape 13"/>
          <p:cNvSpPr/>
          <p:nvPr/>
        </p:nvSpPr>
        <p:spPr>
          <a:xfrm>
            <a:off x="762000" y="5016500"/>
            <a:ext cx="5207000" cy="1270000"/>
          </a:xfrm>
          <a:prstGeom prst="roundRect">
            <a:avLst>
              <a:gd name="adj" fmla="val 0"/>
            </a:avLst>
          </a:prstGeom>
          <a:solidFill>
            <a:srgbClr val="FFFFFF">
              <a:alpha val="5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245100"/>
            <a:ext cx="355600" cy="355600"/>
          </a:xfrm>
          <a:prstGeom prst="rect">
            <a:avLst/>
          </a:prstGeom>
        </p:spPr>
      </p:pic>
      <p:sp>
        <p:nvSpPr>
          <p:cNvPr id="15" name="AutoShape 15"/>
          <p:cNvSpPr/>
          <p:nvPr/>
        </p:nvSpPr>
        <p:spPr>
          <a:xfrm>
            <a:off x="1524000" y="52451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极致的内存效率</a:t>
            </a:r>
            <a:endParaRPr lang="en-US" sz="1100"/>
          </a:p>
        </p:txBody>
      </p:sp>
      <p:sp>
        <p:nvSpPr>
          <p:cNvPr id="16" name="AutoShape 16"/>
          <p:cNvSpPr/>
          <p:nvPr/>
        </p:nvSpPr>
        <p:spPr>
          <a:xfrm>
            <a:off x="1016000" y="56896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避免了为匹配形状而进行的显式数据复制，显著减少内存占用，尤其在处理大规模数据集时优势巨大。</a:t>
            </a:r>
            <a:endParaRPr lang="en-US" sz="1100"/>
          </a:p>
        </p:txBody>
      </p:sp>
      <p:sp>
        <p:nvSpPr>
          <p:cNvPr id="17" name="AutoShape 17"/>
          <p:cNvSpPr/>
          <p:nvPr/>
        </p:nvSpPr>
        <p:spPr>
          <a:xfrm>
            <a:off x="6223000" y="5016500"/>
            <a:ext cx="5207000" cy="1270000"/>
          </a:xfrm>
          <a:prstGeom prst="roundRect">
            <a:avLst>
              <a:gd name="adj" fmla="val 0"/>
            </a:avLst>
          </a:prstGeom>
          <a:solidFill>
            <a:srgbClr val="FFFFFF">
              <a:alpha val="5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5245100"/>
            <a:ext cx="355600" cy="355600"/>
          </a:xfrm>
          <a:prstGeom prst="rect">
            <a:avLst/>
          </a:prstGeom>
        </p:spPr>
      </p:pic>
      <p:sp>
        <p:nvSpPr>
          <p:cNvPr id="19" name="AutoShape 19"/>
          <p:cNvSpPr/>
          <p:nvPr/>
        </p:nvSpPr>
        <p:spPr>
          <a:xfrm>
            <a:off x="6985000" y="52451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更简洁的代码逻辑</a:t>
            </a:r>
            <a:endParaRPr lang="en-US" sz="1100"/>
          </a:p>
        </p:txBody>
      </p:sp>
      <p:sp>
        <p:nvSpPr>
          <p:cNvPr id="20" name="AutoShape 20"/>
          <p:cNvSpPr/>
          <p:nvPr/>
        </p:nvSpPr>
        <p:spPr>
          <a:xfrm>
            <a:off x="6477000" y="56896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无需手动进行繁琐的 reshape 或 tile 操作，用直观的数学表达式即可实现复杂的数组运算，代码更易读、更简洁。</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广播机制示例 1: 标量与数组</a:t>
            </a:r>
            <a:endParaRPr lang="en-US" sz="1100"/>
          </a:p>
        </p:txBody>
      </p:sp>
      <p:sp>
        <p:nvSpPr>
          <p:cNvPr id="4" name="AutoShape 4"/>
          <p:cNvSpPr/>
          <p:nvPr/>
        </p:nvSpPr>
        <p:spPr>
          <a:xfrm>
            <a:off x="762000" y="1778000"/>
            <a:ext cx="10668000" cy="2667000"/>
          </a:xfrm>
          <a:prstGeom prst="roundRect">
            <a:avLst>
              <a:gd name="adj" fmla="val 0"/>
            </a:avLst>
          </a:prstGeom>
          <a:solidFill>
            <a:srgbClr val="1F2937">
              <a:alpha val="92000"/>
            </a:srgbClr>
          </a:solidFill>
          <a:ln w="12700" cap="flat" cmpd="sng">
            <a:solidFill>
              <a:srgbClr val="9CA3AF">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68500"/>
            <a:ext cx="10287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C084FC"/>
                </a:solidFill>
                <a:latin typeface="Roboto Mono"/>
                <a:ea typeface="Roboto Mono"/>
                <a:cs typeface="Roboto Mono"/>
                <a:sym typeface="Roboto Mono"/>
              </a:rPr>
              <a:t>import</a:t>
            </a:r>
            <a:r>
              <a:rPr lang="en-US" sz="1400" b="0" i="0" u="none" strike="noStrike">
                <a:solidFill>
                  <a:srgbClr val="E5E7EB"/>
                </a:solidFill>
                <a:latin typeface="Roboto Mono"/>
                <a:ea typeface="Roboto Mono"/>
                <a:cs typeface="Roboto Mono"/>
                <a:sym typeface="Roboto Mono"/>
              </a:rPr>
              <a:t>numpy</a:t>
            </a:r>
            <a:r>
              <a:rPr lang="en-US" sz="1400" b="0" i="0" u="none" strike="noStrike">
                <a:solidFill>
                  <a:srgbClr val="C084FC"/>
                </a:solidFill>
                <a:latin typeface="Roboto Mono"/>
                <a:ea typeface="Roboto Mono"/>
                <a:cs typeface="Roboto Mono"/>
                <a:sym typeface="Roboto Mono"/>
              </a:rPr>
              <a:t>as</a:t>
            </a:r>
            <a:r>
              <a:rPr lang="en-US" sz="1400" b="0" i="0" u="none" strike="noStrike">
                <a:solidFill>
                  <a:srgbClr val="E5E7EB"/>
                </a:solidFill>
                <a:latin typeface="Roboto Mono"/>
                <a:ea typeface="Roboto Mono"/>
                <a:cs typeface="Roboto Mono"/>
                <a:sym typeface="Roboto Mono"/>
              </a:rPr>
              <a:t>np</a:t>
            </a:r>
            <a:endParaRPr lang="en-US" sz="1100"/>
          </a:p>
          <a:p>
            <a:pPr marL="0" indent="0" algn="l">
              <a:lnSpc>
                <a:spcPct val="116666"/>
              </a:lnSpc>
            </a:pPr>
            <a:r>
              <a:rPr lang="en-US" sz="1400" b="0" i="0" u="none" strike="noStrike">
                <a:solidFill>
                  <a:srgbClr val="6B7280"/>
                </a:solidFill>
                <a:latin typeface="Roboto Mono"/>
                <a:ea typeface="Roboto Mono"/>
                <a:cs typeface="Roboto Mono"/>
                <a:sym typeface="Roboto Mono"/>
              </a:rPr>
              <a:t># 定义二维数组与标量</a:t>
            </a:r>
          </a:p>
          <a:p>
            <a:pPr marL="0" indent="0" algn="l">
              <a:lnSpc>
                <a:spcPct val="116666"/>
              </a:lnSpc>
            </a:pPr>
            <a:r>
              <a:rPr lang="en-US" sz="1400" b="0" i="0" u="none" strike="noStrike">
                <a:solidFill>
                  <a:srgbClr val="E5E7EB"/>
                </a:solidFill>
                <a:latin typeface="Roboto Mono"/>
                <a:ea typeface="Roboto Mono"/>
                <a:cs typeface="Roboto Mono"/>
                <a:sym typeface="Roboto Mono"/>
              </a:rPr>
              <a:t>arr = np.array([[1, 2, 3], [4, 5, 6]])</a:t>
            </a:r>
            <a:r>
              <a:rPr lang="en-US" sz="1400" b="0" i="0" u="none" strike="noStrike">
                <a:solidFill>
                  <a:srgbClr val="6B7280"/>
                </a:solidFill>
                <a:latin typeface="Roboto Mono"/>
                <a:ea typeface="Roboto Mono"/>
                <a:cs typeface="Roboto Mono"/>
                <a:sym typeface="Roboto Mono"/>
              </a:rPr>
              <a:t># Shape: (2, 3)</a:t>
            </a:r>
          </a:p>
          <a:p>
            <a:pPr marL="0" indent="0" algn="l">
              <a:lnSpc>
                <a:spcPct val="116666"/>
              </a:lnSpc>
            </a:pPr>
            <a:r>
              <a:rPr lang="en-US" sz="1400" b="0" i="0" u="none" strike="noStrike">
                <a:solidFill>
                  <a:srgbClr val="E5E7EB"/>
                </a:solidFill>
                <a:latin typeface="Roboto Mono"/>
                <a:ea typeface="Roboto Mono"/>
                <a:cs typeface="Roboto Mono"/>
                <a:sym typeface="Roboto Mono"/>
              </a:rPr>
              <a:t>scalar = 2</a:t>
            </a:r>
            <a:r>
              <a:rPr lang="en-US" sz="1400" b="0" i="0" u="none" strike="noStrike">
                <a:solidFill>
                  <a:srgbClr val="6B7280"/>
                </a:solidFill>
                <a:latin typeface="Roboto Mono"/>
                <a:ea typeface="Roboto Mono"/>
                <a:cs typeface="Roboto Mono"/>
                <a:sym typeface="Roboto Mono"/>
              </a:rPr>
              <a:t># 标量会自动广播至 (2, 3)</a:t>
            </a:r>
          </a:p>
          <a:p>
            <a:pPr marL="0" indent="0" algn="l">
              <a:lnSpc>
                <a:spcPct val="116666"/>
              </a:lnSpc>
            </a:pPr>
            <a:r>
              <a:rPr lang="en-US" sz="1400" b="0" i="0" u="none" strike="noStrike">
                <a:solidFill>
                  <a:srgbClr val="C084FC"/>
                </a:solidFill>
                <a:latin typeface="Roboto Mono"/>
                <a:ea typeface="Roboto Mono"/>
                <a:cs typeface="Roboto Mono"/>
                <a:sym typeface="Roboto Mono"/>
              </a:rPr>
              <a:t>print</a:t>
            </a:r>
            <a:r>
              <a:rPr lang="en-US" sz="1400" b="0" i="0" u="none" strike="noStrike">
                <a:solidFill>
                  <a:srgbClr val="E5E7EB"/>
                </a:solidFill>
                <a:latin typeface="Roboto Mono"/>
                <a:ea typeface="Roboto Mono"/>
                <a:cs typeface="Roboto Mono"/>
                <a:sym typeface="Roboto Mono"/>
              </a:rPr>
              <a:t>(arr * scalar)</a:t>
            </a:r>
          </a:p>
          <a:p>
            <a:pPr marL="0" indent="0" algn="l">
              <a:lnSpc>
                <a:spcPct val="116666"/>
              </a:lnSpc>
            </a:pPr>
            <a:r>
              <a:rPr lang="en-US" sz="1400" b="0" i="0" u="none" strike="noStrike">
                <a:solidFill>
                  <a:srgbClr val="6B7280"/>
                </a:solidFill>
                <a:latin typeface="Roboto Mono"/>
                <a:ea typeface="Roboto Mono"/>
                <a:cs typeface="Roboto Mono"/>
                <a:sym typeface="Roboto Mono"/>
              </a:rPr>
              <a:t># 输出结果: [[ 2 4 6], [ 8 10 12]]</a:t>
            </a:r>
          </a:p>
        </p:txBody>
      </p:sp>
      <p:sp>
        <p:nvSpPr>
          <p:cNvPr id="6" name="AutoShape 6"/>
          <p:cNvSpPr/>
          <p:nvPr/>
        </p:nvSpPr>
        <p:spPr>
          <a:xfrm>
            <a:off x="762000" y="4762500"/>
            <a:ext cx="5207000" cy="1587500"/>
          </a:xfrm>
          <a:prstGeom prst="roundRect">
            <a:avLst>
              <a:gd name="adj" fmla="val 0"/>
            </a:avLst>
          </a:prstGeom>
          <a:solidFill>
            <a:srgbClr val="FFFFFF">
              <a:alpha val="6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953000"/>
            <a:ext cx="304800" cy="304800"/>
          </a:xfrm>
          <a:prstGeom prst="rect">
            <a:avLst/>
          </a:prstGeom>
        </p:spPr>
      </p:pic>
      <p:sp>
        <p:nvSpPr>
          <p:cNvPr id="8" name="AutoShape 8"/>
          <p:cNvSpPr/>
          <p:nvPr/>
        </p:nvSpPr>
        <p:spPr>
          <a:xfrm>
            <a:off x="1397000" y="4953000"/>
            <a:ext cx="444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隐式维度扩展</a:t>
            </a:r>
            <a:endParaRPr lang="en-US" sz="1100"/>
          </a:p>
        </p:txBody>
      </p:sp>
      <p:sp>
        <p:nvSpPr>
          <p:cNvPr id="9" name="AutoShape 9"/>
          <p:cNvSpPr/>
          <p:nvPr/>
        </p:nvSpPr>
        <p:spPr>
          <a:xfrm>
            <a:off x="952500" y="53975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标量被视为形状为 (1, 1) 的数组，NumPy 自动将其“拉伸”至与目标数组完全匹配的维度，无需手动循环或复制数据，实现了逻辑上的形状对齐。</a:t>
            </a:r>
            <a:endParaRPr lang="en-US" sz="1100"/>
          </a:p>
        </p:txBody>
      </p:sp>
      <p:sp>
        <p:nvSpPr>
          <p:cNvPr id="10" name="AutoShape 10"/>
          <p:cNvSpPr/>
          <p:nvPr/>
        </p:nvSpPr>
        <p:spPr>
          <a:xfrm>
            <a:off x="6223000" y="4762500"/>
            <a:ext cx="5207000" cy="1587500"/>
          </a:xfrm>
          <a:prstGeom prst="roundRect">
            <a:avLst>
              <a:gd name="adj" fmla="val 0"/>
            </a:avLst>
          </a:prstGeom>
          <a:solidFill>
            <a:srgbClr val="FFFFFF">
              <a:alpha val="6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4953000"/>
            <a:ext cx="304800" cy="304800"/>
          </a:xfrm>
          <a:prstGeom prst="rect">
            <a:avLst/>
          </a:prstGeom>
        </p:spPr>
      </p:pic>
      <p:sp>
        <p:nvSpPr>
          <p:cNvPr id="12" name="AutoShape 12"/>
          <p:cNvSpPr/>
          <p:nvPr/>
        </p:nvSpPr>
        <p:spPr>
          <a:xfrm>
            <a:off x="6858000" y="4953000"/>
            <a:ext cx="444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内存与效率双赢</a:t>
            </a:r>
            <a:endParaRPr lang="en-US" sz="1100"/>
          </a:p>
        </p:txBody>
      </p:sp>
      <p:sp>
        <p:nvSpPr>
          <p:cNvPr id="13" name="AutoShape 13"/>
          <p:cNvSpPr/>
          <p:nvPr/>
        </p:nvSpPr>
        <p:spPr>
          <a:xfrm>
            <a:off x="6413500" y="53975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广播不产生额外的全尺寸临时数组，极大节省内存；同时利用底层高度优化的 C 语言实现进行运算，速度远超 Python 级别的显式循环遍历。</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广播机制示例 2: 一维数组与二维数组</a:t>
            </a:r>
            <a:endParaRPr lang="en-US" sz="1100"/>
          </a:p>
        </p:txBody>
      </p:sp>
      <p:sp>
        <p:nvSpPr>
          <p:cNvPr id="4" name="AutoShape 4"/>
          <p:cNvSpPr/>
          <p:nvPr/>
        </p:nvSpPr>
        <p:spPr>
          <a:xfrm>
            <a:off x="762000" y="1778000"/>
            <a:ext cx="10668000" cy="2794000"/>
          </a:xfrm>
          <a:prstGeom prst="roundRect">
            <a:avLst>
              <a:gd name="adj" fmla="val 0"/>
            </a:avLst>
          </a:prstGeom>
          <a:solidFill>
            <a:srgbClr val="1F2937">
              <a:alpha val="8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68500"/>
            <a:ext cx="10287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6B7280"/>
                </a:solidFill>
                <a:latin typeface="Source Code Pro"/>
                <a:ea typeface="Source Code Pro"/>
                <a:cs typeface="Source Code Pro"/>
                <a:sym typeface="Source Code Pro"/>
              </a:rPr>
              <a:t># 定义二维数组 a (2行3列) 与一维数组 b (长度为3)</a:t>
            </a:r>
            <a:endParaRPr lang="en-US" sz="1100"/>
          </a:p>
          <a:p>
            <a:pPr marL="0" indent="0" algn="l">
              <a:lnSpc>
                <a:spcPct val="116666"/>
              </a:lnSpc>
            </a:pPr>
            <a:r>
              <a:rPr lang="en-US" sz="1400" b="0" i="0" u="none" strike="noStrike">
                <a:solidFill>
                  <a:srgbClr val="1F2937"/>
                </a:solidFill>
                <a:latin typeface="Source Code Pro"/>
                <a:ea typeface="Source Code Pro"/>
                <a:cs typeface="Source Code Pro"/>
                <a:sym typeface="Source Code Pro"/>
              </a:rPr>
              <a:t>import numpy as np</a:t>
            </a:r>
          </a:p>
          <a:p>
            <a:pPr marL="0" indent="0" algn="l">
              <a:lnSpc>
                <a:spcPct val="116666"/>
              </a:lnSpc>
            </a:pPr>
            <a:r>
              <a:rPr lang="en-US" sz="1400" b="0" i="0" u="none" strike="noStrike">
                <a:solidFill>
                  <a:srgbClr val="1F2937"/>
                </a:solidFill>
                <a:latin typeface="Source Code Pro"/>
                <a:ea typeface="Source Code Pro"/>
                <a:cs typeface="Source Code Pro"/>
                <a:sym typeface="Source Code Pro"/>
              </a:rPr>
              <a:t>a = np.array([[1, 2, 3], [4, 5, 6]]) # Shape: (2, 3)</a:t>
            </a:r>
          </a:p>
          <a:p>
            <a:pPr marL="0" indent="0" algn="l">
              <a:lnSpc>
                <a:spcPct val="116666"/>
              </a:lnSpc>
            </a:pPr>
            <a:r>
              <a:rPr lang="en-US" sz="1400" b="0" i="0" u="none" strike="noStrike">
                <a:solidFill>
                  <a:srgbClr val="1F2937"/>
                </a:solidFill>
                <a:latin typeface="Source Code Pro"/>
                <a:ea typeface="Source Code Pro"/>
                <a:cs typeface="Source Code Pro"/>
                <a:sym typeface="Source Code Pro"/>
              </a:rPr>
              <a:t>b = np.array([10, 20, 30]) # Shape: (3,)</a:t>
            </a:r>
          </a:p>
          <a:p>
            <a:pPr marL="0" indent="0" algn="l">
              <a:lnSpc>
                <a:spcPct val="116666"/>
              </a:lnSpc>
            </a:pPr>
            <a:r>
              <a:rPr lang="en-US" sz="1400" b="0" i="0" u="none" strike="noStrike">
                <a:solidFill>
                  <a:srgbClr val="1F2937"/>
                </a:solidFill>
                <a:latin typeface="Source Code Pro"/>
                <a:ea typeface="Source Code Pro"/>
                <a:cs typeface="Source Code Pro"/>
                <a:sym typeface="Source Code Pro"/>
              </a:rPr>
              <a:t>print(a + b) # 触发广播，输出: [[11 22 33] [14 25 36]]</a:t>
            </a:r>
          </a:p>
        </p:txBody>
      </p:sp>
      <p:sp>
        <p:nvSpPr>
          <p:cNvPr id="6" name="AutoShape 6"/>
          <p:cNvSpPr/>
          <p:nvPr/>
        </p:nvSpPr>
        <p:spPr>
          <a:xfrm>
            <a:off x="762000" y="48895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核心逻辑解析</a:t>
            </a:r>
            <a:endParaRPr lang="en-US" sz="1100"/>
          </a:p>
        </p:txBody>
      </p:sp>
      <p:sp>
        <p:nvSpPr>
          <p:cNvPr id="7" name="AutoShape 7"/>
          <p:cNvSpPr/>
          <p:nvPr/>
        </p:nvSpPr>
        <p:spPr>
          <a:xfrm>
            <a:off x="762000" y="5397500"/>
            <a:ext cx="5207000" cy="1143000"/>
          </a:xfrm>
          <a:prstGeom prst="roundRect">
            <a:avLst>
              <a:gd name="adj" fmla="val 0"/>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52500" y="54864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2563EB"/>
                </a:solidFill>
                <a:latin typeface="Noto Sans SC"/>
                <a:ea typeface="Noto Sans SC"/>
                <a:cs typeface="Noto Sans SC"/>
                <a:sym typeface="Noto Sans SC"/>
              </a:rPr>
              <a:t>01. 维度兼容性检查</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遵循“从右向左”的匹配规则，数组 a 的最后一维长度为3，与数组 b 的维度长度3完全一致，满足广播条件。</a:t>
            </a:r>
          </a:p>
        </p:txBody>
      </p:sp>
      <p:sp>
        <p:nvSpPr>
          <p:cNvPr id="9" name="AutoShape 9"/>
          <p:cNvSpPr/>
          <p:nvPr/>
        </p:nvSpPr>
        <p:spPr>
          <a:xfrm>
            <a:off x="6223000" y="5397500"/>
            <a:ext cx="5207000" cy="11430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13500" y="54864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059669"/>
                </a:solidFill>
                <a:latin typeface="Noto Sans SC"/>
                <a:ea typeface="Noto Sans SC"/>
                <a:cs typeface="Noto Sans SC"/>
                <a:sym typeface="Noto Sans SC"/>
              </a:rPr>
              <a:t>02. 自动扩展与运算</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NumPy 将一维数组 b 自动扩展为与 a 同形状的二维数组，随后对两个同形数组执行对应位置的元素相加操作。</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广播机制示例 3: 维度为1的扩展</a:t>
            </a:r>
            <a:endParaRPr lang="en-US" sz="1100"/>
          </a:p>
        </p:txBody>
      </p:sp>
      <p:sp>
        <p:nvSpPr>
          <p:cNvPr id="4" name="AutoShape 4"/>
          <p:cNvSpPr/>
          <p:nvPr/>
        </p:nvSpPr>
        <p:spPr>
          <a:xfrm>
            <a:off x="762000" y="1778000"/>
            <a:ext cx="10668000" cy="2667000"/>
          </a:xfrm>
          <a:prstGeom prst="roundRect">
            <a:avLst>
              <a:gd name="adj" fmla="val 0"/>
            </a:avLst>
          </a:prstGeom>
          <a:solidFill>
            <a:srgbClr val="1F2937">
              <a:alpha val="6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68500"/>
            <a:ext cx="10287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Source Code Pro"/>
                <a:ea typeface="Source Code Pro"/>
                <a:cs typeface="Source Code Pro"/>
                <a:sym typeface="Source Code Pro"/>
              </a:rPr>
              <a:t>import numpy as np</a:t>
            </a:r>
            <a:endParaRPr lang="en-US" sz="1100"/>
          </a:p>
          <a:p>
            <a:pPr marL="0" indent="0" algn="l">
              <a:lnSpc>
                <a:spcPct val="116666"/>
              </a:lnSpc>
            </a:pPr>
            <a:r>
              <a:rPr lang="en-US" sz="1400" b="0" i="0" u="none" strike="noStrike">
                <a:solidFill>
                  <a:srgbClr val="6B7280"/>
                </a:solidFill>
                <a:latin typeface="Source Code Pro"/>
                <a:ea typeface="Source Code Pro"/>
                <a:cs typeface="Source Code Pro"/>
                <a:sym typeface="Source Code Pro"/>
              </a:rPr>
              <a:t># 定义形状不同但广播兼容的数组</a:t>
            </a:r>
          </a:p>
          <a:p>
            <a:pPr marL="0" indent="0" algn="l">
              <a:lnSpc>
                <a:spcPct val="116666"/>
              </a:lnSpc>
            </a:pPr>
            <a:r>
              <a:rPr lang="en-US" sz="1400" b="0" i="0" u="none" strike="noStrike">
                <a:solidFill>
                  <a:srgbClr val="374151"/>
                </a:solidFill>
                <a:latin typeface="Source Code Pro"/>
                <a:ea typeface="Source Code Pro"/>
                <a:cs typeface="Source Code Pro"/>
                <a:sym typeface="Source Code Pro"/>
              </a:rPr>
              <a:t>a = np.array([[1], [2], [3]]) # 形状 (3, 1)</a:t>
            </a:r>
          </a:p>
          <a:p>
            <a:pPr marL="0" indent="0" algn="l">
              <a:lnSpc>
                <a:spcPct val="116666"/>
              </a:lnSpc>
            </a:pPr>
            <a:r>
              <a:rPr lang="en-US" sz="1400" b="0" i="0" u="none" strike="noStrike">
                <a:solidFill>
                  <a:srgbClr val="374151"/>
                </a:solidFill>
                <a:latin typeface="Source Code Pro"/>
                <a:ea typeface="Source Code Pro"/>
                <a:cs typeface="Source Code Pro"/>
                <a:sym typeface="Source Code Pro"/>
              </a:rPr>
              <a:t>b = np.array([10, 20]) # 形状 (2,)</a:t>
            </a:r>
          </a:p>
          <a:p>
            <a:pPr marL="0" indent="0" algn="l">
              <a:lnSpc>
                <a:spcPct val="116666"/>
              </a:lnSpc>
            </a:pPr>
            <a:r>
              <a:rPr lang="en-US" sz="1400" b="0" i="0" u="none" strike="noStrike">
                <a:solidFill>
                  <a:srgbClr val="374151"/>
                </a:solidFill>
                <a:latin typeface="Source Code Pro"/>
                <a:ea typeface="Source Code Pro"/>
                <a:cs typeface="Source Code Pro"/>
                <a:sym typeface="Source Code Pro"/>
              </a:rPr>
              <a:t>print(a + b) # 触发广播并执行加法</a:t>
            </a:r>
          </a:p>
          <a:p>
            <a:pPr marL="0" indent="0" algn="l">
              <a:lnSpc>
                <a:spcPct val="116666"/>
              </a:lnSpc>
            </a:pPr>
            <a:r>
              <a:rPr lang="en-US" sz="1400" b="0" i="0" u="none" strike="noStrike">
                <a:solidFill>
                  <a:srgbClr val="10B981"/>
                </a:solidFill>
                <a:latin typeface="Source Code Pro"/>
                <a:ea typeface="Source Code Pro"/>
                <a:cs typeface="Source Code Pro"/>
                <a:sym typeface="Source Code Pro"/>
              </a:rPr>
              <a:t># 输出结果: [[11 21], [12 22], [13 23]]</a:t>
            </a:r>
          </a:p>
        </p:txBody>
      </p:sp>
      <p:sp>
        <p:nvSpPr>
          <p:cNvPr id="6" name="AutoShape 6"/>
          <p:cNvSpPr/>
          <p:nvPr/>
        </p:nvSpPr>
        <p:spPr>
          <a:xfrm>
            <a:off x="762000" y="4762500"/>
            <a:ext cx="3429000" cy="1651000"/>
          </a:xfrm>
          <a:prstGeom prst="roundRect">
            <a:avLst>
              <a:gd name="adj" fmla="val 0"/>
            </a:avLst>
          </a:prstGeom>
          <a:solidFill>
            <a:srgbClr val="3B82F6">
              <a:alpha val="8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953000"/>
            <a:ext cx="304800" cy="304800"/>
          </a:xfrm>
          <a:prstGeom prst="rect">
            <a:avLst/>
          </a:prstGeom>
        </p:spPr>
      </p:pic>
      <p:sp>
        <p:nvSpPr>
          <p:cNvPr id="8" name="AutoShape 8"/>
          <p:cNvSpPr/>
          <p:nvPr/>
        </p:nvSpPr>
        <p:spPr>
          <a:xfrm>
            <a:off x="1333500" y="4953000"/>
            <a:ext cx="279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维度兼容性判定</a:t>
            </a:r>
            <a:endParaRPr lang="en-US" sz="1100"/>
          </a:p>
        </p:txBody>
      </p:sp>
      <p:sp>
        <p:nvSpPr>
          <p:cNvPr id="9" name="AutoShape 9"/>
          <p:cNvSpPr/>
          <p:nvPr/>
        </p:nvSpPr>
        <p:spPr>
          <a:xfrm>
            <a:off x="952500" y="53975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从右向左比较维度，若对应位置为“1”或完全相等则兼容。本例中 (3,1) 与 (2,) 因存在“1”而满足广播条件。</a:t>
            </a:r>
            <a:endParaRPr lang="en-US" sz="1100"/>
          </a:p>
        </p:txBody>
      </p:sp>
      <p:sp>
        <p:nvSpPr>
          <p:cNvPr id="10" name="AutoShape 10"/>
          <p:cNvSpPr/>
          <p:nvPr/>
        </p:nvSpPr>
        <p:spPr>
          <a:xfrm>
            <a:off x="4381500" y="4762500"/>
            <a:ext cx="3429000" cy="1651000"/>
          </a:xfrm>
          <a:prstGeom prst="roundRect">
            <a:avLst>
              <a:gd name="adj" fmla="val 0"/>
            </a:avLst>
          </a:prstGeom>
          <a:solidFill>
            <a:srgbClr val="10B981">
              <a:alpha val="8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4953000"/>
            <a:ext cx="304800" cy="304800"/>
          </a:xfrm>
          <a:prstGeom prst="rect">
            <a:avLst/>
          </a:prstGeom>
        </p:spPr>
      </p:pic>
      <p:sp>
        <p:nvSpPr>
          <p:cNvPr id="12" name="AutoShape 12"/>
          <p:cNvSpPr/>
          <p:nvPr/>
        </p:nvSpPr>
        <p:spPr>
          <a:xfrm>
            <a:off x="4953000" y="4953000"/>
            <a:ext cx="279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隐式形状扩展</a:t>
            </a:r>
            <a:endParaRPr lang="en-US" sz="1100"/>
          </a:p>
        </p:txBody>
      </p:sp>
      <p:sp>
        <p:nvSpPr>
          <p:cNvPr id="13" name="AutoShape 13"/>
          <p:cNvSpPr/>
          <p:nvPr/>
        </p:nvSpPr>
        <p:spPr>
          <a:xfrm>
            <a:off x="4572000" y="53975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无需实际复制数据，数组 a 沿列方向“拉伸”，数组 b 沿行方向“拉伸”，两者在逻辑上均变为 (3, 2) 形状。</a:t>
            </a:r>
            <a:endParaRPr lang="en-US" sz="1100"/>
          </a:p>
        </p:txBody>
      </p:sp>
      <p:sp>
        <p:nvSpPr>
          <p:cNvPr id="14" name="AutoShape 14"/>
          <p:cNvSpPr/>
          <p:nvPr/>
        </p:nvSpPr>
        <p:spPr>
          <a:xfrm>
            <a:off x="8001000" y="4762500"/>
            <a:ext cx="3429000" cy="1651000"/>
          </a:xfrm>
          <a:prstGeom prst="roundRect">
            <a:avLst>
              <a:gd name="adj" fmla="val 0"/>
            </a:avLst>
          </a:prstGeom>
          <a:solidFill>
            <a:srgbClr val="F59E0B">
              <a:alpha val="8000"/>
            </a:srgbClr>
          </a:solidFill>
          <a:ln w="12700" cap="flat" cmpd="sng">
            <a:solidFill>
              <a:srgbClr val="F59E0B">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4953000"/>
            <a:ext cx="304800" cy="304800"/>
          </a:xfrm>
          <a:prstGeom prst="rect">
            <a:avLst/>
          </a:prstGeom>
        </p:spPr>
      </p:pic>
      <p:sp>
        <p:nvSpPr>
          <p:cNvPr id="16" name="AutoShape 16"/>
          <p:cNvSpPr/>
          <p:nvPr/>
        </p:nvSpPr>
        <p:spPr>
          <a:xfrm>
            <a:off x="8572500" y="4953000"/>
            <a:ext cx="279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向量化元素运算</a:t>
            </a:r>
            <a:endParaRPr lang="en-US" sz="1100"/>
          </a:p>
        </p:txBody>
      </p:sp>
      <p:sp>
        <p:nvSpPr>
          <p:cNvPr id="17" name="AutoShape 17"/>
          <p:cNvSpPr/>
          <p:nvPr/>
        </p:nvSpPr>
        <p:spPr>
          <a:xfrm>
            <a:off x="8191500" y="53975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形状统一后，对应位置的元素直接相加，即 a[i][j] + b[i][j]，利用底层优化实现高效的批量计算。</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3. 线性代数应用</a:t>
            </a:r>
            <a:endParaRPr lang="en-US" sz="1100"/>
          </a:p>
        </p:txBody>
      </p:sp>
      <p:sp>
        <p:nvSpPr>
          <p:cNvPr id="4" name="AutoShape 4"/>
          <p:cNvSpPr/>
          <p:nvPr/>
        </p:nvSpPr>
        <p:spPr>
          <a:xfrm>
            <a:off x="762000" y="1651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4B5563"/>
                </a:solidFill>
                <a:latin typeface="Noto Sans SC"/>
                <a:ea typeface="Noto Sans SC"/>
                <a:cs typeface="Noto Sans SC"/>
                <a:sym typeface="Noto Sans SC"/>
              </a:rPr>
              <a:t>NumPy 的 `numpy.linalg` 模块封装了底层线性代数库（如 BLAS/LAPACK）的高效实现，提供了从基础矩阵运算到高级矩阵分解的全套功能，是科学计算、数据分析与机器学习算法的核心基石。</a:t>
            </a:r>
            <a:endParaRPr lang="en-US" sz="1100"/>
          </a:p>
        </p:txBody>
      </p:sp>
      <p:sp>
        <p:nvSpPr>
          <p:cNvPr id="5" name="AutoShape 5"/>
          <p:cNvSpPr/>
          <p:nvPr/>
        </p:nvSpPr>
        <p:spPr>
          <a:xfrm>
            <a:off x="762000" y="2921000"/>
            <a:ext cx="3429000" cy="1587500"/>
          </a:xfrm>
          <a:prstGeom prst="roundRect">
            <a:avLst>
              <a:gd name="adj" fmla="val 0"/>
            </a:avLst>
          </a:prstGeom>
          <a:solidFill>
            <a:srgbClr val="F3F4F6">
              <a:alpha val="7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3073400"/>
            <a:ext cx="3175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矩阵乘法运算</a:t>
            </a:r>
            <a:endParaRPr lang="en-US" sz="1100"/>
          </a:p>
          <a:p>
            <a:pPr marL="0" indent="0" algn="l">
              <a:lnSpc>
                <a:spcPct val="108333"/>
              </a:lnSpc>
              <a:spcBef>
                <a:spcPts val="600"/>
              </a:spcBef>
            </a:pPr>
            <a:r>
              <a:rPr lang="en-US" sz="1300" b="0" i="0" u="none" strike="noStrike">
                <a:solidFill>
                  <a:srgbClr val="374151"/>
                </a:solidFill>
                <a:latin typeface="Roboto Mono"/>
                <a:ea typeface="Roboto Mono"/>
                <a:cs typeface="Roboto Mono"/>
                <a:sym typeface="Roboto Mono"/>
              </a:rPr>
              <a:t>np.dot(a, b) / a @ b</a:t>
            </a:r>
          </a:p>
          <a:p>
            <a:pPr marL="0" indent="0" algn="l">
              <a:lnSpc>
                <a:spcPct val="108333"/>
              </a:lnSpc>
            </a:pPr>
            <a:r>
              <a:rPr lang="en-US" sz="1300" b="0" i="0" u="none" strike="noStrike">
                <a:solidFill>
                  <a:srgbClr val="6B7280"/>
                </a:solidFill>
                <a:latin typeface="Noto Sans SC"/>
                <a:ea typeface="Noto Sans SC"/>
                <a:cs typeface="Noto Sans SC"/>
                <a:sym typeface="Noto Sans SC"/>
              </a:rPr>
              <a:t>计算数组的点积，支持矩阵与向量、矩阵间的乘法，是深度学习权重更新的基础操作。</a:t>
            </a:r>
          </a:p>
        </p:txBody>
      </p:sp>
      <p:sp>
        <p:nvSpPr>
          <p:cNvPr id="7" name="AutoShape 7"/>
          <p:cNvSpPr/>
          <p:nvPr/>
        </p:nvSpPr>
        <p:spPr>
          <a:xfrm>
            <a:off x="4381500" y="2921000"/>
            <a:ext cx="3429000" cy="1587500"/>
          </a:xfrm>
          <a:prstGeom prst="roundRect">
            <a:avLst>
              <a:gd name="adj" fmla="val 0"/>
            </a:avLst>
          </a:prstGeom>
          <a:solidFill>
            <a:srgbClr val="F3F4F6">
              <a:alpha val="7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4508500" y="3073400"/>
            <a:ext cx="3175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线性方程组求解</a:t>
            </a:r>
            <a:endParaRPr lang="en-US" sz="1100"/>
          </a:p>
          <a:p>
            <a:pPr marL="0" indent="0" algn="l">
              <a:lnSpc>
                <a:spcPct val="108333"/>
              </a:lnSpc>
              <a:spcBef>
                <a:spcPts val="600"/>
              </a:spcBef>
            </a:pPr>
            <a:r>
              <a:rPr lang="en-US" sz="1300" b="0" i="0" u="none" strike="noStrike">
                <a:solidFill>
                  <a:srgbClr val="374151"/>
                </a:solidFill>
                <a:latin typeface="Roboto Mono"/>
                <a:ea typeface="Roboto Mono"/>
                <a:cs typeface="Roboto Mono"/>
                <a:sym typeface="Roboto Mono"/>
              </a:rPr>
              <a:t>np.linalg.solve(A, b)</a:t>
            </a:r>
          </a:p>
          <a:p>
            <a:pPr marL="0" indent="0" algn="l">
              <a:lnSpc>
                <a:spcPct val="108333"/>
              </a:lnSpc>
            </a:pPr>
            <a:r>
              <a:rPr lang="en-US" sz="1300" b="0" i="0" u="none" strike="noStrike">
                <a:solidFill>
                  <a:srgbClr val="6B7280"/>
                </a:solidFill>
                <a:latin typeface="Noto Sans SC"/>
                <a:ea typeface="Noto Sans SC"/>
                <a:cs typeface="Noto Sans SC"/>
                <a:sym typeface="Noto Sans SC"/>
              </a:rPr>
              <a:t>快速求解非奇异矩阵的线性方程组 Ax = b，直接返回解向量 x，性能优于矩阵求逆法。</a:t>
            </a:r>
          </a:p>
        </p:txBody>
      </p:sp>
      <p:sp>
        <p:nvSpPr>
          <p:cNvPr id="9" name="AutoShape 9"/>
          <p:cNvSpPr/>
          <p:nvPr/>
        </p:nvSpPr>
        <p:spPr>
          <a:xfrm>
            <a:off x="8001000" y="2921000"/>
            <a:ext cx="3429000" cy="1587500"/>
          </a:xfrm>
          <a:prstGeom prst="roundRect">
            <a:avLst>
              <a:gd name="adj" fmla="val 0"/>
            </a:avLst>
          </a:prstGeom>
          <a:solidFill>
            <a:srgbClr val="F3F4F6">
              <a:alpha val="7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128000" y="3073400"/>
            <a:ext cx="3175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矩阵逆运算</a:t>
            </a:r>
            <a:endParaRPr lang="en-US" sz="1100"/>
          </a:p>
          <a:p>
            <a:pPr marL="0" indent="0" algn="l">
              <a:lnSpc>
                <a:spcPct val="108333"/>
              </a:lnSpc>
              <a:spcBef>
                <a:spcPts val="600"/>
              </a:spcBef>
            </a:pPr>
            <a:r>
              <a:rPr lang="en-US" sz="1300" b="0" i="0" u="none" strike="noStrike">
                <a:solidFill>
                  <a:srgbClr val="374151"/>
                </a:solidFill>
                <a:latin typeface="Roboto Mono"/>
                <a:ea typeface="Roboto Mono"/>
                <a:cs typeface="Roboto Mono"/>
                <a:sym typeface="Roboto Mono"/>
              </a:rPr>
              <a:t>np.linalg.inv(A)</a:t>
            </a:r>
          </a:p>
          <a:p>
            <a:pPr marL="0" indent="0" algn="l">
              <a:lnSpc>
                <a:spcPct val="108333"/>
              </a:lnSpc>
            </a:pPr>
            <a:r>
              <a:rPr lang="en-US" sz="1300" b="0" i="0" u="none" strike="noStrike">
                <a:solidFill>
                  <a:srgbClr val="6B7280"/>
                </a:solidFill>
                <a:latin typeface="Noto Sans SC"/>
                <a:ea typeface="Noto Sans SC"/>
                <a:cs typeface="Noto Sans SC"/>
                <a:sym typeface="Noto Sans SC"/>
              </a:rPr>
              <a:t>计算可逆方阵的乘法逆矩阵，常用于解线性方程组和矩阵变换，需确保矩阵非奇异。</a:t>
            </a:r>
          </a:p>
        </p:txBody>
      </p:sp>
      <p:sp>
        <p:nvSpPr>
          <p:cNvPr id="11" name="AutoShape 11"/>
          <p:cNvSpPr/>
          <p:nvPr/>
        </p:nvSpPr>
        <p:spPr>
          <a:xfrm>
            <a:off x="762000" y="4762500"/>
            <a:ext cx="5270500" cy="1587500"/>
          </a:xfrm>
          <a:prstGeom prst="roundRect">
            <a:avLst>
              <a:gd name="adj" fmla="val 0"/>
            </a:avLst>
          </a:prstGeom>
          <a:solidFill>
            <a:srgbClr val="F3F4F6">
              <a:alpha val="7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89000" y="4914900"/>
            <a:ext cx="5016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特征值与特征向量分解</a:t>
            </a:r>
            <a:endParaRPr lang="en-US" sz="1100"/>
          </a:p>
          <a:p>
            <a:pPr marL="0" indent="0" algn="l">
              <a:lnSpc>
                <a:spcPct val="108333"/>
              </a:lnSpc>
              <a:spcBef>
                <a:spcPts val="600"/>
              </a:spcBef>
            </a:pPr>
            <a:r>
              <a:rPr lang="en-US" sz="1300" b="0" i="0" u="none" strike="noStrike">
                <a:solidFill>
                  <a:srgbClr val="374151"/>
                </a:solidFill>
                <a:latin typeface="Roboto Mono"/>
                <a:ea typeface="Roboto Mono"/>
                <a:cs typeface="Roboto Mono"/>
                <a:sym typeface="Roboto Mono"/>
              </a:rPr>
              <a:t>np.linalg.eig(A)</a:t>
            </a:r>
          </a:p>
          <a:p>
            <a:pPr marL="0" indent="0" algn="l">
              <a:lnSpc>
                <a:spcPct val="108333"/>
              </a:lnSpc>
            </a:pPr>
            <a:r>
              <a:rPr lang="en-US" sz="1300" b="0" i="0" u="none" strike="noStrike">
                <a:solidFill>
                  <a:srgbClr val="6B7280"/>
                </a:solidFill>
                <a:latin typeface="Noto Sans SC"/>
                <a:ea typeface="Noto Sans SC"/>
                <a:cs typeface="Noto Sans SC"/>
                <a:sym typeface="Noto Sans SC"/>
              </a:rPr>
              <a:t>计算方阵的特征值和右特征向量，广泛应用于主成分分析(PCA)、降维、谱聚类及动力系统分析中。</a:t>
            </a:r>
          </a:p>
        </p:txBody>
      </p:sp>
      <p:sp>
        <p:nvSpPr>
          <p:cNvPr id="13" name="AutoShape 13"/>
          <p:cNvSpPr/>
          <p:nvPr/>
        </p:nvSpPr>
        <p:spPr>
          <a:xfrm>
            <a:off x="6159500" y="4762500"/>
            <a:ext cx="5270500" cy="1587500"/>
          </a:xfrm>
          <a:prstGeom prst="roundRect">
            <a:avLst>
              <a:gd name="adj" fmla="val 0"/>
            </a:avLst>
          </a:prstGeom>
          <a:solidFill>
            <a:srgbClr val="F3F4F6">
              <a:alpha val="7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286500" y="4914900"/>
            <a:ext cx="5016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向量与矩阵范数计算</a:t>
            </a:r>
            <a:endParaRPr lang="en-US" sz="1100"/>
          </a:p>
          <a:p>
            <a:pPr marL="0" indent="0" algn="l">
              <a:lnSpc>
                <a:spcPct val="108333"/>
              </a:lnSpc>
              <a:spcBef>
                <a:spcPts val="600"/>
              </a:spcBef>
            </a:pPr>
            <a:r>
              <a:rPr lang="en-US" sz="1300" b="0" i="0" u="none" strike="noStrike">
                <a:solidFill>
                  <a:srgbClr val="374151"/>
                </a:solidFill>
                <a:latin typeface="Roboto Mono"/>
                <a:ea typeface="Roboto Mono"/>
                <a:cs typeface="Roboto Mono"/>
                <a:sym typeface="Roboto Mono"/>
              </a:rPr>
              <a:t>np.linalg.norm(x)</a:t>
            </a:r>
          </a:p>
          <a:p>
            <a:pPr marL="0" indent="0" algn="l">
              <a:lnSpc>
                <a:spcPct val="108333"/>
              </a:lnSpc>
            </a:pPr>
            <a:r>
              <a:rPr lang="en-US" sz="1300" b="0" i="0" u="none" strike="noStrike">
                <a:solidFill>
                  <a:srgbClr val="6B7280"/>
                </a:solidFill>
                <a:latin typeface="Noto Sans SC"/>
                <a:ea typeface="Noto Sans SC"/>
                <a:cs typeface="Noto Sans SC"/>
                <a:sym typeface="Noto Sans SC"/>
              </a:rPr>
              <a:t>计算向量的长度或矩阵的范数（支持L1, L2, Frobenius等），用于衡量数据尺度、正则化及机器学习中的损失函数计算。</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线性代数应用：矩阵乘法</a:t>
            </a:r>
            <a:endParaRPr lang="en-US" sz="1100"/>
          </a:p>
        </p:txBody>
      </p:sp>
      <p:sp>
        <p:nvSpPr>
          <p:cNvPr id="4" name="AutoShape 4"/>
          <p:cNvSpPr/>
          <p:nvPr/>
        </p:nvSpPr>
        <p:spPr>
          <a:xfrm>
            <a:off x="762000" y="1651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4B5563"/>
                </a:solidFill>
                <a:latin typeface="Noto Sans SC"/>
                <a:ea typeface="Noto Sans SC"/>
                <a:cs typeface="Noto Sans SC"/>
                <a:sym typeface="Noto Sans SC"/>
              </a:rPr>
              <a:t>矩阵乘法是线性代数的核心操作，不仅是数学理论的基础，更是深度学习中构建神经网络（如全连接层、卷积层）计算逻辑的底层支撑。</a:t>
            </a:r>
            <a:endParaRPr lang="en-US" sz="1100"/>
          </a:p>
        </p:txBody>
      </p:sp>
      <p:sp>
        <p:nvSpPr>
          <p:cNvPr id="5" name="AutoShape 5"/>
          <p:cNvSpPr/>
          <p:nvPr/>
        </p:nvSpPr>
        <p:spPr>
          <a:xfrm>
            <a:off x="762000" y="2476500"/>
            <a:ext cx="10668000" cy="2476500"/>
          </a:xfrm>
          <a:prstGeom prst="roundRect">
            <a:avLst>
              <a:gd name="adj" fmla="val 0"/>
            </a:avLst>
          </a:prstGeom>
          <a:solidFill>
            <a:srgbClr val="F3F4F6">
              <a:alpha val="8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2641600"/>
            <a:ext cx="10287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7F1D1D"/>
                </a:solidFill>
                <a:latin typeface="Source Code Pro"/>
                <a:ea typeface="Source Code Pro"/>
                <a:cs typeface="Source Code Pro"/>
                <a:sym typeface="Source Code Pro"/>
              </a:rPr>
              <a:t>import</a:t>
            </a:r>
            <a:r>
              <a:rPr lang="en-US" sz="1400" b="0" i="0" u="none" strike="noStrike">
                <a:solidFill>
                  <a:srgbClr val="1F2937"/>
                </a:solidFill>
                <a:latin typeface="Source Code Pro"/>
                <a:ea typeface="Source Code Pro"/>
                <a:cs typeface="Source Code Pro"/>
                <a:sym typeface="Source Code Pro"/>
              </a:rPr>
              <a:t>numpy</a:t>
            </a:r>
            <a:r>
              <a:rPr lang="en-US" sz="1400" b="0" i="0" u="none" strike="noStrike">
                <a:solidFill>
                  <a:srgbClr val="7F1D1D"/>
                </a:solidFill>
                <a:latin typeface="Source Code Pro"/>
                <a:ea typeface="Source Code Pro"/>
                <a:cs typeface="Source Code Pro"/>
                <a:sym typeface="Source Code Pro"/>
              </a:rPr>
              <a:t>as</a:t>
            </a:r>
            <a:r>
              <a:rPr lang="en-US" sz="1400" b="0" i="0" u="none" strike="noStrike">
                <a:solidFill>
                  <a:srgbClr val="1F2937"/>
                </a:solidFill>
                <a:latin typeface="Source Code Pro"/>
                <a:ea typeface="Source Code Pro"/>
                <a:cs typeface="Source Code Pro"/>
                <a:sym typeface="Source Code Pro"/>
              </a:rPr>
              <a:t>np</a:t>
            </a:r>
            <a:endParaRPr lang="en-US" sz="1100"/>
          </a:p>
          <a:p>
            <a:pPr marL="0" indent="0" algn="l">
              <a:lnSpc>
                <a:spcPct val="108333"/>
              </a:lnSpc>
            </a:pPr>
            <a:r>
              <a:rPr lang="en-US" sz="1400" b="0" i="0" u="none" strike="noStrike">
                <a:solidFill>
                  <a:srgbClr val="1F2937"/>
                </a:solidFill>
                <a:latin typeface="Source Code Pro"/>
                <a:ea typeface="Source Code Pro"/>
                <a:cs typeface="Source Code Pro"/>
                <a:sym typeface="Source Code Pro"/>
              </a:rPr>
              <a:t>A = np.array([[1, 2], [3, 4]]) # 定义矩阵 A</a:t>
            </a:r>
          </a:p>
          <a:p>
            <a:pPr marL="0" indent="0" algn="l">
              <a:lnSpc>
                <a:spcPct val="108333"/>
              </a:lnSpc>
            </a:pPr>
            <a:r>
              <a:rPr lang="en-US" sz="1400" b="0" i="0" u="none" strike="noStrike">
                <a:solidFill>
                  <a:srgbClr val="1F2937"/>
                </a:solidFill>
                <a:latin typeface="Source Code Pro"/>
                <a:ea typeface="Source Code Pro"/>
                <a:cs typeface="Source Code Pro"/>
                <a:sym typeface="Source Code Pro"/>
              </a:rPr>
              <a:t>B = np.array([[5, 6], [7, 8]]) # 定义矩阵 B</a:t>
            </a:r>
          </a:p>
          <a:p>
            <a:pPr marL="0" indent="0" algn="l">
              <a:lnSpc>
                <a:spcPct val="108333"/>
              </a:lnSpc>
            </a:pPr>
            <a:r>
              <a:rPr lang="en-US" sz="1400" b="0" i="0" u="none" strike="noStrike">
                <a:solidFill>
                  <a:srgbClr val="1F2937"/>
                </a:solidFill>
                <a:latin typeface="Source Code Pro"/>
                <a:ea typeface="Source Code Pro"/>
                <a:cs typeface="Source Code Pro"/>
                <a:sym typeface="Source Code Pro"/>
              </a:rPr>
              <a:t>result_1 = np.dot(A, B) # 方法一：使用 dot 函数</a:t>
            </a:r>
          </a:p>
          <a:p>
            <a:pPr marL="0" indent="0" algn="l">
              <a:lnSpc>
                <a:spcPct val="108333"/>
              </a:lnSpc>
            </a:pPr>
            <a:r>
              <a:rPr lang="en-US" sz="1400" b="0" i="0" u="none" strike="noStrike">
                <a:solidFill>
                  <a:srgbClr val="1F2937"/>
                </a:solidFill>
                <a:latin typeface="Source Code Pro"/>
                <a:ea typeface="Source Code Pro"/>
                <a:cs typeface="Source Code Pro"/>
                <a:sym typeface="Source Code Pro"/>
              </a:rPr>
              <a:t>result_2 = A @ B # 方法二：使用 @ 运算符 (Python 3.5+ 推荐写法)</a:t>
            </a:r>
          </a:p>
          <a:p>
            <a:pPr marL="0" indent="0" algn="l">
              <a:lnSpc>
                <a:spcPct val="108333"/>
              </a:lnSpc>
            </a:pPr>
            <a:r>
              <a:rPr lang="en-US" sz="1400" b="0" i="0" u="none" strike="noStrike">
                <a:solidFill>
                  <a:srgbClr val="6B7280"/>
                </a:solidFill>
                <a:latin typeface="Source Code Pro"/>
                <a:ea typeface="Source Code Pro"/>
                <a:cs typeface="Source Code Pro"/>
                <a:sym typeface="Source Code Pro"/>
              </a:rPr>
              <a:t># 输出结果均为：[[19 22], [43 50]]</a:t>
            </a:r>
          </a:p>
        </p:txBody>
      </p:sp>
      <p:sp>
        <p:nvSpPr>
          <p:cNvPr id="7" name="AutoShape 7"/>
          <p:cNvSpPr/>
          <p:nvPr/>
        </p:nvSpPr>
        <p:spPr>
          <a:xfrm>
            <a:off x="762000" y="5207000"/>
            <a:ext cx="10668000" cy="1079500"/>
          </a:xfrm>
          <a:prstGeom prst="roundRect">
            <a:avLst>
              <a:gd name="adj" fmla="val 0"/>
            </a:avLst>
          </a:prstGeom>
          <a:solidFill>
            <a:srgbClr val="FEF3C7">
              <a:alpha val="85000"/>
            </a:srgbClr>
          </a:solidFill>
          <a:ln w="12700" cap="flat" cmpd="sng">
            <a:solidFill>
              <a:srgbClr val="F59E0B">
                <a:alpha val="5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562600"/>
            <a:ext cx="355600" cy="355600"/>
          </a:xfrm>
          <a:prstGeom prst="rect">
            <a:avLst/>
          </a:prstGeom>
        </p:spPr>
      </p:pic>
      <p:sp>
        <p:nvSpPr>
          <p:cNvPr id="9" name="AutoShape 9"/>
          <p:cNvSpPr/>
          <p:nvPr/>
        </p:nvSpPr>
        <p:spPr>
          <a:xfrm>
            <a:off x="1524000" y="5397500"/>
            <a:ext cx="977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B45309"/>
                </a:solidFill>
                <a:latin typeface="Noto Sans SC"/>
                <a:ea typeface="Noto Sans SC"/>
                <a:cs typeface="Noto Sans SC"/>
                <a:sym typeface="Noto Sans SC"/>
              </a:rPr>
              <a:t>核心易错点：</a:t>
            </a:r>
            <a:r>
              <a:rPr lang="en-US" sz="1500" b="0" i="0" u="none" strike="noStrike">
                <a:solidFill>
                  <a:srgbClr val="374151"/>
                </a:solidFill>
                <a:latin typeface="Noto Sans SC"/>
                <a:ea typeface="Noto Sans SC"/>
                <a:cs typeface="Noto Sans SC"/>
                <a:sym typeface="Noto Sans SC"/>
              </a:rPr>
              <a:t>切勿混淆</a:t>
            </a:r>
            <a:r>
              <a:rPr lang="en-US" sz="1500" b="1" i="0" u="none" strike="noStrike">
                <a:solidFill>
                  <a:srgbClr val="374151"/>
                </a:solidFill>
                <a:latin typeface="Noto Sans SC"/>
                <a:ea typeface="Noto Sans SC"/>
                <a:cs typeface="Noto Sans SC"/>
                <a:sym typeface="Noto Sans SC"/>
              </a:rPr>
              <a:t>A * B</a:t>
            </a:r>
            <a:r>
              <a:rPr lang="en-US" sz="1500" b="0" i="0" u="none" strike="noStrike">
                <a:solidFill>
                  <a:srgbClr val="374151"/>
                </a:solidFill>
                <a:latin typeface="Noto Sans SC"/>
                <a:ea typeface="Noto Sans SC"/>
                <a:cs typeface="Noto Sans SC"/>
                <a:sym typeface="Noto Sans SC"/>
              </a:rPr>
              <a:t>与</a:t>
            </a:r>
            <a:r>
              <a:rPr lang="en-US" sz="1500" b="1" i="0" u="none" strike="noStrike">
                <a:solidFill>
                  <a:srgbClr val="374151"/>
                </a:solidFill>
                <a:latin typeface="Noto Sans SC"/>
                <a:ea typeface="Noto Sans SC"/>
                <a:cs typeface="Noto Sans SC"/>
                <a:sym typeface="Noto Sans SC"/>
              </a:rPr>
              <a:t>A @ B</a:t>
            </a:r>
            <a:r>
              <a:rPr lang="en-US" sz="1500" b="0" i="0" u="none" strike="noStrike">
                <a:solidFill>
                  <a:srgbClr val="374151"/>
                </a:solidFill>
                <a:latin typeface="Noto Sans SC"/>
                <a:ea typeface="Noto Sans SC"/>
                <a:cs typeface="Noto Sans SC"/>
                <a:sym typeface="Noto Sans SC"/>
              </a:rPr>
              <a:t>。前者执行的是**元素级乘法**（对应位置数值相乘），后者才是数学意义上的**矩阵乘法**（行与列的点积运算），二者计算逻辑与结果截然不同。</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线性代数应用：求解线性方程组</a:t>
            </a:r>
            <a:endParaRPr lang="en-US" sz="1100"/>
          </a:p>
        </p:txBody>
      </p:sp>
      <p:sp>
        <p:nvSpPr>
          <p:cNvPr id="4" name="AutoShape 4"/>
          <p:cNvSpPr/>
          <p:nvPr/>
        </p:nvSpPr>
        <p:spPr>
          <a:xfrm>
            <a:off x="762000" y="1651000"/>
            <a:ext cx="1066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374151"/>
                </a:solidFill>
                <a:latin typeface="Noto Sans SC"/>
                <a:ea typeface="Noto Sans SC"/>
                <a:cs typeface="Noto Sans SC"/>
                <a:sym typeface="Noto Sans SC"/>
              </a:rPr>
              <a:t>求解形如</a:t>
            </a:r>
            <a:r>
              <a:rPr lang="en-US" sz="1600" b="1" i="0" u="none" strike="noStrike">
                <a:solidFill>
                  <a:srgbClr val="374151"/>
                </a:solidFill>
                <a:latin typeface="Noto Sans SC"/>
                <a:ea typeface="Noto Sans SC"/>
                <a:cs typeface="Noto Sans SC"/>
                <a:sym typeface="Noto Sans SC"/>
              </a:rPr>
              <a:t>Ax = b</a:t>
            </a:r>
            <a:r>
              <a:rPr lang="en-US" sz="1600" b="0" i="0" u="none" strike="noStrike">
                <a:solidFill>
                  <a:srgbClr val="374151"/>
                </a:solidFill>
                <a:latin typeface="Noto Sans SC"/>
                <a:ea typeface="Noto Sans SC"/>
                <a:cs typeface="Noto Sans SC"/>
                <a:sym typeface="Noto Sans SC"/>
              </a:rPr>
              <a:t>的线性方程组是科学计算的基石。利用 Python 的 NumPy 库，我们可以通过简洁的 API 调用底层优化的线性代数库，快速得到高精度的计算结果，广泛应用于工程模拟、金融建模及机器学习等领域。</a:t>
            </a:r>
            <a:endParaRPr lang="en-US" sz="1100"/>
          </a:p>
        </p:txBody>
      </p:sp>
      <p:sp>
        <p:nvSpPr>
          <p:cNvPr id="5" name="AutoShape 5"/>
          <p:cNvSpPr/>
          <p:nvPr/>
        </p:nvSpPr>
        <p:spPr>
          <a:xfrm>
            <a:off x="762000" y="2667000"/>
            <a:ext cx="10668000" cy="2984500"/>
          </a:xfrm>
          <a:prstGeom prst="roundRect">
            <a:avLst>
              <a:gd name="adj" fmla="val 0"/>
            </a:avLst>
          </a:prstGeom>
          <a:solidFill>
            <a:srgbClr val="1E293B">
              <a:alpha val="100000"/>
            </a:srgbClr>
          </a:solidFill>
          <a:ln cap="flat" cmpd="sng">
            <a:solidFill>
              <a:srgbClr val="0E1522">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667000"/>
            <a:ext cx="10668000" cy="406400"/>
          </a:xfrm>
          <a:prstGeom prst="roundRect">
            <a:avLst>
              <a:gd name="adj" fmla="val 0"/>
            </a:avLst>
          </a:prstGeom>
          <a:solidFill>
            <a:srgbClr val="334155">
              <a:alpha val="100000"/>
            </a:srgbClr>
          </a:solidFill>
          <a:ln cap="flat" cmpd="sng">
            <a:solidFill>
              <a:srgbClr val="1E2A3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27940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44600" y="2794000"/>
            <a:ext cx="152400" cy="152400"/>
          </a:xfrm>
          <a:prstGeom prst="ellipse">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536700" y="2794000"/>
            <a:ext cx="152400" cy="152400"/>
          </a:xfrm>
          <a:prstGeom prst="ellipse">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968500" y="2743200"/>
            <a:ext cx="317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4A3B8"/>
                </a:solidFill>
                <a:latin typeface="Consolas"/>
                <a:ea typeface="Consolas"/>
                <a:cs typeface="Consolas"/>
                <a:sym typeface="Consolas"/>
              </a:rPr>
              <a:t>solve_linear_system.py — PyCharm</a:t>
            </a:r>
            <a:endParaRPr lang="en-US" sz="1100"/>
          </a:p>
        </p:txBody>
      </p:sp>
      <p:sp>
        <p:nvSpPr>
          <p:cNvPr id="11" name="AutoShape 11"/>
          <p:cNvSpPr/>
          <p:nvPr/>
        </p:nvSpPr>
        <p:spPr>
          <a:xfrm>
            <a:off x="952500" y="3175000"/>
            <a:ext cx="10287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C084FC"/>
                </a:solidFill>
                <a:latin typeface="Consolas"/>
                <a:ea typeface="Consolas"/>
                <a:cs typeface="Consolas"/>
                <a:sym typeface="Consolas"/>
              </a:rPr>
              <a:t>import</a:t>
            </a:r>
            <a:r>
              <a:rPr lang="en-US" sz="1300" b="0" i="0" u="none" strike="noStrike">
                <a:solidFill>
                  <a:srgbClr val="CBD5E1"/>
                </a:solidFill>
                <a:latin typeface="Consolas"/>
                <a:ea typeface="Consolas"/>
                <a:cs typeface="Consolas"/>
                <a:sym typeface="Consolas"/>
              </a:rPr>
              <a:t>numpy</a:t>
            </a:r>
            <a:r>
              <a:rPr lang="en-US" sz="1300" b="0" i="0" u="none" strike="noStrike">
                <a:solidFill>
                  <a:srgbClr val="C084FC"/>
                </a:solidFill>
                <a:latin typeface="Consolas"/>
                <a:ea typeface="Consolas"/>
                <a:cs typeface="Consolas"/>
                <a:sym typeface="Consolas"/>
              </a:rPr>
              <a:t>as</a:t>
            </a:r>
            <a:r>
              <a:rPr lang="en-US" sz="1300" b="0" i="0" u="none" strike="noStrike">
                <a:solidFill>
                  <a:srgbClr val="CBD5E1"/>
                </a:solidFill>
                <a:latin typeface="Consolas"/>
                <a:ea typeface="Consolas"/>
                <a:cs typeface="Consolas"/>
                <a:sym typeface="Consolas"/>
              </a:rPr>
              <a:t>np</a:t>
            </a:r>
            <a:endParaRPr lang="en-US" sz="1100"/>
          </a:p>
          <a:p>
            <a:pPr marL="0" indent="0" algn="l">
              <a:lnSpc>
                <a:spcPct val="108333"/>
              </a:lnSpc>
            </a:pPr>
            <a:r>
              <a:rPr lang="en-US" sz="1300" b="0" i="0" u="none" strike="noStrike">
                <a:solidFill>
                  <a:srgbClr val="64748B"/>
                </a:solidFill>
                <a:latin typeface="Consolas"/>
                <a:ea typeface="Consolas"/>
                <a:cs typeface="Consolas"/>
                <a:sym typeface="Consolas"/>
              </a:rPr>
              <a:t># 定义系数矩阵 A 与常数项向量 b (对应: x+2y=5, 3x+4y=11)</a:t>
            </a:r>
          </a:p>
          <a:p>
            <a:pPr marL="0" indent="0" algn="l">
              <a:lnSpc>
                <a:spcPct val="108333"/>
              </a:lnSpc>
            </a:pPr>
            <a:r>
              <a:rPr lang="en-US" sz="1300" b="0" i="0" u="none" strike="noStrike">
                <a:solidFill>
                  <a:srgbClr val="CBD5E1"/>
                </a:solidFill>
                <a:latin typeface="Consolas"/>
                <a:ea typeface="Consolas"/>
                <a:cs typeface="Consolas"/>
                <a:sym typeface="Consolas"/>
              </a:rPr>
              <a:t>A = np.array([[1, 2], [3, 4]]); b = np.array([5, 11])</a:t>
            </a:r>
          </a:p>
          <a:p>
            <a:pPr marL="0" indent="0" algn="l">
              <a:lnSpc>
                <a:spcPct val="108333"/>
              </a:lnSpc>
            </a:pPr>
            <a:r>
              <a:rPr lang="en-US" sz="1300" b="0" i="0" u="none" strike="noStrike">
                <a:solidFill>
                  <a:srgbClr val="64748B"/>
                </a:solidFill>
                <a:latin typeface="Consolas"/>
                <a:ea typeface="Consolas"/>
                <a:cs typeface="Consolas"/>
                <a:sym typeface="Consolas"/>
              </a:rPr>
              <a:t># 调用求解器并验证结果 (A @ x 应约等于 b)</a:t>
            </a:r>
          </a:p>
          <a:p>
            <a:pPr marL="0" indent="0" algn="l">
              <a:lnSpc>
                <a:spcPct val="108333"/>
              </a:lnSpc>
            </a:pPr>
            <a:r>
              <a:rPr lang="en-US" sz="1300" b="0" i="0" u="none" strike="noStrike">
                <a:solidFill>
                  <a:srgbClr val="CBD5E1"/>
                </a:solidFill>
                <a:latin typeface="Consolas"/>
                <a:ea typeface="Consolas"/>
                <a:cs typeface="Consolas"/>
                <a:sym typeface="Consolas"/>
              </a:rPr>
              <a:t>x = np.linalg.solve(A, b)</a:t>
            </a:r>
          </a:p>
          <a:p>
            <a:pPr marL="0" indent="0" algn="l">
              <a:lnSpc>
                <a:spcPct val="108333"/>
              </a:lnSpc>
            </a:pPr>
            <a:r>
              <a:rPr lang="en-US" sz="1300" b="0" i="0" u="none" strike="noStrike">
                <a:solidFill>
                  <a:srgbClr val="CBD5E1"/>
                </a:solidFill>
                <a:latin typeface="Consolas"/>
                <a:ea typeface="Consolas"/>
                <a:cs typeface="Consolas"/>
                <a:sym typeface="Consolas"/>
              </a:rPr>
              <a:t>print("Solution: x =", x)</a:t>
            </a:r>
            <a:r>
              <a:rPr lang="en-US" sz="1300" b="0" i="0" u="none" strike="noStrike">
                <a:solidFill>
                  <a:srgbClr val="64748B"/>
                </a:solidFill>
                <a:latin typeface="Consolas"/>
                <a:ea typeface="Consolas"/>
                <a:cs typeface="Consolas"/>
                <a:sym typeface="Consolas"/>
              </a:rPr>
              <a:t># 输出: [1. 2.]</a:t>
            </a:r>
          </a:p>
          <a:p>
            <a:pPr marL="0" indent="0" algn="l">
              <a:lnSpc>
                <a:spcPct val="108333"/>
              </a:lnSpc>
            </a:pPr>
            <a:r>
              <a:rPr lang="en-US" sz="1300" b="0" i="0" u="none" strike="noStrike">
                <a:solidFill>
                  <a:srgbClr val="CBD5E1"/>
                </a:solidFill>
                <a:latin typeface="Consolas"/>
                <a:ea typeface="Consolas"/>
                <a:cs typeface="Consolas"/>
                <a:sym typeface="Consolas"/>
              </a:rPr>
              <a:t>print("Check: A @ x =", A @ x)</a:t>
            </a:r>
            <a:r>
              <a:rPr lang="en-US" sz="1300" b="0" i="0" u="none" strike="noStrike">
                <a:solidFill>
                  <a:srgbClr val="64748B"/>
                </a:solidFill>
                <a:latin typeface="Consolas"/>
                <a:ea typeface="Consolas"/>
                <a:cs typeface="Consolas"/>
                <a:sym typeface="Consolas"/>
              </a:rPr>
              <a:t># 输出: [ 5. 11.]</a:t>
            </a:r>
          </a:p>
        </p:txBody>
      </p:sp>
      <p:sp>
        <p:nvSpPr>
          <p:cNvPr id="12" name="AutoShape 12"/>
          <p:cNvSpPr/>
          <p:nvPr/>
        </p:nvSpPr>
        <p:spPr>
          <a:xfrm>
            <a:off x="762000" y="5842000"/>
            <a:ext cx="10668000" cy="584200"/>
          </a:xfrm>
          <a:prstGeom prst="roundRect">
            <a:avLst>
              <a:gd name="adj" fmla="val 0"/>
            </a:avLst>
          </a:prstGeom>
          <a:solidFill>
            <a:srgbClr val="F0FDF4">
              <a:alpha val="70000"/>
            </a:srgbClr>
          </a:solidFill>
          <a:ln w="12700" cap="flat" cmpd="sng">
            <a:solidFill>
              <a:srgbClr val="86EFAC">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89000" y="5918200"/>
            <a:ext cx="10414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15803D"/>
                </a:solidFill>
                <a:latin typeface="Noto Sans SC"/>
                <a:ea typeface="Noto Sans SC"/>
                <a:cs typeface="Noto Sans SC"/>
                <a:sym typeface="Noto Sans SC"/>
              </a:rPr>
              <a:t>💡</a:t>
            </a:r>
            <a:r>
              <a:rPr lang="en-US" sz="1400" b="1" i="0" u="none" strike="noStrike">
                <a:solidFill>
                  <a:srgbClr val="15803D"/>
                </a:solidFill>
                <a:latin typeface="Noto Sans SC"/>
                <a:ea typeface="Noto Sans SC"/>
                <a:cs typeface="Noto Sans SC"/>
                <a:sym typeface="Noto Sans SC"/>
              </a:rPr>
              <a:t>核心优势：</a:t>
            </a:r>
            <a:r>
              <a:rPr lang="en-US" sz="1400" b="0" i="0" u="none" strike="noStrike">
                <a:solidFill>
                  <a:srgbClr val="15803D"/>
                </a:solidFill>
                <a:latin typeface="Noto Sans SC"/>
                <a:ea typeface="Noto Sans SC"/>
                <a:cs typeface="Noto Sans SC"/>
                <a:sym typeface="Noto Sans SC"/>
              </a:rPr>
              <a:t>NumPy 的 `linalg.solve()` 并非简单的矩阵求逆，而是基于 LAPACK 库实现的 LU 分解算法，在数值稳定性和计算效率上都远优于手动实现的克莱姆法则。</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线性代数应用：矩阵的逆与特征值</a:t>
            </a:r>
            <a:endParaRPr lang="en-US" sz="1100"/>
          </a:p>
        </p:txBody>
      </p:sp>
      <p:sp>
        <p:nvSpPr>
          <p:cNvPr id="4" name="AutoShape 4"/>
          <p:cNvSpPr/>
          <p:nvPr/>
        </p:nvSpPr>
        <p:spPr>
          <a:xfrm>
            <a:off x="762000" y="1778000"/>
            <a:ext cx="10668000" cy="3810000"/>
          </a:xfrm>
          <a:prstGeom prst="roundRect">
            <a:avLst>
              <a:gd name="adj" fmla="val 0"/>
            </a:avLst>
          </a:prstGeom>
          <a:solidFill>
            <a:srgbClr val="1F2937">
              <a:alpha val="88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0066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95400" y="2006600"/>
            <a:ext cx="152400" cy="152400"/>
          </a:xfrm>
          <a:prstGeom prst="ellipse">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574800" y="2006600"/>
            <a:ext cx="152400" cy="152400"/>
          </a:xfrm>
          <a:prstGeom prst="ellipse">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8" name="Connector 8"/>
          <p:cNvCxnSpPr/>
          <p:nvPr/>
        </p:nvCxnSpPr>
        <p:spPr>
          <a:xfrm rot="-4092">
            <a:off x="762004" y="2343150"/>
            <a:ext cx="10668000" cy="12700"/>
          </a:xfrm>
          <a:prstGeom prst="straightConnector1">
            <a:avLst/>
          </a:prstGeom>
          <a:solidFill>
            <a:srgbClr val="DEE0E3">
              <a:alpha val="100000"/>
            </a:srgbClr>
          </a:solidFill>
          <a:ln w="12700" cap="flat" cmpd="sng">
            <a:solidFill>
              <a:srgbClr val="4B5563">
                <a:alpha val="100000"/>
              </a:srgbClr>
            </a:solidFill>
            <a:prstDash val="solid"/>
            <a:round/>
            <a:headEnd type="none" w="med" len="med"/>
            <a:tailEnd type="none" w="med" len="med"/>
          </a:ln>
        </p:spPr>
      </p:cxnSp>
      <p:sp>
        <p:nvSpPr>
          <p:cNvPr id="9" name="AutoShape 9"/>
          <p:cNvSpPr/>
          <p:nvPr/>
        </p:nvSpPr>
        <p:spPr>
          <a:xfrm>
            <a:off x="1016000" y="2540000"/>
            <a:ext cx="10160000" cy="2984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C084FC"/>
                </a:solidFill>
                <a:latin typeface="Consolas"/>
                <a:ea typeface="Consolas"/>
                <a:cs typeface="Consolas"/>
                <a:sym typeface="Consolas"/>
              </a:rPr>
              <a:t>import</a:t>
            </a:r>
            <a:r>
              <a:rPr lang="en-US" sz="1400" b="0" i="0" u="none" strike="noStrike">
                <a:solidFill>
                  <a:srgbClr val="E5E7EB"/>
                </a:solidFill>
                <a:latin typeface="Consolas"/>
                <a:ea typeface="Consolas"/>
                <a:cs typeface="Consolas"/>
                <a:sym typeface="Consolas"/>
              </a:rPr>
              <a:t>numpy</a:t>
            </a:r>
            <a:r>
              <a:rPr lang="en-US" sz="1400" b="0" i="0" u="none" strike="noStrike">
                <a:solidFill>
                  <a:srgbClr val="C084FC"/>
                </a:solidFill>
                <a:latin typeface="Consolas"/>
                <a:ea typeface="Consolas"/>
                <a:cs typeface="Consolas"/>
                <a:sym typeface="Consolas"/>
              </a:rPr>
              <a:t>as</a:t>
            </a:r>
            <a:r>
              <a:rPr lang="en-US" sz="1400" b="0" i="0" u="none" strike="noStrike">
                <a:solidFill>
                  <a:srgbClr val="E5E7EB"/>
                </a:solidFill>
                <a:latin typeface="Consolas"/>
                <a:ea typeface="Consolas"/>
                <a:cs typeface="Consolas"/>
                <a:sym typeface="Consolas"/>
              </a:rPr>
              <a:t>np</a:t>
            </a:r>
            <a:endParaRPr lang="en-US" sz="1100"/>
          </a:p>
          <a:p>
            <a:pPr marL="0" indent="0" algn="l">
              <a:lnSpc>
                <a:spcPct val="116666"/>
              </a:lnSpc>
            </a:pPr>
            <a:r>
              <a:rPr lang="en-US" sz="1400" b="0" i="0" u="none" strike="noStrike">
                <a:solidFill>
                  <a:srgbClr val="FBBF24"/>
                </a:solidFill>
                <a:latin typeface="Consolas"/>
                <a:ea typeface="Consolas"/>
                <a:cs typeface="Consolas"/>
                <a:sym typeface="Consolas"/>
              </a:rPr>
              <a:t>A</a:t>
            </a:r>
            <a:r>
              <a:rPr lang="en-US" sz="1400" b="0" i="0" u="none" strike="noStrike">
                <a:solidFill>
                  <a:srgbClr val="E5E7EB"/>
                </a:solidFill>
                <a:latin typeface="Consolas"/>
                <a:ea typeface="Consolas"/>
                <a:cs typeface="Consolas"/>
                <a:sym typeface="Consolas"/>
              </a:rPr>
              <a:t>= np.</a:t>
            </a:r>
            <a:r>
              <a:rPr lang="en-US" sz="1400" b="0" i="0" u="none" strike="noStrike">
                <a:solidFill>
                  <a:srgbClr val="60A5FA"/>
                </a:solidFill>
                <a:latin typeface="Consolas"/>
                <a:ea typeface="Consolas"/>
                <a:cs typeface="Consolas"/>
                <a:sym typeface="Consolas"/>
              </a:rPr>
              <a:t>array</a:t>
            </a:r>
            <a:r>
              <a:rPr lang="en-US" sz="1400" b="0" i="0" u="none" strike="noStrike">
                <a:solidFill>
                  <a:srgbClr val="E5E7EB"/>
                </a:solidFill>
                <a:latin typeface="Consolas"/>
                <a:ea typeface="Consolas"/>
                <a:cs typeface="Consolas"/>
                <a:sym typeface="Consolas"/>
              </a:rPr>
              <a:t>([[1, 2], [3, 4]])</a:t>
            </a:r>
            <a:r>
              <a:rPr lang="en-US" sz="1400" b="0" i="0" u="none" strike="noStrike">
                <a:solidFill>
                  <a:srgbClr val="9CA3AF"/>
                </a:solidFill>
                <a:latin typeface="Consolas"/>
                <a:ea typeface="Consolas"/>
                <a:cs typeface="Consolas"/>
                <a:sym typeface="Consolas"/>
              </a:rPr>
              <a:t># 定义二维矩阵</a:t>
            </a:r>
          </a:p>
          <a:p>
            <a:pPr marL="0" indent="0" algn="l">
              <a:lnSpc>
                <a:spcPct val="116666"/>
              </a:lnSpc>
            </a:pPr>
            <a:r>
              <a:rPr lang="en-US" sz="1400" b="0" i="0" u="none" strike="noStrike">
                <a:solidFill>
                  <a:srgbClr val="9CA3AF"/>
                </a:solidFill>
                <a:latin typeface="Consolas"/>
                <a:ea typeface="Consolas"/>
                <a:cs typeface="Consolas"/>
                <a:sym typeface="Consolas"/>
              </a:rPr>
              <a:t># 计算矩阵的逆与特征值分解</a:t>
            </a:r>
          </a:p>
          <a:p>
            <a:pPr marL="0" indent="0" algn="l">
              <a:lnSpc>
                <a:spcPct val="116666"/>
              </a:lnSpc>
            </a:pPr>
            <a:r>
              <a:rPr lang="en-US" sz="1400" b="0" i="0" u="none" strike="noStrike">
                <a:solidFill>
                  <a:srgbClr val="FBBF24"/>
                </a:solidFill>
                <a:latin typeface="Consolas"/>
                <a:ea typeface="Consolas"/>
                <a:cs typeface="Consolas"/>
                <a:sym typeface="Consolas"/>
              </a:rPr>
              <a:t>A_inv</a:t>
            </a:r>
            <a:r>
              <a:rPr lang="en-US" sz="1400" b="0" i="0" u="none" strike="noStrike">
                <a:solidFill>
                  <a:srgbClr val="E5E7EB"/>
                </a:solidFill>
                <a:latin typeface="Consolas"/>
                <a:ea typeface="Consolas"/>
                <a:cs typeface="Consolas"/>
                <a:sym typeface="Consolas"/>
              </a:rPr>
              <a:t>= np.linalg.</a:t>
            </a:r>
            <a:r>
              <a:rPr lang="en-US" sz="1400" b="0" i="0" u="none" strike="noStrike">
                <a:solidFill>
                  <a:srgbClr val="60A5FA"/>
                </a:solidFill>
                <a:latin typeface="Consolas"/>
                <a:ea typeface="Consolas"/>
                <a:cs typeface="Consolas"/>
                <a:sym typeface="Consolas"/>
              </a:rPr>
              <a:t>inv</a:t>
            </a:r>
            <a:r>
              <a:rPr lang="en-US" sz="1400" b="0" i="0" u="none" strike="noStrike">
                <a:solidFill>
                  <a:srgbClr val="E5E7EB"/>
                </a:solidFill>
                <a:latin typeface="Consolas"/>
                <a:ea typeface="Consolas"/>
                <a:cs typeface="Consolas"/>
                <a:sym typeface="Consolas"/>
              </a:rPr>
              <a:t>(</a:t>
            </a:r>
            <a:r>
              <a:rPr lang="en-US" sz="1400" b="0" i="0" u="none" strike="noStrike">
                <a:solidFill>
                  <a:srgbClr val="FBBF24"/>
                </a:solidFill>
                <a:latin typeface="Consolas"/>
                <a:ea typeface="Consolas"/>
                <a:cs typeface="Consolas"/>
                <a:sym typeface="Consolas"/>
              </a:rPr>
              <a:t>A</a:t>
            </a:r>
            <a:r>
              <a:rPr lang="en-US" sz="1400" b="0" i="0" u="none" strike="noStrike">
                <a:solidFill>
                  <a:srgbClr val="E5E7EB"/>
                </a:solidFill>
                <a:latin typeface="Consolas"/>
                <a:ea typeface="Consolas"/>
                <a:cs typeface="Consolas"/>
                <a:sym typeface="Consolas"/>
              </a:rPr>
              <a:t>)</a:t>
            </a:r>
            <a:r>
              <a:rPr lang="en-US" sz="1400" b="0" i="0" u="none" strike="noStrike">
                <a:solidFill>
                  <a:srgbClr val="9CA3AF"/>
                </a:solidFill>
                <a:latin typeface="Consolas"/>
                <a:ea typeface="Consolas"/>
                <a:cs typeface="Consolas"/>
                <a:sym typeface="Consolas"/>
              </a:rPr>
              <a:t># 矩阵求逆</a:t>
            </a:r>
          </a:p>
          <a:p>
            <a:pPr marL="0" indent="0" algn="l">
              <a:lnSpc>
                <a:spcPct val="116666"/>
              </a:lnSpc>
            </a:pPr>
            <a:r>
              <a:rPr lang="en-US" sz="1400" b="0" i="0" u="none" strike="noStrike">
                <a:solidFill>
                  <a:srgbClr val="FBBF24"/>
                </a:solidFill>
                <a:latin typeface="Consolas"/>
                <a:ea typeface="Consolas"/>
                <a:cs typeface="Consolas"/>
                <a:sym typeface="Consolas"/>
              </a:rPr>
              <a:t>vals</a:t>
            </a:r>
            <a:r>
              <a:rPr lang="en-US" sz="1400" b="0" i="0" u="none" strike="noStrike">
                <a:solidFill>
                  <a:srgbClr val="E5E7EB"/>
                </a:solidFill>
                <a:latin typeface="Consolas"/>
                <a:ea typeface="Consolas"/>
                <a:cs typeface="Consolas"/>
                <a:sym typeface="Consolas"/>
              </a:rPr>
              <a:t>,</a:t>
            </a:r>
            <a:r>
              <a:rPr lang="en-US" sz="1400" b="0" i="0" u="none" strike="noStrike">
                <a:solidFill>
                  <a:srgbClr val="FBBF24"/>
                </a:solidFill>
                <a:latin typeface="Consolas"/>
                <a:ea typeface="Consolas"/>
                <a:cs typeface="Consolas"/>
                <a:sym typeface="Consolas"/>
              </a:rPr>
              <a:t>vecs</a:t>
            </a:r>
            <a:r>
              <a:rPr lang="en-US" sz="1400" b="0" i="0" u="none" strike="noStrike">
                <a:solidFill>
                  <a:srgbClr val="E5E7EB"/>
                </a:solidFill>
                <a:latin typeface="Consolas"/>
                <a:ea typeface="Consolas"/>
                <a:cs typeface="Consolas"/>
                <a:sym typeface="Consolas"/>
              </a:rPr>
              <a:t>= np.linalg.</a:t>
            </a:r>
            <a:r>
              <a:rPr lang="en-US" sz="1400" b="0" i="0" u="none" strike="noStrike">
                <a:solidFill>
                  <a:srgbClr val="60A5FA"/>
                </a:solidFill>
                <a:latin typeface="Consolas"/>
                <a:ea typeface="Consolas"/>
                <a:cs typeface="Consolas"/>
                <a:sym typeface="Consolas"/>
              </a:rPr>
              <a:t>eig</a:t>
            </a:r>
            <a:r>
              <a:rPr lang="en-US" sz="1400" b="0" i="0" u="none" strike="noStrike">
                <a:solidFill>
                  <a:srgbClr val="E5E7EB"/>
                </a:solidFill>
                <a:latin typeface="Consolas"/>
                <a:ea typeface="Consolas"/>
                <a:cs typeface="Consolas"/>
                <a:sym typeface="Consolas"/>
              </a:rPr>
              <a:t>(</a:t>
            </a:r>
            <a:r>
              <a:rPr lang="en-US" sz="1400" b="0" i="0" u="none" strike="noStrike">
                <a:solidFill>
                  <a:srgbClr val="FBBF24"/>
                </a:solidFill>
                <a:latin typeface="Consolas"/>
                <a:ea typeface="Consolas"/>
                <a:cs typeface="Consolas"/>
                <a:sym typeface="Consolas"/>
              </a:rPr>
              <a:t>A</a:t>
            </a:r>
            <a:r>
              <a:rPr lang="en-US" sz="1400" b="0" i="0" u="none" strike="noStrike">
                <a:solidFill>
                  <a:srgbClr val="E5E7EB"/>
                </a:solidFill>
                <a:latin typeface="Consolas"/>
                <a:ea typeface="Consolas"/>
                <a:cs typeface="Consolas"/>
                <a:sym typeface="Consolas"/>
              </a:rPr>
              <a:t>)</a:t>
            </a:r>
            <a:r>
              <a:rPr lang="en-US" sz="1400" b="0" i="0" u="none" strike="noStrike">
                <a:solidFill>
                  <a:srgbClr val="9CA3AF"/>
                </a:solidFill>
                <a:latin typeface="Consolas"/>
                <a:ea typeface="Consolas"/>
                <a:cs typeface="Consolas"/>
                <a:sym typeface="Consolas"/>
              </a:rPr>
              <a:t># 特征值与特征向量</a:t>
            </a:r>
          </a:p>
          <a:p>
            <a:pPr marL="0" indent="0" algn="l">
              <a:lnSpc>
                <a:spcPct val="116666"/>
              </a:lnSpc>
            </a:pPr>
            <a:r>
              <a:rPr lang="en-US" sz="1400" b="0" i="0" u="none" strike="noStrike">
                <a:solidFill>
                  <a:srgbClr val="C084FC"/>
                </a:solidFill>
                <a:latin typeface="Consolas"/>
                <a:ea typeface="Consolas"/>
                <a:cs typeface="Consolas"/>
                <a:sym typeface="Consolas"/>
              </a:rPr>
              <a:t>print</a:t>
            </a:r>
            <a:r>
              <a:rPr lang="en-US" sz="1400" b="0" i="0" u="none" strike="noStrike">
                <a:solidFill>
                  <a:srgbClr val="E5E7EB"/>
                </a:solidFill>
                <a:latin typeface="Consolas"/>
                <a:ea typeface="Consolas"/>
                <a:cs typeface="Consolas"/>
                <a:sym typeface="Consolas"/>
              </a:rPr>
              <a:t>(</a:t>
            </a:r>
            <a:r>
              <a:rPr lang="en-US" sz="1400" b="0" i="0" u="none" strike="noStrike">
                <a:solidFill>
                  <a:srgbClr val="A7F3D0"/>
                </a:solidFill>
                <a:latin typeface="Consolas"/>
                <a:ea typeface="Consolas"/>
                <a:cs typeface="Consolas"/>
                <a:sym typeface="Consolas"/>
              </a:rPr>
              <a:t>"特征值："</a:t>
            </a:r>
            <a:r>
              <a:rPr lang="en-US" sz="1400" b="0" i="0" u="none" strike="noStrike">
                <a:solidFill>
                  <a:srgbClr val="E5E7EB"/>
                </a:solidFill>
                <a:latin typeface="Consolas"/>
                <a:ea typeface="Consolas"/>
                <a:cs typeface="Consolas"/>
                <a:sym typeface="Consolas"/>
              </a:rPr>
              <a:t>,</a:t>
            </a:r>
            <a:r>
              <a:rPr lang="en-US" sz="1400" b="0" i="0" u="none" strike="noStrike">
                <a:solidFill>
                  <a:srgbClr val="FBBF24"/>
                </a:solidFill>
                <a:latin typeface="Consolas"/>
                <a:ea typeface="Consolas"/>
                <a:cs typeface="Consolas"/>
                <a:sym typeface="Consolas"/>
              </a:rPr>
              <a:t>vals</a:t>
            </a:r>
            <a:r>
              <a:rPr lang="en-US" sz="1400" b="0" i="0" u="none" strike="noStrike">
                <a:solidFill>
                  <a:srgbClr val="E5E7EB"/>
                </a:solidFill>
                <a:latin typeface="Consolas"/>
                <a:ea typeface="Consolas"/>
                <a:cs typeface="Consolas"/>
                <a:sym typeface="Consolas"/>
              </a:rPr>
              <a:t>)</a:t>
            </a:r>
          </a:p>
        </p:txBody>
      </p:sp>
      <p:sp>
        <p:nvSpPr>
          <p:cNvPr id="10" name="AutoShape 10"/>
          <p:cNvSpPr/>
          <p:nvPr/>
        </p:nvSpPr>
        <p:spPr>
          <a:xfrm>
            <a:off x="762000" y="5715000"/>
            <a:ext cx="10668000" cy="825500"/>
          </a:xfrm>
          <a:prstGeom prst="roundRect">
            <a:avLst>
              <a:gd name="adj" fmla="val 0"/>
            </a:avLst>
          </a:prstGeom>
          <a:solidFill>
            <a:srgbClr val="F3F4F6">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89000" y="5816600"/>
            <a:ext cx="1041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1F2937"/>
                </a:solidFill>
                <a:latin typeface="Noto Sans SC"/>
                <a:ea typeface="Noto Sans SC"/>
                <a:cs typeface="Noto Sans SC"/>
                <a:sym typeface="Noto Sans SC"/>
              </a:rPr>
              <a:t>应用洞察：</a:t>
            </a:r>
            <a:r>
              <a:rPr lang="en-US" sz="1400" b="0" i="0" u="none" strike="noStrike">
                <a:solidFill>
                  <a:srgbClr val="374151"/>
                </a:solidFill>
                <a:latin typeface="Noto Sans SC"/>
                <a:ea typeface="Noto Sans SC"/>
                <a:cs typeface="Noto Sans SC"/>
                <a:sym typeface="Noto Sans SC"/>
              </a:rPr>
              <a:t>矩阵求逆是线性回归模型参数求解的核心步骤；而特征值分解（EVD）则是主成分分析（PCA）、图像压缩及推荐系统中协同过滤算法的数学基础，在降维与提取关键特征中发挥着不可替代的作用。</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286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1F2937">
                    <a:alpha val="70196"/>
                  </a:srgbClr>
                </a:solidFill>
                <a:latin typeface="Noto Sans SC"/>
                <a:ea typeface="Noto Sans SC"/>
                <a:cs typeface="Noto Sans SC"/>
                <a:sym typeface="Noto Sans SC"/>
              </a:rPr>
              <a:t>PART 03</a:t>
            </a:r>
            <a:endParaRPr lang="en-US" sz="1100"/>
          </a:p>
        </p:txBody>
      </p:sp>
      <p:sp>
        <p:nvSpPr>
          <p:cNvPr id="4" name="AutoShape 4"/>
          <p:cNvSpPr/>
          <p:nvPr/>
        </p:nvSpPr>
        <p:spPr>
          <a:xfrm>
            <a:off x="0" y="3810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1F2937"/>
                </a:solidFill>
                <a:latin typeface="Noto Sans SC"/>
                <a:ea typeface="Noto Sans SC"/>
                <a:cs typeface="Noto Sans SC"/>
                <a:sym typeface="Noto Sans SC"/>
              </a:rPr>
              <a:t>PyTorch深度学习框架</a:t>
            </a:r>
            <a:endParaRPr lang="en-US" sz="1100"/>
          </a:p>
        </p:txBody>
      </p:sp>
      <p:sp>
        <p:nvSpPr>
          <p:cNvPr id="5" name="AutoShape 5"/>
          <p:cNvSpPr/>
          <p:nvPr/>
        </p:nvSpPr>
        <p:spPr>
          <a:xfrm>
            <a:off x="0" y="5334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4B5563"/>
                </a:solidFill>
                <a:latin typeface="Noto Sans SC"/>
                <a:ea typeface="Noto Sans SC"/>
                <a:cs typeface="Noto Sans SC"/>
                <a:sym typeface="Noto Sans SC"/>
              </a:rPr>
              <a:t>从动态计算图到工业级部署的全流程探索与实践</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PyTorch核心：张量 (Tensor)</a:t>
            </a:r>
            <a:endParaRPr lang="en-US" sz="1100"/>
          </a:p>
        </p:txBody>
      </p:sp>
      <p:pic>
        <p:nvPicPr>
          <p:cNvPr id="4" name="Picture 4"/>
          <p:cNvPicPr>
            <a:picLocks noChangeAspect="1"/>
          </p:cNvPicPr>
          <p:nvPr/>
        </p:nvPicPr>
        <p:blipFill>
          <a:blip r:embed="rId4"/>
          <a:srcRect l="80" r="80"/>
          <a:stretch>
            <a:fillRect/>
          </a:stretch>
        </p:blipFill>
        <p:spPr>
          <a:xfrm>
            <a:off x="762000" y="2286000"/>
            <a:ext cx="4064000" cy="1828800"/>
          </a:xfrm>
          <a:prstGeom prst="rect">
            <a:avLst/>
          </a:prstGeom>
          <a:noFill/>
          <a:ln w="25400" cap="flat" cmpd="sng">
            <a:noFill/>
            <a:prstDash val="solid"/>
            <a:round/>
          </a:ln>
        </p:spPr>
      </p:pic>
      <p:sp>
        <p:nvSpPr>
          <p:cNvPr id="5" name="AutoShape 5"/>
          <p:cNvSpPr/>
          <p:nvPr/>
        </p:nvSpPr>
        <p:spPr>
          <a:xfrm>
            <a:off x="762000" y="4445000"/>
            <a:ext cx="4064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500" b="0" i="0" u="none" strike="noStrike">
                <a:solidFill>
                  <a:srgbClr val="1F2937">
                    <a:alpha val="80000"/>
                  </a:srgbClr>
                </a:solidFill>
                <a:latin typeface="Noto Sans SC"/>
                <a:ea typeface="Noto Sans SC"/>
                <a:cs typeface="Noto Sans SC"/>
                <a:sym typeface="Noto Sans SC"/>
              </a:rPr>
              <a:t>Tensor 是 PyTorch 的基础数据单元，它不仅是多维数组的容器，更是连接神经网络计算与硬件加速的桥梁。它借鉴了 NumPy 的数组设计，同时赋予了数据强大的计算能力与动态图特性。</a:t>
            </a:r>
            <a:endParaRPr lang="en-US" sz="1100"/>
          </a:p>
        </p:txBody>
      </p:sp>
      <p:sp>
        <p:nvSpPr>
          <p:cNvPr id="6" name="AutoShape 6"/>
          <p:cNvSpPr/>
          <p:nvPr/>
        </p:nvSpPr>
        <p:spPr>
          <a:xfrm>
            <a:off x="5588000" y="2032000"/>
            <a:ext cx="5842000" cy="1460500"/>
          </a:xfrm>
          <a:prstGeom prst="roundRect">
            <a:avLst>
              <a:gd name="adj" fmla="val 0"/>
            </a:avLst>
          </a:prstGeom>
          <a:solidFill>
            <a:srgbClr val="F9FAFB">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42000" y="2286000"/>
            <a:ext cx="457200" cy="457200"/>
          </a:xfrm>
          <a:prstGeom prst="rect">
            <a:avLst/>
          </a:prstGeom>
        </p:spPr>
      </p:pic>
      <p:sp>
        <p:nvSpPr>
          <p:cNvPr id="8" name="AutoShape 8"/>
          <p:cNvSpPr/>
          <p:nvPr/>
        </p:nvSpPr>
        <p:spPr>
          <a:xfrm>
            <a:off x="6477000" y="2184400"/>
            <a:ext cx="495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1F2937"/>
                </a:solidFill>
                <a:latin typeface="Noto Sans SC"/>
                <a:ea typeface="Noto Sans SC"/>
                <a:cs typeface="Noto Sans SC"/>
                <a:sym typeface="Noto Sans SC"/>
              </a:rPr>
              <a:t>GPU 大规模并行计算</a:t>
            </a:r>
            <a:endParaRPr lang="en-US" sz="1100"/>
          </a:p>
          <a:p>
            <a:pPr marL="0" indent="0" algn="l">
              <a:lnSpc>
                <a:spcPct val="116666"/>
              </a:lnSpc>
            </a:pPr>
            <a:r>
              <a:rPr lang="en-US" sz="1400" b="0" i="0" u="none" strike="noStrike">
                <a:solidFill>
                  <a:srgbClr val="374151">
                    <a:alpha val="80000"/>
                  </a:srgbClr>
                </a:solidFill>
                <a:latin typeface="Noto Sans SC"/>
                <a:ea typeface="Noto Sans SC"/>
                <a:cs typeface="Noto Sans SC"/>
                <a:sym typeface="Noto Sans SC"/>
              </a:rPr>
              <a:t>利用 CUDA 架构释放 GPU 算力，实现矩阵运算的并行加速，训练速度较 CPU 提升数十倍，轻松驾驭大规模深度学习模型的训练需求。</a:t>
            </a:r>
          </a:p>
        </p:txBody>
      </p:sp>
      <p:sp>
        <p:nvSpPr>
          <p:cNvPr id="9" name="AutoShape 9"/>
          <p:cNvSpPr/>
          <p:nvPr/>
        </p:nvSpPr>
        <p:spPr>
          <a:xfrm>
            <a:off x="5588000" y="3683000"/>
            <a:ext cx="5842000" cy="1460500"/>
          </a:xfrm>
          <a:prstGeom prst="roundRect">
            <a:avLst>
              <a:gd name="adj" fmla="val 0"/>
            </a:avLst>
          </a:prstGeom>
          <a:solidFill>
            <a:srgbClr val="F9FAFB">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42000" y="3937000"/>
            <a:ext cx="457200" cy="457200"/>
          </a:xfrm>
          <a:prstGeom prst="rect">
            <a:avLst/>
          </a:prstGeom>
        </p:spPr>
      </p:pic>
      <p:sp>
        <p:nvSpPr>
          <p:cNvPr id="11" name="AutoShape 11"/>
          <p:cNvSpPr/>
          <p:nvPr/>
        </p:nvSpPr>
        <p:spPr>
          <a:xfrm>
            <a:off x="6477000" y="3835400"/>
            <a:ext cx="495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1F2937"/>
                </a:solidFill>
                <a:latin typeface="Noto Sans SC"/>
                <a:ea typeface="Noto Sans SC"/>
                <a:cs typeface="Noto Sans SC"/>
                <a:sym typeface="Noto Sans SC"/>
              </a:rPr>
              <a:t>自动微分与动态图机制</a:t>
            </a:r>
            <a:endParaRPr lang="en-US" sz="1100"/>
          </a:p>
          <a:p>
            <a:pPr marL="0" indent="0" algn="l">
              <a:lnSpc>
                <a:spcPct val="116666"/>
              </a:lnSpc>
            </a:pPr>
            <a:r>
              <a:rPr lang="en-US" sz="1400" b="0" i="0" u="none" strike="noStrike">
                <a:solidFill>
                  <a:srgbClr val="374151">
                    <a:alpha val="80000"/>
                  </a:srgbClr>
                </a:solidFill>
                <a:latin typeface="Noto Sans SC"/>
                <a:ea typeface="Noto Sans SC"/>
                <a:cs typeface="Noto Sans SC"/>
                <a:sym typeface="Noto Sans SC"/>
              </a:rPr>
              <a:t>Tensor 实时记录计算路径，支持动态计算图构建，自动计算梯度（Gradient）。这是实现神经网络反向传播、优化模型参数的核心基础。</a:t>
            </a:r>
          </a:p>
        </p:txBody>
      </p:sp>
      <p:sp>
        <p:nvSpPr>
          <p:cNvPr id="12" name="AutoShape 12"/>
          <p:cNvSpPr/>
          <p:nvPr/>
        </p:nvSpPr>
        <p:spPr>
          <a:xfrm>
            <a:off x="5588000" y="5270500"/>
            <a:ext cx="5842000" cy="1079500"/>
          </a:xfrm>
          <a:prstGeom prst="roundRect">
            <a:avLst>
              <a:gd name="adj" fmla="val 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5778500" y="5397500"/>
            <a:ext cx="558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A7F3D0"/>
                </a:solidFill>
                <a:latin typeface="Source Code Pro"/>
                <a:ea typeface="Source Code Pro"/>
                <a:cs typeface="Source Code Pro"/>
                <a:sym typeface="Source Code Pro"/>
              </a:rPr>
              <a:t># 导入核心库并创建张量</a:t>
            </a:r>
            <a:endParaRPr lang="en-US" sz="1100"/>
          </a:p>
          <a:p>
            <a:pPr marL="0" indent="0" algn="l">
              <a:lnSpc>
                <a:spcPct val="116666"/>
              </a:lnSpc>
            </a:pPr>
            <a:r>
              <a:rPr lang="en-US" sz="1300" b="0" i="0" u="none" strike="noStrike">
                <a:solidFill>
                  <a:srgbClr val="E5E7EB"/>
                </a:solidFill>
                <a:latin typeface="Source Code Pro"/>
                <a:ea typeface="Source Code Pro"/>
                <a:cs typeface="Source Code Pro"/>
                <a:sym typeface="Source Code Pro"/>
              </a:rPr>
              <a:t>import torch    # 导入 PyTorch</a:t>
            </a:r>
          </a:p>
          <a:p>
            <a:pPr marL="0" indent="0" algn="l">
              <a:lnSpc>
                <a:spcPct val="116666"/>
              </a:lnSpc>
            </a:pPr>
            <a:r>
              <a:rPr lang="en-US" sz="1300" b="0" i="0" u="none" strike="noStrike">
                <a:solidFill>
                  <a:srgbClr val="E5E7EB"/>
                </a:solidFill>
                <a:latin typeface="Source Code Pro"/>
                <a:ea typeface="Source Code Pro"/>
                <a:cs typeface="Source Code Pro"/>
                <a:sym typeface="Source Code Pro"/>
              </a:rPr>
              <a:t>x = torch.randn(2, 3)  # 创建 2x3 的随机张量</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1.1 创建Tensor</a:t>
            </a:r>
            <a:endParaRPr lang="en-US" sz="1100"/>
          </a:p>
        </p:txBody>
      </p:sp>
      <p:sp>
        <p:nvSpPr>
          <p:cNvPr id="4" name="AutoShape 4"/>
          <p:cNvSpPr/>
          <p:nvPr/>
        </p:nvSpPr>
        <p:spPr>
          <a:xfrm>
            <a:off x="762000" y="1778000"/>
            <a:ext cx="10668000" cy="558800"/>
          </a:xfrm>
          <a:prstGeom prst="roundRect">
            <a:avLst>
              <a:gd name="adj" fmla="val 0"/>
            </a:avLst>
          </a:prstGeom>
          <a:solidFill>
            <a:srgbClr val="4B556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9812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320800" y="1981200"/>
            <a:ext cx="152400" cy="1524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625600" y="1981200"/>
            <a:ext cx="152400" cy="1524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2032000" y="1930400"/>
            <a:ext cx="381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alpha val="80000"/>
                  </a:srgbClr>
                </a:solidFill>
                <a:latin typeface="Noto Sans SC"/>
                <a:ea typeface="Noto Sans SC"/>
                <a:cs typeface="Noto Sans SC"/>
                <a:sym typeface="Noto Sans SC"/>
              </a:rPr>
              <a:t>create_tensor.py — PyTorch Environment</a:t>
            </a:r>
            <a:endParaRPr lang="en-US" sz="1100"/>
          </a:p>
        </p:txBody>
      </p:sp>
      <p:sp>
        <p:nvSpPr>
          <p:cNvPr id="9" name="AutoShape 9"/>
          <p:cNvSpPr/>
          <p:nvPr/>
        </p:nvSpPr>
        <p:spPr>
          <a:xfrm>
            <a:off x="762000" y="2336800"/>
            <a:ext cx="10668000" cy="2794000"/>
          </a:xfrm>
          <a:prstGeom prst="roundRect">
            <a:avLst>
              <a:gd name="adj" fmla="val 0"/>
            </a:avLst>
          </a:prstGeom>
          <a:solidFill>
            <a:srgbClr val="1F2937">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952500" y="2463800"/>
            <a:ext cx="10287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718096"/>
                </a:solidFill>
                <a:latin typeface="Source Code Pro"/>
                <a:ea typeface="Source Code Pro"/>
                <a:cs typeface="Source Code Pro"/>
                <a:sym typeface="Source Code Pro"/>
              </a:rPr>
              <a:t># 导入必要库</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C084FC"/>
                </a:solidFill>
                <a:latin typeface="Source Code Pro"/>
                <a:ea typeface="Source Code Pro"/>
                <a:cs typeface="Source Code Pro"/>
                <a:sym typeface="Source Code Pro"/>
              </a:rPr>
              <a:t>import</a:t>
            </a:r>
            <a:r>
              <a:rPr lang="en-US" sz="1400" b="0" i="0" u="none" strike="noStrike">
                <a:solidFill>
                  <a:srgbClr val="E5E7EB"/>
                </a:solidFill>
                <a:latin typeface="Source Code Pro"/>
                <a:ea typeface="Source Code Pro"/>
                <a:cs typeface="Source Code Pro"/>
                <a:sym typeface="Source Code Pro"/>
              </a:rPr>
              <a:t>torch</a:t>
            </a:r>
            <a:r>
              <a:rPr lang="en-US" sz="1400" b="0" i="0" u="none" strike="noStrike">
                <a:solidFill>
                  <a:srgbClr val="C084FC"/>
                </a:solidFill>
                <a:latin typeface="Source Code Pro"/>
                <a:ea typeface="Source Code Pro"/>
                <a:cs typeface="Source Code Pro"/>
                <a:sym typeface="Source Code Pro"/>
              </a:rPr>
              <a:t>import</a:t>
            </a:r>
            <a:r>
              <a:rPr lang="en-US" sz="1400" b="0" i="0" u="none" strike="noStrike">
                <a:solidFill>
                  <a:srgbClr val="E5E7EB"/>
                </a:solidFill>
                <a:latin typeface="Source Code Pro"/>
                <a:ea typeface="Source Code Pro"/>
                <a:cs typeface="Source Code Pro"/>
                <a:sym typeface="Source Code Pro"/>
              </a:rPr>
              <a:t>numpy</a:t>
            </a:r>
            <a:r>
              <a:rPr lang="en-US" sz="1400" b="0" i="0" u="none" strike="noStrike">
                <a:solidFill>
                  <a:srgbClr val="C084FC"/>
                </a:solidFill>
                <a:latin typeface="Source Code Pro"/>
                <a:ea typeface="Source Code Pro"/>
                <a:cs typeface="Source Code Pro"/>
                <a:sym typeface="Source Code Pro"/>
              </a:rPr>
              <a:t>as</a:t>
            </a:r>
            <a:r>
              <a:rPr lang="en-US" sz="1400" b="0" i="0" u="none" strike="noStrike">
                <a:solidFill>
                  <a:srgbClr val="E5E7EB"/>
                </a:solidFill>
                <a:latin typeface="Source Code Pro"/>
                <a:ea typeface="Source Code Pro"/>
                <a:cs typeface="Source Code Pro"/>
                <a:sym typeface="Source Code Pro"/>
              </a:rPr>
              <a:t>np</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718096"/>
                </a:solidFill>
                <a:latin typeface="Source Code Pro"/>
                <a:ea typeface="Source Code Pro"/>
                <a:cs typeface="Source Code Pro"/>
                <a:sym typeface="Source Code Pro"/>
              </a:rPr>
              <a:t># 1. 从Python列表直接创建</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E5E7EB"/>
                </a:solidFill>
                <a:latin typeface="Source Code Pro"/>
                <a:ea typeface="Source Code Pro"/>
                <a:cs typeface="Source Code Pro"/>
                <a:sym typeface="Source Code Pro"/>
              </a:rPr>
              <a:t>data = [[1, 2], [3, 4]]; x_data = torch.tensor(data)</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718096"/>
                </a:solidFill>
                <a:latin typeface="Source Code Pro"/>
                <a:ea typeface="Source Code Pro"/>
                <a:cs typeface="Source Code Pro"/>
                <a:sym typeface="Source Code Pro"/>
              </a:rPr>
              <a:t># 2. 从NumPy数组转换 (CPU上共享内存)</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E5E7EB"/>
                </a:solidFill>
                <a:latin typeface="Source Code Pro"/>
                <a:ea typeface="Source Code Pro"/>
                <a:cs typeface="Source Code Pro"/>
                <a:sym typeface="Source Code Pro"/>
              </a:rPr>
              <a:t>x_np = torch.from_numpy(np.array(data))</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718096"/>
                </a:solidFill>
                <a:latin typeface="Source Code Pro"/>
                <a:ea typeface="Source Code Pro"/>
                <a:cs typeface="Source Code Pro"/>
                <a:sym typeface="Source Code Pro"/>
              </a:rPr>
              <a:t># 3. 创建特殊初始化张量 (shape = (2, 3))</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E5E7EB"/>
                </a:solidFill>
                <a:latin typeface="Source Code Pro"/>
                <a:ea typeface="Source Code Pro"/>
                <a:cs typeface="Source Code Pro"/>
                <a:sym typeface="Source Code Pro"/>
              </a:rPr>
              <a:t>rand = torch.rand((2, 3))</a:t>
            </a:r>
            <a:r>
              <a:rPr lang="en-US" sz="1400" b="0" i="0" u="none" strike="noStrike">
                <a:solidFill>
                  <a:srgbClr val="718096"/>
                </a:solidFill>
                <a:latin typeface="Source Code Pro"/>
                <a:ea typeface="Source Code Pro"/>
                <a:cs typeface="Source Code Pro"/>
                <a:sym typeface="Source Code Pro"/>
              </a:rPr>
              <a:t># 0~1 均匀分布随机数</a:t>
            </a:r>
            <a:br>
              <a:rPr lang="en-US" sz="1400" b="0" i="0" u="none" strike="noStrike">
                <a:solidFill>
                  <a:srgbClr val="1F2329"/>
                </a:solidFill>
                <a:latin typeface="Source Code Pro"/>
                <a:ea typeface="Source Code Pro"/>
                <a:cs typeface="Source Code Pro"/>
                <a:sym typeface="Source Code Pro"/>
              </a:rPr>
            </a:br>
            <a:r>
              <a:rPr lang="en-US" sz="1400" b="0" i="0" u="none" strike="noStrike">
                <a:solidFill>
                  <a:srgbClr val="E5E7EB"/>
                </a:solidFill>
                <a:latin typeface="Source Code Pro"/>
                <a:ea typeface="Source Code Pro"/>
                <a:cs typeface="Source Code Pro"/>
                <a:sym typeface="Source Code Pro"/>
              </a:rPr>
              <a:t>ones = torch.ones((2, 3))</a:t>
            </a:r>
            <a:r>
              <a:rPr lang="en-US" sz="1400" b="0" i="0" u="none" strike="noStrike">
                <a:solidFill>
                  <a:srgbClr val="718096"/>
                </a:solidFill>
                <a:latin typeface="Source Code Pro"/>
                <a:ea typeface="Source Code Pro"/>
                <a:cs typeface="Source Code Pro"/>
                <a:sym typeface="Source Code Pro"/>
              </a:rPr>
              <a:t># 全1张量，常用于偏置初始化</a:t>
            </a:r>
            <a:endParaRPr lang="en-US" sz="1100"/>
          </a:p>
        </p:txBody>
      </p:sp>
      <p:sp>
        <p:nvSpPr>
          <p:cNvPr id="11" name="AutoShape 11"/>
          <p:cNvSpPr/>
          <p:nvPr/>
        </p:nvSpPr>
        <p:spPr>
          <a:xfrm>
            <a:off x="762000" y="5334000"/>
            <a:ext cx="3429000" cy="1143000"/>
          </a:xfrm>
          <a:prstGeom prst="roundRect">
            <a:avLst>
              <a:gd name="adj" fmla="val 0"/>
            </a:avLst>
          </a:prstGeom>
          <a:solidFill>
            <a:srgbClr val="FFFFFF">
              <a:alpha val="6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89000" y="54610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 接口高度兼容</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与 NumPy API 几乎一致，降低学习成本，便于从 NumPy 平滑迁移代码。</a:t>
            </a:r>
            <a:endParaRPr lang="en-US" sz="1100"/>
          </a:p>
        </p:txBody>
      </p:sp>
      <p:sp>
        <p:nvSpPr>
          <p:cNvPr id="13" name="AutoShape 13"/>
          <p:cNvSpPr/>
          <p:nvPr/>
        </p:nvSpPr>
        <p:spPr>
          <a:xfrm>
            <a:off x="4381500" y="5334000"/>
            <a:ext cx="3429000" cy="1143000"/>
          </a:xfrm>
          <a:prstGeom prst="roundRect">
            <a:avLst>
              <a:gd name="adj" fmla="val 0"/>
            </a:avLst>
          </a:prstGeom>
          <a:solidFill>
            <a:srgbClr val="FFFFFF">
              <a:alpha val="6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508500" y="54610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 动态图机制</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支持即时定义与执行，调试如同原生 Python 脚本，所见即所得。</a:t>
            </a:r>
            <a:endParaRPr lang="en-US" sz="1100"/>
          </a:p>
        </p:txBody>
      </p:sp>
      <p:sp>
        <p:nvSpPr>
          <p:cNvPr id="15" name="AutoShape 15"/>
          <p:cNvSpPr/>
          <p:nvPr/>
        </p:nvSpPr>
        <p:spPr>
          <a:xfrm>
            <a:off x="8001000" y="5334000"/>
            <a:ext cx="3429000" cy="1143000"/>
          </a:xfrm>
          <a:prstGeom prst="roundRect">
            <a:avLst>
              <a:gd name="adj" fmla="val 0"/>
            </a:avLst>
          </a:prstGeom>
          <a:solidFill>
            <a:srgbClr val="FFFFFF">
              <a:alpha val="6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128000" y="54610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 硬件加速支持</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通过 .to('cuda') 一键迁移至 GPU 运算，自动利用硬件算力加速。</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1.2 Tensor属性与操作</a:t>
            </a:r>
            <a:endParaRPr lang="en-US" sz="1100"/>
          </a:p>
        </p:txBody>
      </p:sp>
      <p:sp>
        <p:nvSpPr>
          <p:cNvPr id="4" name="AutoShape 4"/>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374151"/>
                </a:solidFill>
                <a:latin typeface="Noto Sans SC"/>
                <a:ea typeface="Noto Sans SC"/>
                <a:cs typeface="Noto Sans SC"/>
                <a:sym typeface="Noto Sans SC"/>
              </a:rPr>
              <a:t>Tensor 的核心属性与操作逻辑与 NumPy 数组高度相似，极大降低了学习成本。通过直观的属性检查与灵活的运算操作，我们可以轻松构建复杂的数值计算流程。</a:t>
            </a:r>
            <a:endParaRPr lang="en-US" sz="1100"/>
          </a:p>
        </p:txBody>
      </p:sp>
      <p:sp>
        <p:nvSpPr>
          <p:cNvPr id="5" name="AutoShape 5"/>
          <p:cNvSpPr/>
          <p:nvPr/>
        </p:nvSpPr>
        <p:spPr>
          <a:xfrm>
            <a:off x="762000" y="2667000"/>
            <a:ext cx="10668000" cy="3302000"/>
          </a:xfrm>
          <a:prstGeom prst="roundRect">
            <a:avLst>
              <a:gd name="adj" fmla="val 0"/>
            </a:avLst>
          </a:prstGeom>
          <a:solidFill>
            <a:srgbClr val="1F2937">
              <a:alpha val="85000"/>
            </a:srgbClr>
          </a:solidFill>
          <a:ln cap="flat" cmpd="sng">
            <a:solidFill>
              <a:srgbClr val="0E141E">
                <a:alpha val="85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667000"/>
            <a:ext cx="10668000" cy="457200"/>
          </a:xfrm>
          <a:prstGeom prst="roundRect">
            <a:avLst>
              <a:gd name="adj" fmla="val 0"/>
            </a:avLst>
          </a:prstGeom>
          <a:solidFill>
            <a:srgbClr val="374151">
              <a:alpha val="90000"/>
            </a:srgbClr>
          </a:solidFill>
          <a:ln cap="flat" cmpd="sng">
            <a:solidFill>
              <a:srgbClr val="202937">
                <a:alpha val="9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2768600"/>
            <a:ext cx="1028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9CA3AF"/>
                </a:solidFill>
                <a:latin typeface="Noto Sans SC"/>
                <a:ea typeface="Noto Sans SC"/>
                <a:cs typeface="Noto Sans SC"/>
                <a:sym typeface="Noto Sans SC"/>
              </a:rPr>
              <a:t>PyTorch 交互式环境 —— 核心功能速览</a:t>
            </a:r>
            <a:endParaRPr lang="en-US" sz="1100"/>
          </a:p>
        </p:txBody>
      </p:sp>
      <p:sp>
        <p:nvSpPr>
          <p:cNvPr id="8" name="AutoShape 8"/>
          <p:cNvSpPr/>
          <p:nvPr/>
        </p:nvSpPr>
        <p:spPr>
          <a:xfrm>
            <a:off x="952500" y="3276600"/>
            <a:ext cx="5016500" cy="1168400"/>
          </a:xfrm>
          <a:prstGeom prst="roundRect">
            <a:avLst>
              <a:gd name="adj" fmla="val 0"/>
            </a:avLst>
          </a:prstGeom>
          <a:solidFill>
            <a:srgbClr val="4B5563">
              <a:alpha val="30000"/>
            </a:srgbClr>
          </a:solidFill>
          <a:ln cap="flat" cmpd="sng">
            <a:solidFill>
              <a:srgbClr val="303B4A">
                <a:alpha val="3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79500" y="3352800"/>
            <a:ext cx="4762500" cy="10414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A78BFA"/>
                </a:solidFill>
                <a:latin typeface="Noto Sans SC"/>
                <a:ea typeface="Noto Sans SC"/>
                <a:cs typeface="Noto Sans SC"/>
                <a:sym typeface="Noto Sans SC"/>
              </a:rPr>
              <a:t>01. 关键属性检查 | Attributes</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tensor = torch.rand(3, 4)</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print(tensor.shape) # 形状: torch.Size([3, 4])</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print(tensor.dtype) # 类型: torch.float32</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print(tensor.device) # 设备: cpu / cuda:0</a:t>
            </a:r>
            <a:endParaRPr lang="en-US" sz="1100"/>
          </a:p>
        </p:txBody>
      </p:sp>
      <p:sp>
        <p:nvSpPr>
          <p:cNvPr id="10" name="AutoShape 10"/>
          <p:cNvSpPr/>
          <p:nvPr/>
        </p:nvSpPr>
        <p:spPr>
          <a:xfrm>
            <a:off x="6159500" y="3276600"/>
            <a:ext cx="5016500" cy="1168400"/>
          </a:xfrm>
          <a:prstGeom prst="roundRect">
            <a:avLst>
              <a:gd name="adj" fmla="val 0"/>
            </a:avLst>
          </a:prstGeom>
          <a:solidFill>
            <a:srgbClr val="4B5563">
              <a:alpha val="30000"/>
            </a:srgbClr>
          </a:solidFill>
          <a:ln cap="flat" cmpd="sng">
            <a:solidFill>
              <a:srgbClr val="303B4A">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286500" y="3352800"/>
            <a:ext cx="4762500" cy="10414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4D399"/>
                </a:solidFill>
                <a:latin typeface="Noto Sans SC"/>
                <a:ea typeface="Noto Sans SC"/>
                <a:cs typeface="Noto Sans SC"/>
                <a:sym typeface="Noto Sans SC"/>
              </a:rPr>
              <a:t>02. 灵活索引切片 | Indexing</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 取第二列所有行 (NumPy风格)</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second_col = tensor[:, 1]</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 取前两行前两列</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sub_tensor = tensor[:2, :2]</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 取最后一行数据</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last_row = tensor[-1, :]</a:t>
            </a:r>
            <a:endParaRPr lang="en-US" sz="1100"/>
          </a:p>
        </p:txBody>
      </p:sp>
      <p:sp>
        <p:nvSpPr>
          <p:cNvPr id="12" name="AutoShape 12"/>
          <p:cNvSpPr/>
          <p:nvPr/>
        </p:nvSpPr>
        <p:spPr>
          <a:xfrm>
            <a:off x="952500" y="4597400"/>
            <a:ext cx="5016500" cy="1168400"/>
          </a:xfrm>
          <a:prstGeom prst="roundRect">
            <a:avLst>
              <a:gd name="adj" fmla="val 0"/>
            </a:avLst>
          </a:prstGeom>
          <a:solidFill>
            <a:srgbClr val="4B5563">
              <a:alpha val="30000"/>
            </a:srgbClr>
          </a:solidFill>
          <a:ln cap="flat" cmpd="sng">
            <a:solidFill>
              <a:srgbClr val="303B4A">
                <a:alpha val="3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079500" y="4673600"/>
            <a:ext cx="4762500" cy="10414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60A5FA"/>
                </a:solidFill>
                <a:latin typeface="Noto Sans SC"/>
                <a:ea typeface="Noto Sans SC"/>
                <a:cs typeface="Noto Sans SC"/>
                <a:sym typeface="Noto Sans SC"/>
              </a:rPr>
              <a:t>03. 维度动态拼接 | Concatenation</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 dim=1 按列拼接 (横向扩展)</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t1 = torch.cat([tensor, tensor], dim=1)</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print(t1.shape) # 结果: torch.Size([3, 8])</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 dim=0 按行拼接 (纵向堆叠)</a:t>
            </a:r>
            <a:endParaRPr lang="en-US" sz="1100"/>
          </a:p>
        </p:txBody>
      </p:sp>
      <p:sp>
        <p:nvSpPr>
          <p:cNvPr id="14" name="AutoShape 14"/>
          <p:cNvSpPr/>
          <p:nvPr/>
        </p:nvSpPr>
        <p:spPr>
          <a:xfrm>
            <a:off x="6159500" y="4597400"/>
            <a:ext cx="5016500" cy="1168400"/>
          </a:xfrm>
          <a:prstGeom prst="roundRect">
            <a:avLst>
              <a:gd name="adj" fmla="val 0"/>
            </a:avLst>
          </a:prstGeom>
          <a:solidFill>
            <a:srgbClr val="4B5563">
              <a:alpha val="30000"/>
            </a:srgbClr>
          </a:solidFill>
          <a:ln cap="flat" cmpd="sng">
            <a:solidFill>
              <a:srgbClr val="303B4A">
                <a:alpha val="3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286500" y="4673600"/>
            <a:ext cx="4762500" cy="10414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FBBF24"/>
                </a:solidFill>
                <a:latin typeface="Noto Sans SC"/>
                <a:ea typeface="Noto Sans SC"/>
                <a:cs typeface="Noto Sans SC"/>
                <a:sym typeface="Noto Sans SC"/>
              </a:rPr>
              <a:t>04. 高效算术运算 | Operations</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mat_mul = tensor @ tensor.T # 矩阵乘法 (@)</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elem_mul = tensor * tensor # 元素级乘法 (*)</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solidFill>
                <a:latin typeface="Source Code Pro"/>
                <a:ea typeface="Source Code Pro"/>
                <a:cs typeface="Source Code Pro"/>
                <a:sym typeface="Source Code Pro"/>
              </a:rPr>
              <a:t>add_1 = tensor + 1 # 自动广播机制</a:t>
            </a:r>
            <a:endParaRPr lang="en-US" sz="1100"/>
          </a:p>
        </p:txBody>
      </p:sp>
      <p:sp>
        <p:nvSpPr>
          <p:cNvPr id="16" name="AutoShape 16"/>
          <p:cNvSpPr/>
          <p:nvPr/>
        </p:nvSpPr>
        <p:spPr>
          <a:xfrm>
            <a:off x="762000" y="61214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 核心优势：PyTorch 实现了设备无关性，使用 `.to('cuda')` 即可将计算无缝迁移至 GPU，加速大规模模型训练。</a:t>
            </a:r>
            <a:endParaRPr lang="en-US" sz="11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1.2 Tensor属性：设备 (Device)</a:t>
            </a:r>
            <a:endParaRPr lang="en-US" sz="1100"/>
          </a:p>
        </p:txBody>
      </p:sp>
      <p:sp>
        <p:nvSpPr>
          <p:cNvPr id="4" name="AutoShape 4"/>
          <p:cNvSpPr/>
          <p:nvPr/>
        </p:nvSpPr>
        <p:spPr>
          <a:xfrm>
            <a:off x="762000" y="1651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374151"/>
                </a:solidFill>
                <a:latin typeface="Noto Sans SC"/>
                <a:ea typeface="Noto Sans SC"/>
                <a:cs typeface="Noto Sans SC"/>
                <a:sym typeface="Noto Sans SC"/>
              </a:rPr>
              <a:t>Tensor 是 PyTorch 的核心数据结构，可灵活部署在 CPU 或 GPU 上执行计算。在处理大规模数据、训练深层神经网络时，将 Tensor 迁移至 GPU 能充分利用其并行计算能力，实现数量级的速度提升，这是现代深度学习高效运行的基础。</a:t>
            </a:r>
            <a:endParaRPr lang="en-US" sz="1100"/>
          </a:p>
        </p:txBody>
      </p:sp>
      <p:sp>
        <p:nvSpPr>
          <p:cNvPr id="5" name="AutoShape 5"/>
          <p:cNvSpPr/>
          <p:nvPr/>
        </p:nvSpPr>
        <p:spPr>
          <a:xfrm>
            <a:off x="762000" y="2794000"/>
            <a:ext cx="10668000" cy="2159000"/>
          </a:xfrm>
          <a:prstGeom prst="roundRect">
            <a:avLst>
              <a:gd name="adj" fmla="val 0"/>
            </a:avLst>
          </a:prstGeom>
          <a:solidFill>
            <a:srgbClr val="1F2937">
              <a:alpha val="4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2984500"/>
            <a:ext cx="10287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6B7280"/>
                </a:solidFill>
                <a:latin typeface="Source Code Pro"/>
                <a:ea typeface="Source Code Pro"/>
                <a:cs typeface="Source Code Pro"/>
                <a:sym typeface="Source Code Pro"/>
              </a:rPr>
              <a:t># 1. 创建一个位于CPU的张量并检查设备</a:t>
            </a:r>
            <a:endParaRPr lang="en-US" sz="1100"/>
          </a:p>
          <a:p>
            <a:pPr marL="0" indent="0" algn="l">
              <a:lnSpc>
                <a:spcPct val="116666"/>
              </a:lnSpc>
            </a:pPr>
            <a:r>
              <a:rPr lang="en-US" sz="1400" b="0" i="0" u="none" strike="noStrike">
                <a:solidFill>
                  <a:srgbClr val="1F2937"/>
                </a:solidFill>
                <a:latin typeface="Source Code Pro"/>
                <a:ea typeface="Source Code Pro"/>
                <a:cs typeface="Source Code Pro"/>
                <a:sym typeface="Source Code Pro"/>
              </a:rPr>
              <a:t>tensor = torch.rand(3, 4)</a:t>
            </a:r>
          </a:p>
          <a:p>
            <a:pPr marL="0" indent="0" algn="l">
              <a:lnSpc>
                <a:spcPct val="116666"/>
              </a:lnSpc>
            </a:pPr>
            <a:r>
              <a:rPr lang="en-US" sz="1400" b="0" i="0" u="none" strike="noStrike">
                <a:solidFill>
                  <a:srgbClr val="1F2937"/>
                </a:solidFill>
                <a:latin typeface="Source Code Pro"/>
                <a:ea typeface="Source Code Pro"/>
                <a:cs typeface="Source Code Pro"/>
                <a:sym typeface="Source Code Pro"/>
              </a:rPr>
              <a:t>print(f"Device before: {tensor.device}") # 输出: cpu</a:t>
            </a:r>
          </a:p>
          <a:p>
            <a:pPr marL="0" indent="0" algn="l">
              <a:lnSpc>
                <a:spcPct val="116666"/>
              </a:lnSpc>
            </a:pPr>
            <a:r>
              <a:rPr lang="en-US" sz="1400" b="0" i="0" u="none" strike="noStrike">
                <a:solidFill>
                  <a:srgbClr val="6B7280"/>
                </a:solidFill>
                <a:latin typeface="Source Code Pro"/>
                <a:ea typeface="Source Code Pro"/>
                <a:cs typeface="Source Code Pro"/>
                <a:sym typeface="Source Code Pro"/>
              </a:rPr>
              <a:t># 2. 如果系统有GPU，将张量移动到GPU</a:t>
            </a:r>
          </a:p>
          <a:p>
            <a:pPr marL="0" indent="0" algn="l">
              <a:lnSpc>
                <a:spcPct val="116666"/>
              </a:lnSpc>
            </a:pPr>
            <a:r>
              <a:rPr lang="en-US" sz="1400" b="0" i="0" u="none" strike="noStrike">
                <a:solidFill>
                  <a:srgbClr val="1F2937"/>
                </a:solidFill>
                <a:latin typeface="Source Code Pro"/>
                <a:ea typeface="Source Code Pro"/>
                <a:cs typeface="Source Code Pro"/>
                <a:sym typeface="Source Code Pro"/>
              </a:rPr>
              <a:t>if torch.cuda.is_available():
 tensor = tensor.to('cuda') # 关键操作：设备迁移</a:t>
            </a:r>
          </a:p>
          <a:p>
            <a:pPr marL="0" indent="0" algn="l">
              <a:lnSpc>
                <a:spcPct val="116666"/>
              </a:lnSpc>
            </a:pPr>
            <a:r>
              <a:rPr lang="en-US" sz="1400" b="0" i="0" u="none" strike="noStrike">
                <a:solidFill>
                  <a:srgbClr val="1F2937"/>
                </a:solidFill>
                <a:latin typeface="Source Code Pro"/>
                <a:ea typeface="Source Code Pro"/>
                <a:cs typeface="Source Code Pro"/>
                <a:sym typeface="Source Code Pro"/>
              </a:rPr>
              <a:t> print(f"Device after: {tensor.device}") # 输出: cuda:0</a:t>
            </a:r>
          </a:p>
        </p:txBody>
      </p:sp>
      <p:sp>
        <p:nvSpPr>
          <p:cNvPr id="7" name="AutoShape 7"/>
          <p:cNvSpPr/>
          <p:nvPr/>
        </p:nvSpPr>
        <p:spPr>
          <a:xfrm>
            <a:off x="762000" y="5207000"/>
            <a:ext cx="10668000" cy="1143000"/>
          </a:xfrm>
          <a:prstGeom prst="roundRect">
            <a:avLst>
              <a:gd name="adj" fmla="val 0"/>
            </a:avLst>
          </a:prstGeom>
          <a:solidFill>
            <a:srgbClr val="EFF6FF">
              <a:alpha val="70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626100"/>
            <a:ext cx="304800" cy="304800"/>
          </a:xfrm>
          <a:prstGeom prst="rect">
            <a:avLst/>
          </a:prstGeom>
        </p:spPr>
      </p:pic>
      <p:sp>
        <p:nvSpPr>
          <p:cNvPr id="9" name="AutoShape 9"/>
          <p:cNvSpPr/>
          <p:nvPr/>
        </p:nvSpPr>
        <p:spPr>
          <a:xfrm>
            <a:off x="1460500" y="5359400"/>
            <a:ext cx="977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1E40AF"/>
                </a:solidFill>
                <a:latin typeface="Noto Sans SC"/>
                <a:ea typeface="Noto Sans SC"/>
                <a:cs typeface="Noto Sans SC"/>
                <a:sym typeface="Noto Sans SC"/>
              </a:rPr>
              <a:t>核心规则：同地运算</a:t>
            </a:r>
            <a:endParaRPr lang="en-US" sz="1100"/>
          </a:p>
          <a:p>
            <a:pPr marL="0" indent="0" algn="l">
              <a:lnSpc>
                <a:spcPct val="116666"/>
              </a:lnSpc>
            </a:pPr>
            <a:r>
              <a:rPr lang="en-US" sz="1400" b="0" i="0" u="none" strike="noStrike">
                <a:solidFill>
                  <a:srgbClr val="374151"/>
                </a:solidFill>
                <a:latin typeface="Noto Sans SC"/>
                <a:ea typeface="Noto Sans SC"/>
                <a:cs typeface="Noto Sans SC"/>
                <a:sym typeface="Noto Sans SC"/>
              </a:rPr>
              <a:t>参与运算的所有张量必须位于</a:t>
            </a:r>
            <a:r>
              <a:rPr lang="en-US" sz="1400" b="1" i="0" u="none" strike="noStrike">
                <a:solidFill>
                  <a:srgbClr val="374151"/>
                </a:solidFill>
                <a:latin typeface="Noto Sans SC"/>
                <a:ea typeface="Noto Sans SC"/>
                <a:cs typeface="Noto Sans SC"/>
                <a:sym typeface="Noto Sans SC"/>
              </a:rPr>
              <a:t>同一个设备</a:t>
            </a:r>
            <a:r>
              <a:rPr lang="en-US" sz="1400" b="0" i="0" u="none" strike="noStrike">
                <a:solidFill>
                  <a:srgbClr val="374151"/>
                </a:solidFill>
                <a:latin typeface="Noto Sans SC"/>
                <a:ea typeface="Noto Sans SC"/>
                <a:cs typeface="Noto Sans SC"/>
                <a:sym typeface="Noto Sans SC"/>
              </a:rPr>
              <a:t>上（如同时在 CPU 或同一块 GPU）。若设备不一致，PyTorch 会抛出运行时错误，这是调试分布式训练或混合设备代码时最常见的排查点。</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1.3 与NumPy的互操作性</a:t>
            </a:r>
            <a:endParaRPr lang="en-US" sz="1100"/>
          </a:p>
        </p:txBody>
      </p:sp>
      <p:sp>
        <p:nvSpPr>
          <p:cNvPr id="4" name="AutoShape 4"/>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374151"/>
                </a:solidFill>
                <a:latin typeface="Noto Sans SC"/>
                <a:ea typeface="Noto Sans SC"/>
                <a:cs typeface="Noto Sans SC"/>
                <a:sym typeface="Noto Sans SC"/>
              </a:rPr>
              <a:t>PyTorch 的 Tensor 与 NumPy 数组可以无缝转换，且默认共享底层内存空间，这使得在深度学习与传统科学计算库之间传递数据变得极为高效。</a:t>
            </a:r>
            <a:endParaRPr lang="en-US" sz="1100"/>
          </a:p>
        </p:txBody>
      </p:sp>
      <p:sp>
        <p:nvSpPr>
          <p:cNvPr id="5" name="AutoShape 5"/>
          <p:cNvSpPr/>
          <p:nvPr/>
        </p:nvSpPr>
        <p:spPr>
          <a:xfrm>
            <a:off x="762000" y="2667000"/>
            <a:ext cx="10668000" cy="2095500"/>
          </a:xfrm>
          <a:prstGeom prst="roundRect">
            <a:avLst>
              <a:gd name="adj" fmla="val 0"/>
            </a:avLst>
          </a:prstGeom>
          <a:solidFill>
            <a:srgbClr val="1F2937">
              <a:alpha val="6000"/>
            </a:srgbClr>
          </a:solidFill>
          <a:ln w="12700" cap="flat" cmpd="sng">
            <a:solidFill>
              <a:srgbClr val="1F2937">
                <a:alpha val="12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2819400"/>
            <a:ext cx="102870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6B7280"/>
                </a:solidFill>
                <a:latin typeface="Consolas"/>
                <a:ea typeface="Consolas"/>
                <a:cs typeface="Consolas"/>
                <a:sym typeface="Consolas"/>
              </a:rPr>
              <a:t># 创建 Tensor 并转换为 NumPy 数组</a:t>
            </a:r>
            <a:br>
              <a:rPr lang="en-US" sz="1400" b="0" i="0" u="none" strike="noStrike">
                <a:solidFill>
                  <a:srgbClr val="1F2329"/>
                </a:solidFill>
                <a:latin typeface="Consolas"/>
                <a:ea typeface="Consolas"/>
                <a:cs typeface="Consolas"/>
                <a:sym typeface="Consolas"/>
              </a:rPr>
            </a:br>
            <a:r>
              <a:rPr lang="en-US" sz="1400" b="0" i="0" u="none" strike="noStrike">
                <a:solidFill>
                  <a:srgbClr val="1F2937"/>
                </a:solidFill>
                <a:latin typeface="Consolas"/>
                <a:ea typeface="Consolas"/>
                <a:cs typeface="Consolas"/>
                <a:sym typeface="Consolas"/>
              </a:rPr>
              <a:t>t = torch.ones(5)</a:t>
            </a:r>
            <a:r>
              <a:rPr lang="en-US" sz="1400" b="0" i="0" u="none" strike="noStrike">
                <a:solidFill>
                  <a:srgbClr val="6B7280"/>
                </a:solidFill>
                <a:latin typeface="Consolas"/>
                <a:ea typeface="Consolas"/>
                <a:cs typeface="Consolas"/>
                <a:sym typeface="Consolas"/>
              </a:rPr>
              <a:t># 生成形状为 [5] 的全 1 张量</a:t>
            </a:r>
            <a:br>
              <a:rPr lang="en-US" sz="1400" b="0" i="0" u="none" strike="noStrike">
                <a:solidFill>
                  <a:srgbClr val="1F2329"/>
                </a:solidFill>
                <a:latin typeface="Consolas"/>
                <a:ea typeface="Consolas"/>
                <a:cs typeface="Consolas"/>
                <a:sym typeface="Consolas"/>
              </a:rPr>
            </a:br>
            <a:r>
              <a:rPr lang="en-US" sz="1400" b="0" i="0" u="none" strike="noStrike">
                <a:solidFill>
                  <a:srgbClr val="1F2937"/>
                </a:solidFill>
                <a:latin typeface="Consolas"/>
                <a:ea typeface="Consolas"/>
                <a:cs typeface="Consolas"/>
                <a:sym typeface="Consolas"/>
              </a:rPr>
              <a:t>n = t.numpy()</a:t>
            </a:r>
            <a:r>
              <a:rPr lang="en-US" sz="1400" b="0" i="0" u="none" strike="noStrike">
                <a:solidFill>
                  <a:srgbClr val="6B7280"/>
                </a:solidFill>
                <a:latin typeface="Consolas"/>
                <a:ea typeface="Consolas"/>
                <a:cs typeface="Consolas"/>
                <a:sym typeface="Consolas"/>
              </a:rPr>
              <a:t># 转换为 NumPy ndarray</a:t>
            </a:r>
            <a:br>
              <a:rPr lang="en-US" sz="1400" b="0" i="0" u="none" strike="noStrike">
                <a:solidFill>
                  <a:srgbClr val="1F2329"/>
                </a:solidFill>
                <a:latin typeface="Consolas"/>
                <a:ea typeface="Consolas"/>
                <a:cs typeface="Consolas"/>
                <a:sym typeface="Consolas"/>
              </a:rPr>
            </a:br>
            <a:r>
              <a:rPr lang="en-US" sz="1400" b="0" i="0" u="none" strike="noStrike">
                <a:solidFill>
                  <a:srgbClr val="1F2937"/>
                </a:solidFill>
                <a:latin typeface="Consolas"/>
                <a:ea typeface="Consolas"/>
                <a:cs typeface="Consolas"/>
                <a:sym typeface="Consolas"/>
              </a:rPr>
              <a:t>t.add_(1)</a:t>
            </a:r>
            <a:r>
              <a:rPr lang="en-US" sz="1400" b="0" i="0" u="none" strike="noStrike">
                <a:solidFill>
                  <a:srgbClr val="6B7280"/>
                </a:solidFill>
                <a:latin typeface="Consolas"/>
                <a:ea typeface="Consolas"/>
                <a:cs typeface="Consolas"/>
                <a:sym typeface="Consolas"/>
              </a:rPr>
              <a:t># 原地操作：对 Tensor 加 1，NumPy 数组同步更新</a:t>
            </a:r>
            <a:br>
              <a:rPr lang="en-US" sz="1400" b="0" i="0" u="none" strike="noStrike">
                <a:solidFill>
                  <a:srgbClr val="1F2329"/>
                </a:solidFill>
                <a:latin typeface="Consolas"/>
                <a:ea typeface="Consolas"/>
                <a:cs typeface="Consolas"/>
                <a:sym typeface="Consolas"/>
              </a:rPr>
            </a:br>
            <a:r>
              <a:rPr lang="en-US" sz="1400" b="0" i="0" u="none" strike="noStrike">
                <a:solidFill>
                  <a:srgbClr val="1F2937"/>
                </a:solidFill>
                <a:latin typeface="Consolas"/>
                <a:ea typeface="Consolas"/>
                <a:cs typeface="Consolas"/>
                <a:sym typeface="Consolas"/>
              </a:rPr>
              <a:t>print(f"Tensor: {t}, NumPy: {n}")</a:t>
            </a:r>
            <a:endParaRPr lang="en-US" sz="1100"/>
          </a:p>
        </p:txBody>
      </p:sp>
      <p:sp>
        <p:nvSpPr>
          <p:cNvPr id="7" name="AutoShape 7"/>
          <p:cNvSpPr/>
          <p:nvPr/>
        </p:nvSpPr>
        <p:spPr>
          <a:xfrm>
            <a:off x="762000" y="5016500"/>
            <a:ext cx="10668000" cy="1206500"/>
          </a:xfrm>
          <a:prstGeom prst="roundRect">
            <a:avLst>
              <a:gd name="adj" fmla="val 0"/>
            </a:avLst>
          </a:prstGeom>
          <a:solidFill>
            <a:srgbClr val="3B82F6">
              <a:alpha val="8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232400"/>
            <a:ext cx="304800" cy="304800"/>
          </a:xfrm>
          <a:prstGeom prst="rect">
            <a:avLst/>
          </a:prstGeom>
        </p:spPr>
      </p:pic>
      <p:sp>
        <p:nvSpPr>
          <p:cNvPr id="9" name="AutoShape 9"/>
          <p:cNvSpPr/>
          <p:nvPr/>
        </p:nvSpPr>
        <p:spPr>
          <a:xfrm>
            <a:off x="1473200" y="5207000"/>
            <a:ext cx="965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a:ea typeface="Noto Sans SC"/>
                <a:cs typeface="Noto Sans SC"/>
                <a:sym typeface="Noto Sans SC"/>
              </a:rPr>
              <a:t>核心特性：内存共享，原地修改会相互影响</a:t>
            </a:r>
            <a:endParaRPr lang="en-US" sz="1100"/>
          </a:p>
        </p:txBody>
      </p:sp>
      <p:sp>
        <p:nvSpPr>
          <p:cNvPr id="10" name="AutoShape 10"/>
          <p:cNvSpPr/>
          <p:nvPr/>
        </p:nvSpPr>
        <p:spPr>
          <a:xfrm>
            <a:off x="1473200" y="5613400"/>
            <a:ext cx="9525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74151"/>
                </a:solidFill>
                <a:latin typeface="Noto Sans SC"/>
                <a:ea typeface="Noto Sans SC"/>
                <a:cs typeface="Noto Sans SC"/>
                <a:sym typeface="Noto Sans SC"/>
              </a:rPr>
              <a:t>从 Tensor 转换而来的 NumPy 数组不进行数据拷贝，二者共享同一块内存。因此，对其中任意一个进行原地修改（如 add_），另一个的数据也会随之改变，这在数据处理时需要特别注意。</a:t>
            </a:r>
            <a:endParaRPr lang="en-US" sz="11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与NumPy的互操作性 (续)</a:t>
            </a:r>
            <a:endParaRPr lang="en-US" sz="1100"/>
          </a:p>
        </p:txBody>
      </p:sp>
      <p:sp>
        <p:nvSpPr>
          <p:cNvPr id="4" name="AutoShape 4"/>
          <p:cNvSpPr/>
          <p:nvPr/>
        </p:nvSpPr>
        <p:spPr>
          <a:xfrm>
            <a:off x="762000" y="1651000"/>
            <a:ext cx="10668000" cy="26670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841500"/>
            <a:ext cx="10287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C678DD"/>
                </a:solidFill>
                <a:latin typeface="Roboto Mono"/>
                <a:ea typeface="Roboto Mono"/>
                <a:cs typeface="Roboto Mono"/>
                <a:sym typeface="Roboto Mono"/>
              </a:rPr>
              <a:t>import</a:t>
            </a:r>
            <a:r>
              <a:rPr lang="en-US" sz="1400" b="0" i="0" u="none" strike="noStrike">
                <a:solidFill>
                  <a:srgbClr val="E5E7EB"/>
                </a:solidFill>
                <a:latin typeface="Roboto Mono"/>
                <a:ea typeface="Roboto Mono"/>
                <a:cs typeface="Roboto Mono"/>
                <a:sym typeface="Roboto Mono"/>
              </a:rPr>
              <a:t>numpy</a:t>
            </a:r>
            <a:r>
              <a:rPr lang="en-US" sz="1400" b="0" i="0" u="none" strike="noStrike">
                <a:solidFill>
                  <a:srgbClr val="C678DD"/>
                </a:solidFill>
                <a:latin typeface="Roboto Mono"/>
                <a:ea typeface="Roboto Mono"/>
                <a:cs typeface="Roboto Mono"/>
                <a:sym typeface="Roboto Mono"/>
              </a:rPr>
              <a:t>as</a:t>
            </a:r>
            <a:r>
              <a:rPr lang="en-US" sz="1400" b="0" i="0" u="none" strike="noStrike">
                <a:solidFill>
                  <a:srgbClr val="E5E7EB"/>
                </a:solidFill>
                <a:latin typeface="Roboto Mono"/>
                <a:ea typeface="Roboto Mono"/>
                <a:cs typeface="Roboto Mono"/>
                <a:sym typeface="Roboto Mono"/>
              </a:rPr>
              <a:t>np</a:t>
            </a:r>
            <a:endParaRPr lang="en-US" sz="1100"/>
          </a:p>
          <a:p>
            <a:pPr marL="0" indent="0" algn="l">
              <a:lnSpc>
                <a:spcPct val="116666"/>
              </a:lnSpc>
            </a:pPr>
            <a:r>
              <a:rPr lang="en-US" sz="1400" b="0" i="0" u="none" strike="noStrike">
                <a:solidFill>
                  <a:srgbClr val="74A67C"/>
                </a:solidFill>
                <a:latin typeface="Roboto Mono"/>
                <a:ea typeface="Roboto Mono"/>
                <a:cs typeface="Roboto Mono"/>
                <a:sym typeface="Roboto Mono"/>
              </a:rPr>
              <a:t># 从 NumPy 数组创建 Tensor，共享内存</a:t>
            </a:r>
          </a:p>
          <a:p>
            <a:pPr marL="0" indent="0" algn="l">
              <a:lnSpc>
                <a:spcPct val="116666"/>
              </a:lnSpc>
            </a:pPr>
            <a:r>
              <a:rPr lang="en-US" sz="1400" b="0" i="0" u="none" strike="noStrike">
                <a:solidFill>
                  <a:srgbClr val="E5E7EB"/>
                </a:solidFill>
                <a:latin typeface="Roboto Mono"/>
                <a:ea typeface="Roboto Mono"/>
                <a:cs typeface="Roboto Mono"/>
                <a:sym typeface="Roboto Mono"/>
              </a:rPr>
              <a:t>n = np.ones(5)</a:t>
            </a:r>
            <a:r>
              <a:rPr lang="en-US" sz="1400" b="0" i="0" u="none" strike="noStrike">
                <a:solidFill>
                  <a:srgbClr val="74A67C"/>
                </a:solidFill>
                <a:latin typeface="Roboto Mono"/>
                <a:ea typeface="Roboto Mono"/>
                <a:cs typeface="Roboto Mono"/>
                <a:sym typeface="Roboto Mono"/>
              </a:rPr>
              <a:t># 定义 NumPy 数组 [1. 1. 1. 1. 1.]</a:t>
            </a:r>
          </a:p>
          <a:p>
            <a:pPr marL="0" indent="0" algn="l">
              <a:lnSpc>
                <a:spcPct val="116666"/>
              </a:lnSpc>
            </a:pPr>
            <a:r>
              <a:rPr lang="en-US" sz="1400" b="0" i="0" u="none" strike="noStrike">
                <a:solidFill>
                  <a:srgbClr val="E5E7EB"/>
                </a:solidFill>
                <a:latin typeface="Roboto Mono"/>
                <a:ea typeface="Roboto Mono"/>
                <a:cs typeface="Roboto Mono"/>
                <a:sym typeface="Roboto Mono"/>
              </a:rPr>
              <a:t>t = torch.from_numpy(n)</a:t>
            </a:r>
            <a:r>
              <a:rPr lang="en-US" sz="1400" b="0" i="0" u="none" strike="noStrike">
                <a:solidFill>
                  <a:srgbClr val="74A67C"/>
                </a:solidFill>
                <a:latin typeface="Roboto Mono"/>
                <a:ea typeface="Roboto Mono"/>
                <a:cs typeface="Roboto Mono"/>
                <a:sym typeface="Roboto Mono"/>
              </a:rPr>
              <a:t># 转换为 PyTorch Tensor</a:t>
            </a:r>
          </a:p>
          <a:p>
            <a:pPr marL="0" indent="0" algn="l">
              <a:lnSpc>
                <a:spcPct val="116666"/>
              </a:lnSpc>
            </a:pPr>
            <a:r>
              <a:rPr lang="en-US" sz="1400" b="0" i="0" u="none" strike="noStrike">
                <a:solidFill>
                  <a:srgbClr val="E5E7EB"/>
                </a:solidFill>
                <a:latin typeface="Roboto Mono"/>
                <a:ea typeface="Roboto Mono"/>
                <a:cs typeface="Roboto Mono"/>
                <a:sym typeface="Roboto Mono"/>
              </a:rPr>
              <a:t>np.add(n, 1, out=n)</a:t>
            </a:r>
            <a:r>
              <a:rPr lang="en-US" sz="1400" b="0" i="0" u="none" strike="noStrike">
                <a:solidFill>
                  <a:srgbClr val="74A67C"/>
                </a:solidFill>
                <a:latin typeface="Roboto Mono"/>
                <a:ea typeface="Roboto Mono"/>
                <a:cs typeface="Roboto Mono"/>
                <a:sym typeface="Roboto Mono"/>
              </a:rPr>
              <a:t># 修改原 NumPy 数组，值变为 2.0</a:t>
            </a:r>
          </a:p>
          <a:p>
            <a:pPr marL="0" indent="0" algn="l">
              <a:lnSpc>
                <a:spcPct val="116666"/>
              </a:lnSpc>
            </a:pPr>
            <a:r>
              <a:rPr lang="en-US" sz="1400" b="0" i="0" u="none" strike="noStrike">
                <a:solidFill>
                  <a:srgbClr val="E5E7EB"/>
                </a:solidFill>
                <a:latin typeface="Roboto Mono"/>
                <a:ea typeface="Roboto Mono"/>
                <a:cs typeface="Roboto Mono"/>
                <a:sym typeface="Roboto Mono"/>
              </a:rPr>
              <a:t>print(f"Tensor value: {t}")</a:t>
            </a:r>
            <a:r>
              <a:rPr lang="en-US" sz="1400" b="0" i="0" u="none" strike="noStrike">
                <a:solidFill>
                  <a:srgbClr val="74A67C"/>
                </a:solidFill>
                <a:latin typeface="Roboto Mono"/>
                <a:ea typeface="Roboto Mono"/>
                <a:cs typeface="Roboto Mono"/>
                <a:sym typeface="Roboto Mono"/>
              </a:rPr>
              <a:t># 输出：tensor([2., 2., 2., 2., 2.])</a:t>
            </a:r>
          </a:p>
        </p:txBody>
      </p:sp>
      <p:sp>
        <p:nvSpPr>
          <p:cNvPr id="6" name="AutoShape 6"/>
          <p:cNvSpPr/>
          <p:nvPr/>
        </p:nvSpPr>
        <p:spPr>
          <a:xfrm>
            <a:off x="762000" y="4699000"/>
            <a:ext cx="10668000" cy="1524000"/>
          </a:xfrm>
          <a:prstGeom prst="roundRect">
            <a:avLst>
              <a:gd name="adj" fmla="val 0"/>
            </a:avLst>
          </a:prstGeom>
          <a:solidFill>
            <a:srgbClr val="F3F4F6">
              <a:alpha val="8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4699000"/>
            <a:ext cx="76200" cy="1524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000" y="5016500"/>
            <a:ext cx="457200" cy="457200"/>
          </a:xfrm>
          <a:prstGeom prst="rect">
            <a:avLst/>
          </a:prstGeom>
        </p:spPr>
      </p:pic>
      <p:sp>
        <p:nvSpPr>
          <p:cNvPr id="9" name="AutoShape 9"/>
          <p:cNvSpPr/>
          <p:nvPr/>
        </p:nvSpPr>
        <p:spPr>
          <a:xfrm>
            <a:off x="1841500" y="4889500"/>
            <a:ext cx="9271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800" b="1" i="0" u="none" strike="noStrike">
                <a:solidFill>
                  <a:srgbClr val="1F2937"/>
                </a:solidFill>
                <a:latin typeface="Noto Sans SC"/>
                <a:ea typeface="Noto Sans SC"/>
                <a:cs typeface="Noto Sans SC"/>
                <a:sym typeface="Noto Sans SC"/>
              </a:rPr>
              <a:t>关键特性：零拷贝内存共享</a:t>
            </a:r>
            <a:endParaRPr lang="en-US" sz="1100"/>
          </a:p>
          <a:p>
            <a:pPr marL="0" indent="0" algn="l">
              <a:lnSpc>
                <a:spcPct val="116666"/>
              </a:lnSpc>
            </a:pPr>
            <a:r>
              <a:rPr lang="en-US" sz="1500" b="0" i="0" u="none" strike="noStrike">
                <a:solidFill>
                  <a:srgbClr val="4B5563"/>
                </a:solidFill>
                <a:latin typeface="Noto Sans SC"/>
                <a:ea typeface="Noto Sans SC"/>
                <a:cs typeface="Noto Sans SC"/>
                <a:sym typeface="Noto Sans SC"/>
              </a:rPr>
              <a:t>通过 `torch.from_numpy()` 创建的 Tensor 并非数据的独立副本，而是与原 NumPy 数组</a:t>
            </a:r>
            <a:r>
              <a:rPr lang="en-US" sz="1500" b="1" i="0" u="none" strike="noStrike">
                <a:solidFill>
                  <a:srgbClr val="4B5563"/>
                </a:solidFill>
                <a:latin typeface="Noto Sans SC"/>
                <a:ea typeface="Noto Sans SC"/>
                <a:cs typeface="Noto Sans SC"/>
                <a:sym typeface="Noto Sans SC"/>
              </a:rPr>
              <a:t>共享同一块内存区域</a:t>
            </a:r>
            <a:r>
              <a:rPr lang="en-US" sz="1500" b="0" i="0" u="none" strike="noStrike">
                <a:solidFill>
                  <a:srgbClr val="4B5563"/>
                </a:solidFill>
                <a:latin typeface="Noto Sans SC"/>
                <a:ea typeface="Noto Sans SC"/>
                <a:cs typeface="Noto Sans SC"/>
                <a:sym typeface="Noto Sans SC"/>
              </a:rPr>
              <a:t>。这种机制使得数据在两个库之间流转时无需复制，既节省了内存资源，又保证了极高的转换效率。</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2. 自动微分：Autograd</a:t>
            </a:r>
            <a:endParaRPr lang="en-US" sz="1100"/>
          </a:p>
        </p:txBody>
      </p:sp>
      <p:sp>
        <p:nvSpPr>
          <p:cNvPr id="4" name="AutoShape 4"/>
          <p:cNvSpPr/>
          <p:nvPr/>
        </p:nvSpPr>
        <p:spPr>
          <a:xfrm>
            <a:off x="762000" y="1651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4B5563"/>
                </a:solidFill>
                <a:latin typeface="Noto Sans SC"/>
                <a:ea typeface="Noto Sans SC"/>
                <a:cs typeface="Noto Sans SC"/>
                <a:sym typeface="Noto Sans SC"/>
              </a:rPr>
              <a:t>Autograd 是 PyTorch 的核心自动微分引擎，它通过动态计算图技术，支持对张量上的任意操作进行自动求导。这一机制是实现神经网络反向传播的基石，让开发者无需手动推导复杂的数学公式，即可高效完成模型参数的梯度计算与优化。</a:t>
            </a:r>
            <a:endParaRPr lang="en-US" sz="1100"/>
          </a:p>
        </p:txBody>
      </p:sp>
      <p:sp>
        <p:nvSpPr>
          <p:cNvPr id="5" name="AutoShape 5"/>
          <p:cNvSpPr/>
          <p:nvPr/>
        </p:nvSpPr>
        <p:spPr>
          <a:xfrm>
            <a:off x="762000" y="2857500"/>
            <a:ext cx="5207000" cy="1651000"/>
          </a:xfrm>
          <a:prstGeom prst="roundRect">
            <a:avLst>
              <a:gd name="adj" fmla="val 0"/>
            </a:avLst>
          </a:prstGeom>
          <a:solidFill>
            <a:srgbClr val="FFFFFF">
              <a:alpha val="60000"/>
            </a:srgbClr>
          </a:solidFill>
          <a:ln w="12700" cap="flat" cmpd="sng">
            <a:solidFill>
              <a:srgbClr val="E5E7EB">
                <a:alpha val="9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111500"/>
            <a:ext cx="457200" cy="457200"/>
          </a:xfrm>
          <a:prstGeom prst="rect">
            <a:avLst/>
          </a:prstGeom>
        </p:spPr>
      </p:pic>
      <p:sp>
        <p:nvSpPr>
          <p:cNvPr id="7" name="AutoShape 7"/>
          <p:cNvSpPr/>
          <p:nvPr/>
        </p:nvSpPr>
        <p:spPr>
          <a:xfrm>
            <a:off x="1587500" y="3073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requires_grad=True</a:t>
            </a:r>
            <a:endParaRPr lang="en-US" sz="1100"/>
          </a:p>
        </p:txBody>
      </p:sp>
      <p:sp>
        <p:nvSpPr>
          <p:cNvPr id="8" name="AutoShape 8"/>
          <p:cNvSpPr/>
          <p:nvPr/>
        </p:nvSpPr>
        <p:spPr>
          <a:xfrm>
            <a:off x="1587500" y="35560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开启张量的梯度追踪开关。一旦设置，Autograd 将记录该张量参与的所有运算操作，为后续构建动态计算图和自动求导奠定基础。</a:t>
            </a:r>
            <a:endParaRPr lang="en-US" sz="1100"/>
          </a:p>
        </p:txBody>
      </p:sp>
      <p:sp>
        <p:nvSpPr>
          <p:cNvPr id="9" name="AutoShape 9"/>
          <p:cNvSpPr/>
          <p:nvPr/>
        </p:nvSpPr>
        <p:spPr>
          <a:xfrm>
            <a:off x="6223000" y="2857500"/>
            <a:ext cx="5207000" cy="1651000"/>
          </a:xfrm>
          <a:prstGeom prst="roundRect">
            <a:avLst>
              <a:gd name="adj" fmla="val 0"/>
            </a:avLst>
          </a:prstGeom>
          <a:solidFill>
            <a:srgbClr val="FFFFFF">
              <a:alpha val="60000"/>
            </a:srgbClr>
          </a:solidFill>
          <a:ln w="12700" cap="flat" cmpd="sng">
            <a:solidFill>
              <a:srgbClr val="E5E7EB">
                <a:alpha val="9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3111500"/>
            <a:ext cx="457200" cy="457200"/>
          </a:xfrm>
          <a:prstGeom prst="rect">
            <a:avLst/>
          </a:prstGeom>
        </p:spPr>
      </p:pic>
      <p:sp>
        <p:nvSpPr>
          <p:cNvPr id="11" name="AutoShape 11"/>
          <p:cNvSpPr/>
          <p:nvPr/>
        </p:nvSpPr>
        <p:spPr>
          <a:xfrm>
            <a:off x="7048500" y="3073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grad_fn 属性</a:t>
            </a:r>
            <a:endParaRPr lang="en-US" sz="1100"/>
          </a:p>
        </p:txBody>
      </p:sp>
      <p:sp>
        <p:nvSpPr>
          <p:cNvPr id="12" name="AutoShape 12"/>
          <p:cNvSpPr/>
          <p:nvPr/>
        </p:nvSpPr>
        <p:spPr>
          <a:xfrm>
            <a:off x="7048500" y="35560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记录创建该张量的运算函数引用，是构建计算图的关键节点。它保存了反向传播时所需的梯度计算逻辑，连接着张量与生成它的运算。</a:t>
            </a:r>
            <a:endParaRPr lang="en-US" sz="1100"/>
          </a:p>
        </p:txBody>
      </p:sp>
      <p:sp>
        <p:nvSpPr>
          <p:cNvPr id="13" name="AutoShape 13"/>
          <p:cNvSpPr/>
          <p:nvPr/>
        </p:nvSpPr>
        <p:spPr>
          <a:xfrm>
            <a:off x="762000" y="4699000"/>
            <a:ext cx="5207000" cy="1651000"/>
          </a:xfrm>
          <a:prstGeom prst="roundRect">
            <a:avLst>
              <a:gd name="adj" fmla="val 0"/>
            </a:avLst>
          </a:prstGeom>
          <a:solidFill>
            <a:srgbClr val="FFFFFF">
              <a:alpha val="60000"/>
            </a:srgbClr>
          </a:solidFill>
          <a:ln w="12700" cap="flat" cmpd="sng">
            <a:solidFill>
              <a:srgbClr val="E5E7EB">
                <a:alpha val="9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953000"/>
            <a:ext cx="457200" cy="457200"/>
          </a:xfrm>
          <a:prstGeom prst="rect">
            <a:avLst/>
          </a:prstGeom>
        </p:spPr>
      </p:pic>
      <p:sp>
        <p:nvSpPr>
          <p:cNvPr id="15" name="AutoShape 15"/>
          <p:cNvSpPr/>
          <p:nvPr/>
        </p:nvSpPr>
        <p:spPr>
          <a:xfrm>
            <a:off x="1587500" y="49149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.backward() 方法</a:t>
            </a:r>
            <a:endParaRPr lang="en-US" sz="1100"/>
          </a:p>
        </p:txBody>
      </p:sp>
      <p:sp>
        <p:nvSpPr>
          <p:cNvPr id="16" name="AutoShape 16"/>
          <p:cNvSpPr/>
          <p:nvPr/>
        </p:nvSpPr>
        <p:spPr>
          <a:xfrm>
            <a:off x="1587500" y="53975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触发反向传播的核心入口。在损失张量上调用此方法，Autograd 将沿计算图逆向传播，利用链式法则自动计算所有相关张量的梯度。</a:t>
            </a:r>
            <a:endParaRPr lang="en-US" sz="1100"/>
          </a:p>
        </p:txBody>
      </p:sp>
      <p:sp>
        <p:nvSpPr>
          <p:cNvPr id="17" name="AutoShape 17"/>
          <p:cNvSpPr/>
          <p:nvPr/>
        </p:nvSpPr>
        <p:spPr>
          <a:xfrm>
            <a:off x="6223000" y="4699000"/>
            <a:ext cx="5207000" cy="1651000"/>
          </a:xfrm>
          <a:prstGeom prst="roundRect">
            <a:avLst>
              <a:gd name="adj" fmla="val 0"/>
            </a:avLst>
          </a:prstGeom>
          <a:solidFill>
            <a:srgbClr val="FFFFFF">
              <a:alpha val="60000"/>
            </a:srgbClr>
          </a:solidFill>
          <a:ln w="12700" cap="flat" cmpd="sng">
            <a:solidFill>
              <a:srgbClr val="E5E7EB">
                <a:alpha val="9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953000"/>
            <a:ext cx="457200" cy="457200"/>
          </a:xfrm>
          <a:prstGeom prst="rect">
            <a:avLst/>
          </a:prstGeom>
        </p:spPr>
      </p:pic>
      <p:sp>
        <p:nvSpPr>
          <p:cNvPr id="19" name="AutoShape 19"/>
          <p:cNvSpPr/>
          <p:nvPr/>
        </p:nvSpPr>
        <p:spPr>
          <a:xfrm>
            <a:off x="7048500" y="49149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.grad 属性</a:t>
            </a:r>
            <a:endParaRPr lang="en-US" sz="1100"/>
          </a:p>
        </p:txBody>
      </p:sp>
      <p:sp>
        <p:nvSpPr>
          <p:cNvPr id="20" name="AutoShape 20"/>
          <p:cNvSpPr/>
          <p:nvPr/>
        </p:nvSpPr>
        <p:spPr>
          <a:xfrm>
            <a:off x="7048500" y="53975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存储反向传播计算出的梯度结果。该属性会在每次调用 .backward() 时累加，因此在参数更新前，通常需要手动将其清零以确保计算准确。</a:t>
            </a:r>
            <a:endParaRPr lang="en-US" sz="11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Autograd 示例</a:t>
            </a:r>
            <a:endParaRPr lang="en-US" sz="1100"/>
          </a:p>
        </p:txBody>
      </p:sp>
      <p:sp>
        <p:nvSpPr>
          <p:cNvPr id="4" name="AutoShape 4"/>
          <p:cNvSpPr/>
          <p:nvPr/>
        </p:nvSpPr>
        <p:spPr>
          <a:xfrm>
            <a:off x="762000" y="1905000"/>
            <a:ext cx="10668000" cy="3683000"/>
          </a:xfrm>
          <a:prstGeom prst="roundRect">
            <a:avLst>
              <a:gd name="adj" fmla="val 0"/>
            </a:avLst>
          </a:prstGeom>
          <a:solidFill>
            <a:srgbClr val="1F2937">
              <a:alpha val="90000"/>
            </a:srgbClr>
          </a:solidFill>
          <a:ln w="12700" cap="flat" cmpd="sng">
            <a:solidFill>
              <a:srgbClr val="9CA3AF">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1590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9CA3AF"/>
                </a:solidFill>
                <a:latin typeface="Roboto Mono"/>
                <a:ea typeface="Roboto Mono"/>
                <a:cs typeface="Roboto Mono"/>
                <a:sym typeface="Roboto Mono"/>
              </a:rPr>
              <a:t># 1. 定义张量并开启梯度追踪</a:t>
            </a:r>
            <a:br>
              <a:rPr lang="en-US" sz="1600" b="0" i="0" u="none" strike="noStrike">
                <a:solidFill>
                  <a:srgbClr val="1F2329"/>
                </a:solidFill>
                <a:latin typeface="Roboto Mono"/>
                <a:ea typeface="Roboto Mono"/>
                <a:cs typeface="Roboto Mono"/>
                <a:sym typeface="Roboto Mono"/>
              </a:rPr>
            </a:br>
            <a:r>
              <a:rPr lang="en-US" sz="1500" b="0" i="0" u="none" strike="noStrike">
                <a:solidFill>
                  <a:srgbClr val="C084FC"/>
                </a:solidFill>
                <a:latin typeface="Roboto Mono"/>
                <a:ea typeface="Roboto Mono"/>
                <a:cs typeface="Roboto Mono"/>
                <a:sym typeface="Roboto Mono"/>
              </a:rPr>
              <a:t>x</a:t>
            </a:r>
            <a:r>
              <a:rPr lang="en-US" sz="1500" b="0" i="0" u="none" strike="noStrike">
                <a:solidFill>
                  <a:srgbClr val="E5E7EB"/>
                </a:solidFill>
                <a:latin typeface="Roboto Mono"/>
                <a:ea typeface="Roboto Mono"/>
                <a:cs typeface="Roboto Mono"/>
                <a:sym typeface="Roboto Mono"/>
              </a:rPr>
              <a:t>=</a:t>
            </a:r>
            <a:r>
              <a:rPr lang="en-US" sz="1500" b="0" i="0" u="none" strike="noStrike">
                <a:solidFill>
                  <a:srgbClr val="60A5FA"/>
                </a:solidFill>
                <a:latin typeface="Roboto Mono"/>
                <a:ea typeface="Roboto Mono"/>
                <a:cs typeface="Roboto Mono"/>
                <a:sym typeface="Roboto Mono"/>
              </a:rPr>
              <a:t>torch</a:t>
            </a:r>
            <a:r>
              <a:rPr lang="en-US" sz="1500" b="0" i="0" u="none" strike="noStrike">
                <a:solidFill>
                  <a:srgbClr val="E5E7EB"/>
                </a:solidFill>
                <a:latin typeface="Roboto Mono"/>
                <a:ea typeface="Roboto Mono"/>
                <a:cs typeface="Roboto Mono"/>
                <a:sym typeface="Roboto Mono"/>
              </a:rPr>
              <a:t>.ones(</a:t>
            </a:r>
            <a:r>
              <a:rPr lang="en-US" sz="1500" b="0" i="0" u="none" strike="noStrike">
                <a:solidFill>
                  <a:srgbClr val="FCD34D"/>
                </a:solidFill>
                <a:latin typeface="Roboto Mono"/>
                <a:ea typeface="Roboto Mono"/>
                <a:cs typeface="Roboto Mono"/>
                <a:sym typeface="Roboto Mono"/>
              </a:rPr>
              <a:t>2</a:t>
            </a:r>
            <a:r>
              <a:rPr lang="en-US" sz="1500" b="0" i="0" u="none" strike="noStrike">
                <a:solidFill>
                  <a:srgbClr val="E5E7EB"/>
                </a:solidFill>
                <a:latin typeface="Roboto Mono"/>
                <a:ea typeface="Roboto Mono"/>
                <a:cs typeface="Roboto Mono"/>
                <a:sym typeface="Roboto Mono"/>
              </a:rPr>
              <a:t>,</a:t>
            </a:r>
            <a:r>
              <a:rPr lang="en-US" sz="1500" b="0" i="0" u="none" strike="noStrike">
                <a:solidFill>
                  <a:srgbClr val="FCD34D"/>
                </a:solidFill>
                <a:latin typeface="Roboto Mono"/>
                <a:ea typeface="Roboto Mono"/>
                <a:cs typeface="Roboto Mono"/>
                <a:sym typeface="Roboto Mono"/>
              </a:rPr>
              <a:t>2</a:t>
            </a:r>
            <a:r>
              <a:rPr lang="en-US" sz="1500" b="0" i="0" u="none" strike="noStrike">
                <a:solidFill>
                  <a:srgbClr val="E5E7EB"/>
                </a:solidFill>
                <a:latin typeface="Roboto Mono"/>
                <a:ea typeface="Roboto Mono"/>
                <a:cs typeface="Roboto Mono"/>
                <a:sym typeface="Roboto Mono"/>
              </a:rPr>
              <a:t>, requires_grad=</a:t>
            </a:r>
            <a:r>
              <a:rPr lang="en-US" sz="1500" b="0" i="0" u="none" strike="noStrike">
                <a:solidFill>
                  <a:srgbClr val="34D399"/>
                </a:solidFill>
                <a:latin typeface="Roboto Mono"/>
                <a:ea typeface="Roboto Mono"/>
                <a:cs typeface="Roboto Mono"/>
                <a:sym typeface="Roboto Mono"/>
              </a:rPr>
              <a:t>True</a:t>
            </a:r>
            <a:r>
              <a:rPr lang="en-US" sz="1500" b="0" i="0" u="none" strike="noStrike">
                <a:solidFill>
                  <a:srgbClr val="E5E7EB"/>
                </a:solidFill>
                <a:latin typeface="Roboto Mono"/>
                <a:ea typeface="Roboto Mono"/>
                <a:cs typeface="Roboto Mono"/>
                <a:sym typeface="Roboto Mono"/>
              </a:rPr>
              <a:t>)</a:t>
            </a:r>
            <a:endParaRPr lang="en-US" sz="1100"/>
          </a:p>
        </p:txBody>
      </p:sp>
      <p:cxnSp>
        <p:nvCxnSpPr>
          <p:cNvPr id="6" name="Connector 6"/>
          <p:cNvCxnSpPr/>
          <p:nvPr/>
        </p:nvCxnSpPr>
        <p:spPr>
          <a:xfrm rot="-4297">
            <a:off x="1016004" y="3105150"/>
            <a:ext cx="10160000" cy="12700"/>
          </a:xfrm>
          <a:prstGeom prst="straightConnector1">
            <a:avLst/>
          </a:prstGeom>
          <a:solidFill>
            <a:srgbClr val="DEE0E3">
              <a:alpha val="100000"/>
            </a:srgbClr>
          </a:solidFill>
          <a:ln w="12700" cap="flat" cmpd="sng">
            <a:solidFill>
              <a:srgbClr val="4B5563">
                <a:alpha val="50000"/>
              </a:srgbClr>
            </a:solidFill>
            <a:prstDash val="dash"/>
            <a:round/>
            <a:headEnd type="none" w="med" len="med"/>
            <a:tailEnd type="none" w="med" len="med"/>
          </a:ln>
        </p:spPr>
      </p:cxnSp>
      <p:sp>
        <p:nvSpPr>
          <p:cNvPr id="7" name="AutoShape 7"/>
          <p:cNvSpPr/>
          <p:nvPr/>
        </p:nvSpPr>
        <p:spPr>
          <a:xfrm>
            <a:off x="1016000" y="32385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9CA3AF"/>
                </a:solidFill>
                <a:latin typeface="Roboto Mono"/>
                <a:ea typeface="Roboto Mono"/>
                <a:cs typeface="Roboto Mono"/>
                <a:sym typeface="Roboto Mono"/>
              </a:rPr>
              <a:t># 2. 执行一系列张量运算，自动构建计算图</a:t>
            </a:r>
            <a:br>
              <a:rPr lang="en-US" sz="1600" b="0" i="0" u="none" strike="noStrike">
                <a:solidFill>
                  <a:srgbClr val="1F2329"/>
                </a:solidFill>
                <a:latin typeface="Roboto Mono"/>
                <a:ea typeface="Roboto Mono"/>
                <a:cs typeface="Roboto Mono"/>
                <a:sym typeface="Roboto Mono"/>
              </a:rPr>
            </a:br>
            <a:r>
              <a:rPr lang="en-US" sz="1500" b="0" i="0" u="none" strike="noStrike">
                <a:solidFill>
                  <a:srgbClr val="C084FC"/>
                </a:solidFill>
                <a:latin typeface="Roboto Mono"/>
                <a:ea typeface="Roboto Mono"/>
                <a:cs typeface="Roboto Mono"/>
                <a:sym typeface="Roboto Mono"/>
              </a:rPr>
              <a:t>y</a:t>
            </a:r>
            <a:r>
              <a:rPr lang="en-US" sz="1500" b="0" i="0" u="none" strike="noStrike">
                <a:solidFill>
                  <a:srgbClr val="E5E7EB"/>
                </a:solidFill>
                <a:latin typeface="Roboto Mono"/>
                <a:ea typeface="Roboto Mono"/>
                <a:cs typeface="Roboto Mono"/>
                <a:sym typeface="Roboto Mono"/>
              </a:rPr>
              <a:t>= x + 2;</a:t>
            </a:r>
            <a:r>
              <a:rPr lang="en-US" sz="1500" b="0" i="0" u="none" strike="noStrike">
                <a:solidFill>
                  <a:srgbClr val="C084FC"/>
                </a:solidFill>
                <a:latin typeface="Roboto Mono"/>
                <a:ea typeface="Roboto Mono"/>
                <a:cs typeface="Roboto Mono"/>
                <a:sym typeface="Roboto Mono"/>
              </a:rPr>
              <a:t>z</a:t>
            </a:r>
            <a:r>
              <a:rPr lang="en-US" sz="1500" b="0" i="0" u="none" strike="noStrike">
                <a:solidFill>
                  <a:srgbClr val="E5E7EB"/>
                </a:solidFill>
                <a:latin typeface="Roboto Mono"/>
                <a:ea typeface="Roboto Mono"/>
                <a:cs typeface="Roboto Mono"/>
                <a:sym typeface="Roboto Mono"/>
              </a:rPr>
              <a:t>= y * y * 3;</a:t>
            </a:r>
            <a:r>
              <a:rPr lang="en-US" sz="1500" b="0" i="0" u="none" strike="noStrike">
                <a:solidFill>
                  <a:srgbClr val="C084FC"/>
                </a:solidFill>
                <a:latin typeface="Roboto Mono"/>
                <a:ea typeface="Roboto Mono"/>
                <a:cs typeface="Roboto Mono"/>
                <a:sym typeface="Roboto Mono"/>
              </a:rPr>
              <a:t>out</a:t>
            </a:r>
            <a:r>
              <a:rPr lang="en-US" sz="1500" b="0" i="0" u="none" strike="noStrike">
                <a:solidFill>
                  <a:srgbClr val="E5E7EB"/>
                </a:solidFill>
                <a:latin typeface="Roboto Mono"/>
                <a:ea typeface="Roboto Mono"/>
                <a:cs typeface="Roboto Mono"/>
                <a:sym typeface="Roboto Mono"/>
              </a:rPr>
              <a:t>= z.mean() # out 是一个标量</a:t>
            </a:r>
            <a:endParaRPr lang="en-US" sz="1100"/>
          </a:p>
        </p:txBody>
      </p:sp>
      <p:cxnSp>
        <p:nvCxnSpPr>
          <p:cNvPr id="8" name="Connector 8"/>
          <p:cNvCxnSpPr/>
          <p:nvPr/>
        </p:nvCxnSpPr>
        <p:spPr>
          <a:xfrm rot="-4297">
            <a:off x="1016004" y="4184650"/>
            <a:ext cx="10160000" cy="12700"/>
          </a:xfrm>
          <a:prstGeom prst="straightConnector1">
            <a:avLst/>
          </a:prstGeom>
          <a:solidFill>
            <a:srgbClr val="DEE0E3">
              <a:alpha val="100000"/>
            </a:srgbClr>
          </a:solidFill>
          <a:ln w="12700" cap="flat" cmpd="sng">
            <a:solidFill>
              <a:srgbClr val="4B5563">
                <a:alpha val="50000"/>
              </a:srgbClr>
            </a:solidFill>
            <a:prstDash val="dash"/>
            <a:round/>
            <a:headEnd type="none" w="med" len="med"/>
            <a:tailEnd type="none" w="med" len="med"/>
          </a:ln>
        </p:spPr>
      </p:cxnSp>
      <p:sp>
        <p:nvSpPr>
          <p:cNvPr id="9" name="AutoShape 9"/>
          <p:cNvSpPr/>
          <p:nvPr/>
        </p:nvSpPr>
        <p:spPr>
          <a:xfrm>
            <a:off x="1016000" y="43180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9CA3AF"/>
                </a:solidFill>
                <a:latin typeface="Roboto Mono"/>
                <a:ea typeface="Roboto Mono"/>
                <a:cs typeface="Roboto Mono"/>
                <a:sym typeface="Roboto Mono"/>
              </a:rPr>
              <a:t># 3. 反向传播：计算梯度 (d(out)/dx)</a:t>
            </a:r>
            <a:br>
              <a:rPr lang="en-US" sz="1600" b="0" i="0" u="none" strike="noStrike">
                <a:solidFill>
                  <a:srgbClr val="1F2329"/>
                </a:solidFill>
                <a:latin typeface="Roboto Mono"/>
                <a:ea typeface="Roboto Mono"/>
                <a:cs typeface="Roboto Mono"/>
                <a:sym typeface="Roboto Mono"/>
              </a:rPr>
            </a:br>
            <a:r>
              <a:rPr lang="en-US" sz="1500" b="0" i="0" u="none" strike="noStrike">
                <a:solidFill>
                  <a:srgbClr val="C084FC"/>
                </a:solidFill>
                <a:latin typeface="Roboto Mono"/>
                <a:ea typeface="Roboto Mono"/>
                <a:cs typeface="Roboto Mono"/>
                <a:sym typeface="Roboto Mono"/>
              </a:rPr>
              <a:t>out</a:t>
            </a:r>
            <a:r>
              <a:rPr lang="en-US" sz="1500" b="0" i="0" u="none" strike="noStrike">
                <a:solidFill>
                  <a:srgbClr val="E5E7EB"/>
                </a:solidFill>
                <a:latin typeface="Roboto Mono"/>
                <a:ea typeface="Roboto Mono"/>
                <a:cs typeface="Roboto Mono"/>
                <a:sym typeface="Roboto Mono"/>
              </a:rPr>
              <a:t>.backward() # 仅对标量输出有效，无需传入参数</a:t>
            </a:r>
            <a:br>
              <a:rPr lang="en-US" sz="1600" b="0" i="0" u="none" strike="noStrike">
                <a:solidFill>
                  <a:srgbClr val="1F2329"/>
                </a:solidFill>
                <a:latin typeface="Roboto Mono"/>
                <a:ea typeface="Roboto Mono"/>
                <a:cs typeface="Roboto Mono"/>
                <a:sym typeface="Roboto Mono"/>
              </a:rPr>
            </a:br>
            <a:r>
              <a:rPr lang="en-US" sz="1500" b="0" i="0" u="none" strike="noStrike">
                <a:solidFill>
                  <a:srgbClr val="E5E7EB"/>
                </a:solidFill>
                <a:latin typeface="Roboto Mono"/>
                <a:ea typeface="Roboto Mono"/>
                <a:cs typeface="Roboto Mono"/>
                <a:sym typeface="Roboto Mono"/>
              </a:rPr>
              <a:t>print(x.grad) # 输出梯度矩阵：tensor([[4.5000, 4.5000], [4.5000, 4.5000]])</a:t>
            </a:r>
            <a:endParaRPr lang="en-US" sz="1100"/>
          </a:p>
        </p:txBody>
      </p:sp>
      <p:sp>
        <p:nvSpPr>
          <p:cNvPr id="10" name="AutoShape 10"/>
          <p:cNvSpPr/>
          <p:nvPr/>
        </p:nvSpPr>
        <p:spPr>
          <a:xfrm>
            <a:off x="762000" y="5778500"/>
            <a:ext cx="10668000" cy="698500"/>
          </a:xfrm>
          <a:prstGeom prst="roundRect">
            <a:avLst>
              <a:gd name="adj" fmla="val 0"/>
            </a:avLst>
          </a:prstGeom>
          <a:solidFill>
            <a:srgbClr val="1F2937">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981700"/>
            <a:ext cx="279400" cy="279400"/>
          </a:xfrm>
          <a:prstGeom prst="rect">
            <a:avLst/>
          </a:prstGeom>
        </p:spPr>
      </p:pic>
      <p:sp>
        <p:nvSpPr>
          <p:cNvPr id="12" name="AutoShape 12"/>
          <p:cNvSpPr/>
          <p:nvPr/>
        </p:nvSpPr>
        <p:spPr>
          <a:xfrm>
            <a:off x="1333500" y="5842000"/>
            <a:ext cx="10033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74151"/>
                </a:solidFill>
                <a:latin typeface="Noto Sans SC"/>
                <a:ea typeface="Noto Sans SC"/>
                <a:cs typeface="Noto Sans SC"/>
                <a:sym typeface="Noto Sans SC"/>
              </a:rPr>
              <a:t>核心机制：PyTorch 会记录所有在张量上的操作，形成一个动态的计算图。调用 .backward() 时，会从根节点（如 out）开始，沿图反向传播，利用链式法则自动计算各叶子节点的梯度。</a:t>
            </a:r>
            <a:endParaRPr lang="en-US" sz="11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Autograd 示例：反向传播</a:t>
            </a:r>
            <a:endParaRPr lang="en-US" sz="1100"/>
          </a:p>
        </p:txBody>
      </p:sp>
      <p:sp>
        <p:nvSpPr>
          <p:cNvPr id="4" name="AutoShape 4"/>
          <p:cNvSpPr/>
          <p:nvPr/>
        </p:nvSpPr>
        <p:spPr>
          <a:xfrm>
            <a:off x="762000" y="1778000"/>
            <a:ext cx="5207000" cy="3429000"/>
          </a:xfrm>
          <a:prstGeom prst="roundRect">
            <a:avLst>
              <a:gd name="adj" fmla="val 0"/>
            </a:avLst>
          </a:prstGeom>
          <a:solidFill>
            <a:srgbClr val="1F2937">
              <a:alpha val="85000"/>
            </a:srgbClr>
          </a:solidFill>
          <a:ln w="12700" cap="flat" cmpd="sng">
            <a:solidFill>
              <a:srgbClr val="4B5563">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68500"/>
            <a:ext cx="4826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9CA3AF"/>
                </a:solidFill>
                <a:latin typeface="Source Code Pro"/>
                <a:ea typeface="Source Code Pro"/>
                <a:cs typeface="Source Code Pro"/>
                <a:sym typeface="Source Code Pro"/>
              </a:rPr>
              <a:t># 触发反向传播，计算梯度 d(out)/dx</a:t>
            </a:r>
            <a:endParaRPr lang="en-US" sz="1100"/>
          </a:p>
          <a:p>
            <a:pPr marL="0" indent="0" algn="l">
              <a:lnSpc>
                <a:spcPct val="116666"/>
              </a:lnSpc>
            </a:pPr>
            <a:r>
              <a:rPr lang="en-US" sz="1400" b="0" i="0" u="none" strike="noStrike">
                <a:solidFill>
                  <a:srgbClr val="818CF8"/>
                </a:solidFill>
                <a:latin typeface="Source Code Pro"/>
                <a:ea typeface="Source Code Pro"/>
                <a:cs typeface="Source Code Pro"/>
                <a:sym typeface="Source Code Pro"/>
              </a:rPr>
              <a:t>out.backward()</a:t>
            </a:r>
          </a:p>
          <a:p>
            <a:pPr marL="0" indent="0" algn="l">
              <a:lnSpc>
                <a:spcPct val="116666"/>
              </a:lnSpc>
            </a:pPr>
            <a:r>
              <a:rPr lang="en-US" sz="1400" b="0" i="0" u="none" strike="noStrike">
                <a:solidFill>
                  <a:srgbClr val="9CA3AF"/>
                </a:solidFill>
                <a:latin typeface="Source Code Pro"/>
                <a:ea typeface="Source Code Pro"/>
                <a:cs typeface="Source Code Pro"/>
                <a:sym typeface="Source Code Pro"/>
              </a:rPr>
              <a:t># 打印 x 的梯度属性</a:t>
            </a:r>
          </a:p>
          <a:p>
            <a:pPr marL="0" indent="0" algn="l">
              <a:lnSpc>
                <a:spcPct val="116666"/>
              </a:lnSpc>
            </a:pPr>
            <a:r>
              <a:rPr lang="en-US" sz="1400" b="0" i="0" u="none" strike="noStrike">
                <a:solidFill>
                  <a:srgbClr val="818CF8"/>
                </a:solidFill>
                <a:latin typeface="Source Code Pro"/>
                <a:ea typeface="Source Code Pro"/>
                <a:cs typeface="Source Code Pro"/>
                <a:sym typeface="Source Code Pro"/>
              </a:rPr>
              <a:t>print(x.grad)</a:t>
            </a:r>
          </a:p>
          <a:p>
            <a:pPr marL="0" indent="0" algn="l">
              <a:lnSpc>
                <a:spcPct val="116666"/>
              </a:lnSpc>
            </a:pPr>
            <a:r>
              <a:rPr lang="en-US" sz="1400" b="0" i="0" u="none" strike="noStrike">
                <a:solidFill>
                  <a:srgbClr val="9CA3AF"/>
                </a:solidFill>
                <a:latin typeface="Source Code Pro"/>
                <a:ea typeface="Source Code Pro"/>
                <a:cs typeface="Source Code Pro"/>
                <a:sym typeface="Source Code Pro"/>
              </a:rPr>
              <a:t># 输出结果：</a:t>
            </a:r>
          </a:p>
          <a:p>
            <a:pPr marL="0" indent="0" algn="l">
              <a:lnSpc>
                <a:spcPct val="116666"/>
              </a:lnSpc>
            </a:pPr>
            <a:r>
              <a:rPr lang="en-US" sz="1400" b="0" i="0" u="none" strike="noStrike">
                <a:solidFill>
                  <a:srgbClr val="34D399"/>
                </a:solidFill>
                <a:latin typeface="Source Code Pro"/>
                <a:ea typeface="Source Code Pro"/>
                <a:cs typeface="Source Code Pro"/>
                <a:sym typeface="Source Code Pro"/>
              </a:rPr>
              <a:t>tensor([[4.5000, 4.5000],</a:t>
            </a:r>
          </a:p>
          <a:p>
            <a:pPr marL="0" indent="0" algn="l">
              <a:lnSpc>
                <a:spcPct val="116666"/>
              </a:lnSpc>
            </a:pPr>
            <a:r>
              <a:rPr lang="en-US" sz="1400" b="0" i="0" u="none" strike="noStrike">
                <a:solidFill>
                  <a:srgbClr val="34D399"/>
                </a:solidFill>
                <a:latin typeface="Source Code Pro"/>
                <a:ea typeface="Source Code Pro"/>
                <a:cs typeface="Source Code Pro"/>
                <a:sym typeface="Source Code Pro"/>
              </a:rPr>
              <a:t>[4.5000, 4.5000]])</a:t>
            </a:r>
          </a:p>
        </p:txBody>
      </p:sp>
      <p:sp>
        <p:nvSpPr>
          <p:cNvPr id="6" name="AutoShape 6"/>
          <p:cNvSpPr/>
          <p:nvPr/>
        </p:nvSpPr>
        <p:spPr>
          <a:xfrm>
            <a:off x="6223000" y="1778000"/>
            <a:ext cx="520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 数学推导与验证</a:t>
            </a:r>
            <a:endParaRPr lang="en-US" sz="1100"/>
          </a:p>
        </p:txBody>
      </p:sp>
      <p:sp>
        <p:nvSpPr>
          <p:cNvPr id="7" name="AutoShape 7"/>
          <p:cNvSpPr/>
          <p:nvPr/>
        </p:nvSpPr>
        <p:spPr>
          <a:xfrm>
            <a:off x="6223000" y="2413000"/>
            <a:ext cx="5207000" cy="952500"/>
          </a:xfrm>
          <a:prstGeom prst="roundRect">
            <a:avLst>
              <a:gd name="adj" fmla="val 0"/>
            </a:avLst>
          </a:prstGeom>
          <a:solidFill>
            <a:srgbClr val="F3F4F6">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350000" y="2514600"/>
            <a:ext cx="495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01. 函数关系拆解</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设 z = 3·(x+2)²，out 是 z 的平均值。即：</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out = (1/4) · Σ[3·(xᵢ+2)²]，其中 x 初始值为全1矩阵。</a:t>
            </a:r>
          </a:p>
        </p:txBody>
      </p:sp>
      <p:sp>
        <p:nvSpPr>
          <p:cNvPr id="9" name="AutoShape 9"/>
          <p:cNvSpPr/>
          <p:nvPr/>
        </p:nvSpPr>
        <p:spPr>
          <a:xfrm>
            <a:off x="6223000" y="3492500"/>
            <a:ext cx="5207000" cy="952500"/>
          </a:xfrm>
          <a:prstGeom prst="roundRect">
            <a:avLst>
              <a:gd name="adj" fmla="val 0"/>
            </a:avLst>
          </a:prstGeom>
          <a:solidFill>
            <a:srgbClr val="F3F4F6">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350000" y="3594100"/>
            <a:ext cx="495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02. 梯度手动验证</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对 xᵢ 求偏导：∂out/∂xᵢ = 1.5·(xᵢ+2)</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代入 xᵢ=1，得 1.5 × 3 =</a:t>
            </a:r>
            <a:r>
              <a:rPr lang="en-US" sz="1300" b="1" i="0" u="none" strike="noStrike">
                <a:solidFill>
                  <a:srgbClr val="DC2626"/>
                </a:solidFill>
                <a:latin typeface="Noto Sans SC"/>
                <a:ea typeface="Noto Sans SC"/>
                <a:cs typeface="Noto Sans SC"/>
                <a:sym typeface="Noto Sans SC"/>
              </a:rPr>
              <a:t>4.5</a:t>
            </a:r>
            <a:r>
              <a:rPr lang="en-US" sz="1300" b="0" i="0" u="none" strike="noStrike">
                <a:solidFill>
                  <a:srgbClr val="4B5563"/>
                </a:solidFill>
                <a:latin typeface="Noto Sans SC"/>
                <a:ea typeface="Noto Sans SC"/>
                <a:cs typeface="Noto Sans SC"/>
                <a:sym typeface="Noto Sans SC"/>
              </a:rPr>
              <a:t>，与自动求导结果一致。</a:t>
            </a:r>
          </a:p>
        </p:txBody>
      </p:sp>
      <p:sp>
        <p:nvSpPr>
          <p:cNvPr id="11" name="AutoShape 11"/>
          <p:cNvSpPr/>
          <p:nvPr/>
        </p:nvSpPr>
        <p:spPr>
          <a:xfrm>
            <a:off x="6223000" y="4572000"/>
            <a:ext cx="5207000" cy="952500"/>
          </a:xfrm>
          <a:prstGeom prst="roundRect">
            <a:avLst>
              <a:gd name="adj" fmla="val 0"/>
            </a:avLst>
          </a:prstGeom>
          <a:solidFill>
            <a:srgbClr val="ECFDF5">
              <a:alpha val="75000"/>
            </a:srgbClr>
          </a:solidFill>
          <a:ln w="12700" cap="flat" cmpd="sng">
            <a:solidFill>
              <a:srgbClr val="6EE7B7">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350000" y="4673600"/>
            <a:ext cx="495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047857"/>
                </a:solidFill>
                <a:latin typeface="Noto Sans SC"/>
                <a:ea typeface="Noto Sans SC"/>
                <a:cs typeface="Noto Sans SC"/>
                <a:sym typeface="Noto Sans SC"/>
              </a:rPr>
              <a:t>💡 Autograd 的核心优势</a:t>
            </a:r>
            <a:endParaRPr lang="en-US" sz="1100"/>
          </a:p>
          <a:p>
            <a:pPr marL="0" indent="0" algn="l">
              <a:lnSpc>
                <a:spcPct val="108333"/>
              </a:lnSpc>
            </a:pPr>
            <a:r>
              <a:rPr lang="en-US" sz="1300" b="0" i="0" u="none" strike="noStrike">
                <a:solidFill>
                  <a:srgbClr val="374151"/>
                </a:solidFill>
                <a:latin typeface="Noto Sans SC"/>
                <a:ea typeface="Noto Sans SC"/>
                <a:cs typeface="Noto Sans SC"/>
                <a:sym typeface="Noto Sans SC"/>
              </a:rPr>
              <a:t>自动构建动态计算图，无需手动编写复杂的链式法则求导代码，极大降低了实现成本，让开发者专注于模型架构设计。</a:t>
            </a:r>
          </a:p>
        </p:txBody>
      </p:sp>
      <p:sp>
        <p:nvSpPr>
          <p:cNvPr id="13" name="AutoShape 13"/>
          <p:cNvSpPr/>
          <p:nvPr/>
        </p:nvSpPr>
        <p:spPr>
          <a:xfrm>
            <a:off x="762000" y="5778500"/>
            <a:ext cx="10668000" cy="12700"/>
          </a:xfrm>
          <a:prstGeom prst="roundRect">
            <a:avLst>
              <a:gd name="adj" fmla="val 0"/>
            </a:avLst>
          </a:prstGeom>
          <a:solidFill>
            <a:srgbClr val="D1D5DB">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762000" y="59690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6B7280"/>
                </a:solidFill>
                <a:latin typeface="Noto Sans SC"/>
                <a:ea typeface="Noto Sans SC"/>
                <a:cs typeface="Noto Sans SC"/>
                <a:sym typeface="Noto Sans SC"/>
              </a:rPr>
              <a:t>“自动求导机制是连接数学理论与工程实现的桥梁，是现代深度学习框架的核心基石。”</a:t>
            </a:r>
            <a:endParaRPr lang="en-US" sz="11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3. 构建神经网络：nn.Module</a:t>
            </a:r>
            <a:endParaRPr lang="en-US" sz="1100"/>
          </a:p>
        </p:txBody>
      </p:sp>
      <p:sp>
        <p:nvSpPr>
          <p:cNvPr id="4" name="AutoShape 4"/>
          <p:cNvSpPr/>
          <p:nvPr/>
        </p:nvSpPr>
        <p:spPr>
          <a:xfrm>
            <a:off x="762000" y="1651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PyTorch 的</a:t>
            </a:r>
            <a:r>
              <a:rPr lang="en-US" sz="1400" b="1" i="0" u="none" strike="noStrike">
                <a:solidFill>
                  <a:srgbClr val="4B5563"/>
                </a:solidFill>
                <a:latin typeface="Noto Sans SC"/>
                <a:ea typeface="Noto Sans SC"/>
                <a:cs typeface="Noto Sans SC"/>
                <a:sym typeface="Noto Sans SC"/>
              </a:rPr>
              <a:t>torch.nn</a:t>
            </a:r>
            <a:r>
              <a:rPr lang="en-US" sz="1400" b="0" i="0" u="none" strike="noStrike">
                <a:solidFill>
                  <a:srgbClr val="4B5563"/>
                </a:solidFill>
                <a:latin typeface="Noto Sans SC"/>
                <a:ea typeface="Noto Sans SC"/>
                <a:cs typeface="Noto Sans SC"/>
                <a:sym typeface="Noto Sans SC"/>
              </a:rPr>
              <a:t>模块提供了构建神经网络所需的各类基础组件。其中，</a:t>
            </a:r>
            <a:r>
              <a:rPr lang="en-US" sz="1400" b="1" i="0" u="none" strike="noStrike">
                <a:solidFill>
                  <a:srgbClr val="4B5563"/>
                </a:solidFill>
                <a:latin typeface="Noto Sans SC"/>
                <a:ea typeface="Noto Sans SC"/>
                <a:cs typeface="Noto Sans SC"/>
                <a:sym typeface="Noto Sans SC"/>
              </a:rPr>
              <a:t>nn.Module</a:t>
            </a:r>
            <a:r>
              <a:rPr lang="en-US" sz="1400" b="0" i="0" u="none" strike="noStrike">
                <a:solidFill>
                  <a:srgbClr val="4B5563"/>
                </a:solidFill>
                <a:latin typeface="Noto Sans SC"/>
                <a:ea typeface="Noto Sans SC"/>
                <a:cs typeface="Noto Sans SC"/>
                <a:sym typeface="Noto Sans SC"/>
              </a:rPr>
              <a:t>是所有神经网络模块的基类，通过继承它，我们能够以面向对象的方式灵活定义和管理自定义网络结构。</a:t>
            </a:r>
            <a:endParaRPr lang="en-US" sz="1100"/>
          </a:p>
        </p:txBody>
      </p:sp>
      <p:sp>
        <p:nvSpPr>
          <p:cNvPr id="5" name="AutoShape 5"/>
          <p:cNvSpPr/>
          <p:nvPr/>
        </p:nvSpPr>
        <p:spPr>
          <a:xfrm>
            <a:off x="762000" y="2984500"/>
            <a:ext cx="5207000" cy="3175000"/>
          </a:xfrm>
          <a:prstGeom prst="roundRect">
            <a:avLst>
              <a:gd name="adj" fmla="val 0"/>
            </a:avLst>
          </a:prstGeom>
          <a:solidFill>
            <a:srgbClr val="FFFFFF">
              <a:alpha val="5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3175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定义模型的三大步骤</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810000"/>
            <a:ext cx="304800" cy="304800"/>
          </a:xfrm>
          <a:prstGeom prst="rect">
            <a:avLst/>
          </a:prstGeom>
        </p:spPr>
      </p:pic>
      <p:sp>
        <p:nvSpPr>
          <p:cNvPr id="8" name="AutoShape 8"/>
          <p:cNvSpPr/>
          <p:nvPr/>
        </p:nvSpPr>
        <p:spPr>
          <a:xfrm>
            <a:off x="1460500" y="3810000"/>
            <a:ext cx="438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1F2937"/>
                </a:solidFill>
                <a:latin typeface="Noto Sans SC"/>
                <a:ea typeface="Noto Sans SC"/>
                <a:cs typeface="Noto Sans SC"/>
                <a:sym typeface="Noto Sans SC"/>
              </a:rPr>
              <a:t>继承基类：</a:t>
            </a:r>
            <a:r>
              <a:rPr lang="en-US" sz="1300" b="0" i="0" u="none" strike="noStrike">
                <a:solidFill>
                  <a:srgbClr val="4B5563"/>
                </a:solidFill>
                <a:latin typeface="Noto Sans SC"/>
                <a:ea typeface="Noto Sans SC"/>
                <a:cs typeface="Noto Sans SC"/>
                <a:sym typeface="Noto Sans SC"/>
              </a:rPr>
              <a:t>创建自定义网络类，显式继承自 nn.Module，这是构建模型的基础。</a:t>
            </a:r>
            <a:endParaRPr lang="en-US" sz="1100"/>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72000"/>
            <a:ext cx="304800" cy="304800"/>
          </a:xfrm>
          <a:prstGeom prst="rect">
            <a:avLst/>
          </a:prstGeom>
        </p:spPr>
      </p:pic>
      <p:sp>
        <p:nvSpPr>
          <p:cNvPr id="10" name="AutoShape 10"/>
          <p:cNvSpPr/>
          <p:nvPr/>
        </p:nvSpPr>
        <p:spPr>
          <a:xfrm>
            <a:off x="1460500" y="4572000"/>
            <a:ext cx="438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1F2937"/>
                </a:solidFill>
                <a:latin typeface="Noto Sans SC"/>
                <a:ea typeface="Noto Sans SC"/>
                <a:cs typeface="Noto Sans SC"/>
                <a:sym typeface="Noto Sans SC"/>
              </a:rPr>
              <a:t>定义层结构：</a:t>
            </a:r>
            <a:r>
              <a:rPr lang="en-US" sz="1300" b="0" i="0" u="none" strike="noStrike">
                <a:solidFill>
                  <a:srgbClr val="4B5563"/>
                </a:solidFill>
                <a:latin typeface="Noto Sans SC"/>
                <a:ea typeface="Noto Sans SC"/>
                <a:cs typeface="Noto Sans SC"/>
                <a:sym typeface="Noto Sans SC"/>
              </a:rPr>
              <a:t>在 __init__ 构造函数中，实例化卷积、全连接等网络层并作为属性。</a:t>
            </a:r>
            <a:endParaRPr lang="en-US" sz="1100"/>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334000"/>
            <a:ext cx="304800" cy="304800"/>
          </a:xfrm>
          <a:prstGeom prst="rect">
            <a:avLst/>
          </a:prstGeom>
        </p:spPr>
      </p:pic>
      <p:sp>
        <p:nvSpPr>
          <p:cNvPr id="12" name="AutoShape 12"/>
          <p:cNvSpPr/>
          <p:nvPr/>
        </p:nvSpPr>
        <p:spPr>
          <a:xfrm>
            <a:off x="1460500" y="5334000"/>
            <a:ext cx="438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1F2937"/>
                </a:solidFill>
                <a:latin typeface="Noto Sans SC"/>
                <a:ea typeface="Noto Sans SC"/>
                <a:cs typeface="Noto Sans SC"/>
                <a:sym typeface="Noto Sans SC"/>
              </a:rPr>
              <a:t>实现前向传播：</a:t>
            </a:r>
            <a:r>
              <a:rPr lang="en-US" sz="1300" b="0" i="0" u="none" strike="noStrike">
                <a:solidFill>
                  <a:srgbClr val="4B5563"/>
                </a:solidFill>
                <a:latin typeface="Noto Sans SC"/>
                <a:ea typeface="Noto Sans SC"/>
                <a:cs typeface="Noto Sans SC"/>
                <a:sym typeface="Noto Sans SC"/>
              </a:rPr>
              <a:t>在 forward 方法中定义数据流向，PyTorch 会自动实现反向传播。</a:t>
            </a:r>
            <a:endParaRPr lang="en-US" sz="1100"/>
          </a:p>
        </p:txBody>
      </p:sp>
      <p:sp>
        <p:nvSpPr>
          <p:cNvPr id="13" name="AutoShape 13"/>
          <p:cNvSpPr/>
          <p:nvPr/>
        </p:nvSpPr>
        <p:spPr>
          <a:xfrm>
            <a:off x="6223000" y="2984500"/>
            <a:ext cx="5207000" cy="3175000"/>
          </a:xfrm>
          <a:prstGeom prst="roundRect">
            <a:avLst>
              <a:gd name="adj" fmla="val 0"/>
            </a:avLst>
          </a:prstGeom>
          <a:solidFill>
            <a:srgbClr val="FFFFFF">
              <a:alpha val="5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477000" y="3175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常用核心组件</a:t>
            </a:r>
            <a:endParaRPr lang="en-US" sz="1100"/>
          </a:p>
        </p:txBody>
      </p:sp>
      <p:sp>
        <p:nvSpPr>
          <p:cNvPr id="15" name="AutoShape 15"/>
          <p:cNvSpPr/>
          <p:nvPr/>
        </p:nvSpPr>
        <p:spPr>
          <a:xfrm>
            <a:off x="6477000" y="3746500"/>
            <a:ext cx="2413000" cy="1079500"/>
          </a:xfrm>
          <a:prstGeom prst="roundRect">
            <a:avLst>
              <a:gd name="adj" fmla="val 0"/>
            </a:avLst>
          </a:prstGeom>
          <a:solidFill>
            <a:srgbClr val="F3F4F6">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604000" y="3873500"/>
            <a:ext cx="222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a:ea typeface="Noto Sans SC"/>
                <a:cs typeface="Noto Sans SC"/>
                <a:sym typeface="Noto Sans SC"/>
              </a:rPr>
              <a:t>nn.Linear</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全连接层，实现特征的线性变换与维度映射。</a:t>
            </a:r>
            <a:endParaRPr lang="en-US" sz="1100"/>
          </a:p>
        </p:txBody>
      </p:sp>
      <p:sp>
        <p:nvSpPr>
          <p:cNvPr id="17" name="AutoShape 17"/>
          <p:cNvSpPr/>
          <p:nvPr/>
        </p:nvSpPr>
        <p:spPr>
          <a:xfrm>
            <a:off x="8890000" y="3746500"/>
            <a:ext cx="2413000" cy="1079500"/>
          </a:xfrm>
          <a:prstGeom prst="roundRect">
            <a:avLst>
              <a:gd name="adj" fmla="val 0"/>
            </a:avLst>
          </a:prstGeom>
          <a:solidFill>
            <a:srgbClr val="F3F4F6">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017000" y="3873500"/>
            <a:ext cx="222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a:ea typeface="Noto Sans SC"/>
                <a:cs typeface="Noto Sans SC"/>
                <a:sym typeface="Noto Sans SC"/>
              </a:rPr>
              <a:t>nn.Conv2d</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二维卷积层，用于提取图像的局部特征与纹理。</a:t>
            </a:r>
            <a:endParaRPr lang="en-US" sz="1100"/>
          </a:p>
        </p:txBody>
      </p:sp>
      <p:sp>
        <p:nvSpPr>
          <p:cNvPr id="19" name="AutoShape 19"/>
          <p:cNvSpPr/>
          <p:nvPr/>
        </p:nvSpPr>
        <p:spPr>
          <a:xfrm>
            <a:off x="6477000" y="4953000"/>
            <a:ext cx="2413000" cy="1079500"/>
          </a:xfrm>
          <a:prstGeom prst="roundRect">
            <a:avLst>
              <a:gd name="adj" fmla="val 0"/>
            </a:avLst>
          </a:prstGeom>
          <a:solidFill>
            <a:srgbClr val="F3F4F6">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604000" y="5080000"/>
            <a:ext cx="222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a:ea typeface="Noto Sans SC"/>
                <a:cs typeface="Noto Sans SC"/>
                <a:sym typeface="Noto Sans SC"/>
              </a:rPr>
              <a:t>激活函数</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ReLU / Sigmoid 等，为网络引入非线性表达能力。</a:t>
            </a:r>
            <a:endParaRPr lang="en-US" sz="1100"/>
          </a:p>
        </p:txBody>
      </p:sp>
      <p:sp>
        <p:nvSpPr>
          <p:cNvPr id="21" name="AutoShape 21"/>
          <p:cNvSpPr/>
          <p:nvPr/>
        </p:nvSpPr>
        <p:spPr>
          <a:xfrm>
            <a:off x="8890000" y="4953000"/>
            <a:ext cx="2413000" cy="1079500"/>
          </a:xfrm>
          <a:prstGeom prst="roundRect">
            <a:avLst>
              <a:gd name="adj" fmla="val 0"/>
            </a:avLst>
          </a:prstGeom>
          <a:solidFill>
            <a:srgbClr val="F3F4F6">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9017000" y="5080000"/>
            <a:ext cx="222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1F2937"/>
                </a:solidFill>
                <a:latin typeface="Noto Sans SC"/>
                <a:ea typeface="Noto Sans SC"/>
                <a:cs typeface="Noto Sans SC"/>
                <a:sym typeface="Noto Sans SC"/>
              </a:rPr>
              <a:t>nn.MaxPool2d</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池化层，降低特征维度，保留关键特征并防止过拟合。</a:t>
            </a:r>
            <a:endParaRPr lang="en-US" sz="11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定义一个简单的模型</a:t>
            </a:r>
            <a:endParaRPr lang="en-US" sz="1100"/>
          </a:p>
        </p:txBody>
      </p:sp>
      <p:sp>
        <p:nvSpPr>
          <p:cNvPr id="4" name="AutoShape 4"/>
          <p:cNvSpPr/>
          <p:nvPr/>
        </p:nvSpPr>
        <p:spPr>
          <a:xfrm>
            <a:off x="762000" y="1841500"/>
            <a:ext cx="10668000" cy="3937000"/>
          </a:xfrm>
          <a:prstGeom prst="roundRect">
            <a:avLst>
              <a:gd name="adj" fmla="val 0"/>
            </a:avLst>
          </a:prstGeom>
          <a:solidFill>
            <a:srgbClr val="1F2937">
              <a:alpha val="88000"/>
            </a:srgbClr>
          </a:solidFill>
          <a:ln w="12700" cap="flat" cmpd="sng">
            <a:solidFill>
              <a:srgbClr val="4B5563">
                <a:alpha val="6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841500"/>
            <a:ext cx="10668000" cy="431800"/>
          </a:xfrm>
          <a:prstGeom prst="roundRect">
            <a:avLst>
              <a:gd name="adj" fmla="val 0"/>
            </a:avLst>
          </a:prstGeom>
          <a:solidFill>
            <a:srgbClr val="37415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90600" y="19812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244600" y="1981200"/>
            <a:ext cx="152400" cy="152400"/>
          </a:xfrm>
          <a:prstGeom prst="ellipse">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498600" y="1981200"/>
            <a:ext cx="152400" cy="152400"/>
          </a:xfrm>
          <a:prstGeom prst="ellipse">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905000" y="1930400"/>
            <a:ext cx="317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Source Code Pro"/>
                <a:ea typeface="Source Code Pro"/>
                <a:cs typeface="Source Code Pro"/>
                <a:sym typeface="Source Code Pro"/>
              </a:rPr>
              <a:t>simple_cnn.py — PyTorch Environment</a:t>
            </a:r>
            <a:endParaRPr lang="en-US" sz="1100"/>
          </a:p>
        </p:txBody>
      </p:sp>
      <p:sp>
        <p:nvSpPr>
          <p:cNvPr id="10" name="AutoShape 10"/>
          <p:cNvSpPr/>
          <p:nvPr/>
        </p:nvSpPr>
        <p:spPr>
          <a:xfrm>
            <a:off x="990600" y="2413000"/>
            <a:ext cx="10287000" cy="330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C678DD"/>
                </a:solidFill>
                <a:latin typeface="Source Code Pro"/>
                <a:ea typeface="Source Code Pro"/>
                <a:cs typeface="Source Code Pro"/>
                <a:sym typeface="Source Code Pro"/>
              </a:rPr>
              <a:t>import</a:t>
            </a:r>
            <a:r>
              <a:rPr lang="en-US" sz="1300" b="0" i="0" u="none" strike="noStrike">
                <a:solidFill>
                  <a:srgbClr val="E5E7EB"/>
                </a:solidFill>
                <a:latin typeface="Source Code Pro"/>
                <a:ea typeface="Source Code Pro"/>
                <a:cs typeface="Source Code Pro"/>
                <a:sym typeface="Source Code Pro"/>
              </a:rPr>
              <a:t>torch.nn</a:t>
            </a:r>
            <a:r>
              <a:rPr lang="en-US" sz="1300" b="0" i="0" u="none" strike="noStrike">
                <a:solidFill>
                  <a:srgbClr val="C678DD"/>
                </a:solidFill>
                <a:latin typeface="Source Code Pro"/>
                <a:ea typeface="Source Code Pro"/>
                <a:cs typeface="Source Code Pro"/>
                <a:sym typeface="Source Code Pro"/>
              </a:rPr>
              <a:t>as</a:t>
            </a:r>
            <a:r>
              <a:rPr lang="en-US" sz="1300" b="0" i="0" u="none" strike="noStrike">
                <a:solidFill>
                  <a:srgbClr val="E5E7EB"/>
                </a:solidFill>
                <a:latin typeface="Source Code Pro"/>
                <a:ea typeface="Source Code Pro"/>
                <a:cs typeface="Source Code Pro"/>
                <a:sym typeface="Source Code Pro"/>
              </a:rPr>
              <a:t>nn</a:t>
            </a:r>
            <a:r>
              <a:rPr lang="en-US" sz="1300" b="0" i="0" u="none" strike="noStrike">
                <a:solidFill>
                  <a:srgbClr val="6B7280"/>
                </a:solidFill>
                <a:latin typeface="Source Code Pro"/>
                <a:ea typeface="Source Code Pro"/>
                <a:cs typeface="Source Code Pro"/>
                <a:sym typeface="Source Code Pro"/>
              </a:rPr>
              <a:t># 导入神经网络模块</a:t>
            </a:r>
            <a:endParaRPr lang="en-US" sz="1100"/>
          </a:p>
          <a:p>
            <a:pPr marL="0" indent="0" algn="l">
              <a:lnSpc>
                <a:spcPct val="108333"/>
              </a:lnSpc>
            </a:pPr>
            <a:r>
              <a:rPr lang="en-US" sz="1300" b="0" i="0" u="none" strike="noStrike">
                <a:solidFill>
                  <a:srgbClr val="C678DD"/>
                </a:solidFill>
                <a:latin typeface="Source Code Pro"/>
                <a:ea typeface="Source Code Pro"/>
                <a:cs typeface="Source Code Pro"/>
                <a:sym typeface="Source Code Pro"/>
              </a:rPr>
              <a:t>class</a:t>
            </a:r>
            <a:r>
              <a:rPr lang="en-US" sz="1300" b="0" i="0" u="none" strike="noStrike">
                <a:solidFill>
                  <a:srgbClr val="E5C07B"/>
                </a:solidFill>
                <a:latin typeface="Source Code Pro"/>
                <a:ea typeface="Source Code Pro"/>
                <a:cs typeface="Source Code Pro"/>
                <a:sym typeface="Source Code Pro"/>
              </a:rPr>
              <a:t>Net</a:t>
            </a:r>
            <a:r>
              <a:rPr lang="en-US" sz="1300" b="0" i="0" u="none" strike="noStrike">
                <a:solidFill>
                  <a:srgbClr val="E5E7EB"/>
                </a:solidFill>
                <a:latin typeface="Source Code Pro"/>
                <a:ea typeface="Source Code Pro"/>
                <a:cs typeface="Source Code Pro"/>
                <a:sym typeface="Source Code Pro"/>
              </a:rPr>
              <a:t>(nn.Module):</a:t>
            </a:r>
          </a:p>
          <a:p>
            <a:pPr marL="0" indent="0" algn="l">
              <a:lnSpc>
                <a:spcPct val="108333"/>
              </a:lnSpc>
            </a:pPr>
            <a:r>
              <a:rPr lang="en-US" sz="1300" b="0" i="0" u="none" strike="noStrike">
                <a:solidFill>
                  <a:srgbClr val="C678DD"/>
                </a:solidFill>
                <a:latin typeface="Source Code Pro"/>
                <a:ea typeface="Source Code Pro"/>
                <a:cs typeface="Source Code Pro"/>
                <a:sym typeface="Source Code Pro"/>
              </a:rPr>
              <a:t>def</a:t>
            </a:r>
            <a:r>
              <a:rPr lang="en-US" sz="1300" b="0" i="0" u="none" strike="noStrike">
                <a:solidFill>
                  <a:srgbClr val="61AFEF"/>
                </a:solidFill>
                <a:latin typeface="Source Code Pro"/>
                <a:ea typeface="Source Code Pro"/>
                <a:cs typeface="Source Code Pro"/>
                <a:sym typeface="Source Code Pro"/>
              </a:rPr>
              <a:t>__init__</a:t>
            </a:r>
            <a:r>
              <a:rPr lang="en-US" sz="1300" b="0" i="0" u="none" strike="noStrike">
                <a:solidFill>
                  <a:srgbClr val="E5E7EB"/>
                </a:solidFill>
                <a:latin typeface="Source Code Pro"/>
                <a:ea typeface="Source Code Pro"/>
                <a:cs typeface="Source Code Pro"/>
                <a:sym typeface="Source Code Pro"/>
              </a:rPr>
              <a:t>(self):</a:t>
            </a:r>
          </a:p>
          <a:p>
            <a:pPr marL="0" indent="0" algn="l">
              <a:lnSpc>
                <a:spcPct val="108333"/>
              </a:lnSpc>
            </a:pPr>
            <a:r>
              <a:rPr lang="en-US" sz="1300" b="0" i="0" u="none" strike="noStrike">
                <a:solidFill>
                  <a:srgbClr val="C678DD"/>
                </a:solidFill>
                <a:latin typeface="Source Code Pro"/>
                <a:ea typeface="Source Code Pro"/>
                <a:cs typeface="Source Code Pro"/>
                <a:sym typeface="Source Code Pro"/>
              </a:rPr>
              <a:t>super</a:t>
            </a:r>
            <a:r>
              <a:rPr lang="en-US" sz="1300" b="0" i="0" u="none" strike="noStrike">
                <a:solidFill>
                  <a:srgbClr val="E5E7EB"/>
                </a:solidFill>
                <a:latin typeface="Source Code Pro"/>
                <a:ea typeface="Source Code Pro"/>
                <a:cs typeface="Source Code Pro"/>
                <a:sym typeface="Source Code Pro"/>
              </a:rPr>
              <a:t>(Net, self).__init__()</a:t>
            </a:r>
          </a:p>
          <a:p>
            <a:pPr marL="0" indent="0" algn="l">
              <a:lnSpc>
                <a:spcPct val="108333"/>
              </a:lnSpc>
            </a:pPr>
            <a:r>
              <a:rPr lang="en-US" sz="1300" b="0" i="0" u="none" strike="noStrike">
                <a:solidFill>
                  <a:srgbClr val="E5E7EB"/>
                </a:solidFill>
                <a:latin typeface="Source Code Pro"/>
                <a:ea typeface="Source Code Pro"/>
                <a:cs typeface="Source Code Pro"/>
                <a:sym typeface="Source Code Pro"/>
              </a:rPr>
              <a:t>self.conv1 = nn.Conv2d(1, 6, 3)</a:t>
            </a:r>
            <a:r>
              <a:rPr lang="en-US" sz="1300" b="0" i="0" u="none" strike="noStrike">
                <a:solidFill>
                  <a:srgbClr val="6B7280"/>
                </a:solidFill>
                <a:latin typeface="Source Code Pro"/>
                <a:ea typeface="Source Code Pro"/>
                <a:cs typeface="Source Code Pro"/>
                <a:sym typeface="Source Code Pro"/>
              </a:rPr>
              <a:t># 卷积层: 1输入通道 -&gt; 6输出通道, 3x3核</a:t>
            </a:r>
          </a:p>
          <a:p>
            <a:pPr marL="0" indent="0" algn="l">
              <a:lnSpc>
                <a:spcPct val="108333"/>
              </a:lnSpc>
            </a:pPr>
            <a:r>
              <a:rPr lang="en-US" sz="1300" b="0" i="0" u="none" strike="noStrike">
                <a:solidFill>
                  <a:srgbClr val="E5E7EB"/>
                </a:solidFill>
                <a:latin typeface="Source Code Pro"/>
                <a:ea typeface="Source Code Pro"/>
                <a:cs typeface="Source Code Pro"/>
                <a:sym typeface="Source Code Pro"/>
              </a:rPr>
              <a:t>self.fc1 = nn.Linear(16 * 6 * 6, 120)</a:t>
            </a:r>
            <a:r>
              <a:rPr lang="en-US" sz="1300" b="0" i="0" u="none" strike="noStrike">
                <a:solidFill>
                  <a:srgbClr val="6B7280"/>
                </a:solidFill>
                <a:latin typeface="Source Code Pro"/>
                <a:ea typeface="Source Code Pro"/>
                <a:cs typeface="Source Code Pro"/>
                <a:sym typeface="Source Code Pro"/>
              </a:rPr>
              <a:t># 全连接层: 特征展平后映射</a:t>
            </a:r>
          </a:p>
          <a:p>
            <a:pPr marL="0" indent="0" algn="l">
              <a:lnSpc>
                <a:spcPct val="108333"/>
              </a:lnSpc>
            </a:pPr>
            <a:r>
              <a:rPr lang="en-US" sz="1300" b="0" i="0" u="none" strike="noStrike">
                <a:solidFill>
                  <a:srgbClr val="C678DD"/>
                </a:solidFill>
                <a:latin typeface="Source Code Pro"/>
                <a:ea typeface="Source Code Pro"/>
                <a:cs typeface="Source Code Pro"/>
                <a:sym typeface="Source Code Pro"/>
              </a:rPr>
              <a:t>def</a:t>
            </a:r>
            <a:r>
              <a:rPr lang="en-US" sz="1300" b="0" i="0" u="none" strike="noStrike">
                <a:solidFill>
                  <a:srgbClr val="61AFEF"/>
                </a:solidFill>
                <a:latin typeface="Source Code Pro"/>
                <a:ea typeface="Source Code Pro"/>
                <a:cs typeface="Source Code Pro"/>
                <a:sym typeface="Source Code Pro"/>
              </a:rPr>
              <a:t>forward</a:t>
            </a:r>
            <a:r>
              <a:rPr lang="en-US" sz="1300" b="0" i="0" u="none" strike="noStrike">
                <a:solidFill>
                  <a:srgbClr val="E5E7EB"/>
                </a:solidFill>
                <a:latin typeface="Source Code Pro"/>
                <a:ea typeface="Source Code Pro"/>
                <a:cs typeface="Source Code Pro"/>
                <a:sym typeface="Source Code Pro"/>
              </a:rPr>
              <a:t>(self, x):</a:t>
            </a:r>
          </a:p>
          <a:p>
            <a:pPr marL="0" indent="0" algn="l">
              <a:lnSpc>
                <a:spcPct val="108333"/>
              </a:lnSpc>
            </a:pPr>
            <a:r>
              <a:rPr lang="en-US" sz="1300" b="0" i="0" u="none" strike="noStrike">
                <a:solidFill>
                  <a:srgbClr val="E5E7EB"/>
                </a:solidFill>
                <a:latin typeface="Source Code Pro"/>
                <a:ea typeface="Source Code Pro"/>
                <a:cs typeface="Source Code Pro"/>
                <a:sym typeface="Source Code Pro"/>
              </a:rPr>
              <a:t>x = nn.functional.relu(self.conv1(x))</a:t>
            </a:r>
            <a:r>
              <a:rPr lang="en-US" sz="1300" b="0" i="0" u="none" strike="noStrike">
                <a:solidFill>
                  <a:srgbClr val="6B7280"/>
                </a:solidFill>
                <a:latin typeface="Source Code Pro"/>
                <a:ea typeface="Source Code Pro"/>
                <a:cs typeface="Source Code Pro"/>
                <a:sym typeface="Source Code Pro"/>
              </a:rPr>
              <a:t># 卷积 -&gt; 激活函数</a:t>
            </a:r>
          </a:p>
          <a:p>
            <a:pPr marL="0" indent="0" algn="l">
              <a:lnSpc>
                <a:spcPct val="108333"/>
              </a:lnSpc>
            </a:pPr>
            <a:r>
              <a:rPr lang="en-US" sz="1300" b="0" i="0" u="none" strike="noStrike">
                <a:solidFill>
                  <a:srgbClr val="E5E7EB"/>
                </a:solidFill>
                <a:latin typeface="Source Code Pro"/>
                <a:ea typeface="Source Code Pro"/>
                <a:cs typeface="Source Code Pro"/>
                <a:sym typeface="Source Code Pro"/>
              </a:rPr>
              <a:t>x = x.view(-1, self.num_flat_features(x))</a:t>
            </a:r>
            <a:r>
              <a:rPr lang="en-US" sz="1300" b="0" i="0" u="none" strike="noStrike">
                <a:solidFill>
                  <a:srgbClr val="6B7280"/>
                </a:solidFill>
                <a:latin typeface="Source Code Pro"/>
                <a:ea typeface="Source Code Pro"/>
                <a:cs typeface="Source Code Pro"/>
                <a:sym typeface="Source Code Pro"/>
              </a:rPr>
              <a:t># 展平多维特征为一维向量</a:t>
            </a:r>
          </a:p>
          <a:p>
            <a:pPr marL="0" indent="0" algn="l">
              <a:lnSpc>
                <a:spcPct val="108333"/>
              </a:lnSpc>
            </a:pPr>
            <a:r>
              <a:rPr lang="en-US" sz="1300" b="0" i="0" u="none" strike="noStrike">
                <a:solidFill>
                  <a:srgbClr val="C678DD"/>
                </a:solidFill>
                <a:latin typeface="Source Code Pro"/>
                <a:ea typeface="Source Code Pro"/>
                <a:cs typeface="Source Code Pro"/>
                <a:sym typeface="Source Code Pro"/>
              </a:rPr>
              <a:t>return</a:t>
            </a:r>
            <a:r>
              <a:rPr lang="en-US" sz="1300" b="0" i="0" u="none" strike="noStrike">
                <a:solidFill>
                  <a:srgbClr val="E5E7EB"/>
                </a:solidFill>
                <a:latin typeface="Source Code Pro"/>
                <a:ea typeface="Source Code Pro"/>
                <a:cs typeface="Source Code Pro"/>
                <a:sym typeface="Source Code Pro"/>
              </a:rPr>
              <a:t>nn.functional.relu(self.fc1(x))</a:t>
            </a:r>
          </a:p>
        </p:txBody>
      </p:sp>
      <p:sp>
        <p:nvSpPr>
          <p:cNvPr id="11" name="AutoShape 11"/>
          <p:cNvSpPr/>
          <p:nvPr/>
        </p:nvSpPr>
        <p:spPr>
          <a:xfrm>
            <a:off x="762000" y="5969000"/>
            <a:ext cx="10668000" cy="508000"/>
          </a:xfrm>
          <a:prstGeom prst="roundRect">
            <a:avLst>
              <a:gd name="adj" fmla="val 0"/>
            </a:avLst>
          </a:prstGeom>
          <a:solidFill>
            <a:srgbClr val="F3F4F6">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89000" y="60452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a:t>
            </a:r>
            <a:r>
              <a:rPr lang="en-US" sz="1400" b="1" i="0" u="none" strike="noStrike">
                <a:solidFill>
                  <a:srgbClr val="374151"/>
                </a:solidFill>
                <a:latin typeface="Noto Sans SC"/>
                <a:ea typeface="Noto Sans SC"/>
                <a:cs typeface="Noto Sans SC"/>
                <a:sym typeface="Noto Sans SC"/>
              </a:rPr>
              <a:t>核心逻辑：</a:t>
            </a:r>
            <a:r>
              <a:rPr lang="en-US" sz="1400" b="0" i="0" u="none" strike="noStrike">
                <a:solidFill>
                  <a:srgbClr val="374151"/>
                </a:solidFill>
                <a:latin typeface="Noto Sans SC"/>
                <a:ea typeface="Noto Sans SC"/>
                <a:cs typeface="Noto Sans SC"/>
                <a:sym typeface="Noto Sans SC"/>
              </a:rPr>
              <a:t>通过</a:t>
            </a:r>
            <a:r>
              <a:rPr lang="en-US" sz="1400" b="0" i="0" u="none" strike="noStrike">
                <a:solidFill>
                  <a:srgbClr val="EF4444"/>
                </a:solidFill>
                <a:latin typeface="Noto Sans SC"/>
                <a:ea typeface="Noto Sans SC"/>
                <a:cs typeface="Noto Sans SC"/>
                <a:sym typeface="Noto Sans SC"/>
              </a:rPr>
              <a:t>nn.Module</a:t>
            </a:r>
            <a:r>
              <a:rPr lang="en-US" sz="1400" b="0" i="0" u="none" strike="noStrike">
                <a:solidFill>
                  <a:srgbClr val="374151"/>
                </a:solidFill>
                <a:latin typeface="Noto Sans SC"/>
                <a:ea typeface="Noto Sans SC"/>
                <a:cs typeface="Noto Sans SC"/>
                <a:sym typeface="Noto Sans SC"/>
              </a:rPr>
              <a:t>基类构建网络骨架，在</a:t>
            </a:r>
            <a:r>
              <a:rPr lang="en-US" sz="1400" b="0" i="0" u="none" strike="noStrike">
                <a:solidFill>
                  <a:srgbClr val="EF4444"/>
                </a:solidFill>
                <a:latin typeface="Noto Sans SC"/>
                <a:ea typeface="Noto Sans SC"/>
                <a:cs typeface="Noto Sans SC"/>
                <a:sym typeface="Noto Sans SC"/>
              </a:rPr>
              <a:t>__init__</a:t>
            </a:r>
            <a:r>
              <a:rPr lang="en-US" sz="1400" b="0" i="0" u="none" strike="noStrike">
                <a:solidFill>
                  <a:srgbClr val="374151"/>
                </a:solidFill>
                <a:latin typeface="Noto Sans SC"/>
                <a:ea typeface="Noto Sans SC"/>
                <a:cs typeface="Noto Sans SC"/>
                <a:sym typeface="Noto Sans SC"/>
              </a:rPr>
              <a:t>中定义可学习参数层，并重写</a:t>
            </a:r>
            <a:r>
              <a:rPr lang="en-US" sz="1400" b="0" i="0" u="none" strike="noStrike">
                <a:solidFill>
                  <a:srgbClr val="EF4444"/>
                </a:solidFill>
                <a:latin typeface="Noto Sans SC"/>
                <a:ea typeface="Noto Sans SC"/>
                <a:cs typeface="Noto Sans SC"/>
                <a:sym typeface="Noto Sans SC"/>
              </a:rPr>
              <a:t>forward</a:t>
            </a:r>
            <a:r>
              <a:rPr lang="en-US" sz="1400" b="0" i="0" u="none" strike="noStrike">
                <a:solidFill>
                  <a:srgbClr val="374151"/>
                </a:solidFill>
                <a:latin typeface="Noto Sans SC"/>
                <a:ea typeface="Noto Sans SC"/>
                <a:cs typeface="Noto Sans SC"/>
                <a:sym typeface="Noto Sans SC"/>
              </a:rPr>
              <a:t>方法定义数据流向。</a:t>
            </a:r>
            <a:endParaRPr lang="en-US" sz="11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神经网络结构示意图</a:t>
            </a:r>
            <a:endParaRPr lang="en-US" sz="1100"/>
          </a:p>
        </p:txBody>
      </p:sp>
      <p:pic>
        <p:nvPicPr>
          <p:cNvPr id="4" name="Picture 4"/>
          <p:cNvPicPr>
            <a:picLocks noChangeAspect="1"/>
          </p:cNvPicPr>
          <p:nvPr/>
        </p:nvPicPr>
        <p:blipFill>
          <a:blip r:embed="rId4"/>
          <a:srcRect l="2500" r="2499"/>
          <a:stretch>
            <a:fillRect/>
          </a:stretch>
        </p:blipFill>
        <p:spPr>
          <a:xfrm>
            <a:off x="762000" y="2032000"/>
            <a:ext cx="4826000" cy="2857500"/>
          </a:xfrm>
          <a:prstGeom prst="rect">
            <a:avLst/>
          </a:prstGeom>
          <a:noFill/>
          <a:ln w="12700" cap="flat" cmpd="sng">
            <a:solidFill>
              <a:srgbClr val="E5E7EB">
                <a:alpha val="100000"/>
              </a:srgbClr>
            </a:solidFill>
            <a:prstDash val="solid"/>
            <a:round/>
          </a:ln>
          <a:effectLst>
            <a:outerShdw blurRad="203200" dist="76200" dir="2700000" algn="tl" rotWithShape="0">
              <a:srgbClr val="1F2937">
                <a:alpha val="8000"/>
              </a:srgbClr>
            </a:outerShdw>
          </a:effectLst>
        </p:spPr>
      </p:pic>
      <p:sp>
        <p:nvSpPr>
          <p:cNvPr id="5" name="AutoShape 5"/>
          <p:cNvSpPr/>
          <p:nvPr/>
        </p:nvSpPr>
        <p:spPr>
          <a:xfrm>
            <a:off x="762000" y="5080000"/>
            <a:ext cx="4826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300" b="0" i="0" u="none" strike="noStrike">
                <a:solidFill>
                  <a:srgbClr val="6B7280"/>
                </a:solidFill>
                <a:latin typeface="Noto Sans SC"/>
                <a:ea typeface="Noto Sans SC"/>
                <a:cs typeface="Noto Sans SC"/>
                <a:sym typeface="Noto Sans SC"/>
              </a:rPr>
              <a:t>图示：典型的前馈神经网络层级结构，包含输入、隐藏与输出层的全连接机制。</a:t>
            </a:r>
            <a:endParaRPr lang="en-US" sz="1100"/>
          </a:p>
        </p:txBody>
      </p:sp>
      <p:sp>
        <p:nvSpPr>
          <p:cNvPr id="6" name="AutoShape 6"/>
          <p:cNvSpPr/>
          <p:nvPr/>
        </p:nvSpPr>
        <p:spPr>
          <a:xfrm>
            <a:off x="6223000" y="1841500"/>
            <a:ext cx="533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神经网络是一种模仿生物神经结构的计算模型，其核心在于层级间的信号传递与非线性变换。数据流经各层时，通过权重调整与激活函数的作用，将原始特征转化为高维抽象特征，从而实现对复杂模式的识别与预测。</a:t>
            </a:r>
            <a:endParaRPr lang="en-US" sz="1100"/>
          </a:p>
        </p:txBody>
      </p:sp>
      <p:sp>
        <p:nvSpPr>
          <p:cNvPr id="7" name="AutoShape 7"/>
          <p:cNvSpPr/>
          <p:nvPr/>
        </p:nvSpPr>
        <p:spPr>
          <a:xfrm>
            <a:off x="6223000" y="2921000"/>
            <a:ext cx="5334000" cy="965200"/>
          </a:xfrm>
          <a:prstGeom prst="roundRect">
            <a:avLst>
              <a:gd name="adj" fmla="val 0"/>
            </a:avLst>
          </a:prstGeom>
          <a:solidFill>
            <a:srgbClr val="3B82F6">
              <a:alpha val="7000"/>
            </a:srgbClr>
          </a:solidFill>
          <a:ln w="12700" cap="flat" cmpd="sng">
            <a:solidFill>
              <a:srgbClr val="3B82F6">
                <a:alpha val="15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3098800"/>
            <a:ext cx="304800" cy="304800"/>
          </a:xfrm>
          <a:prstGeom prst="rect">
            <a:avLst/>
          </a:prstGeom>
        </p:spPr>
      </p:pic>
      <p:sp>
        <p:nvSpPr>
          <p:cNvPr id="9" name="AutoShape 9"/>
          <p:cNvSpPr/>
          <p:nvPr/>
        </p:nvSpPr>
        <p:spPr>
          <a:xfrm>
            <a:off x="6832600" y="2984500"/>
            <a:ext cx="4635500" cy="838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输入层：数据的感知入口</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直接接收外部原始数据，是网络的“眼睛”和“耳朵”。神经元数量由输入数据的维度决定，负责将现实世界的信息转化为网络可处理的数字信号。</a:t>
            </a:r>
          </a:p>
        </p:txBody>
      </p:sp>
      <p:sp>
        <p:nvSpPr>
          <p:cNvPr id="10" name="AutoShape 10"/>
          <p:cNvSpPr/>
          <p:nvPr/>
        </p:nvSpPr>
        <p:spPr>
          <a:xfrm>
            <a:off x="6223000" y="3975100"/>
            <a:ext cx="5334000" cy="965200"/>
          </a:xfrm>
          <a:prstGeom prst="roundRect">
            <a:avLst>
              <a:gd name="adj" fmla="val 0"/>
            </a:avLst>
          </a:prstGeom>
          <a:solidFill>
            <a:srgbClr val="8B5CF6">
              <a:alpha val="7000"/>
            </a:srgbClr>
          </a:solidFill>
          <a:ln w="12700" cap="flat" cmpd="sng">
            <a:solidFill>
              <a:srgbClr val="8B5CF6">
                <a:alpha val="15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4152900"/>
            <a:ext cx="304800" cy="304800"/>
          </a:xfrm>
          <a:prstGeom prst="rect">
            <a:avLst/>
          </a:prstGeom>
        </p:spPr>
      </p:pic>
      <p:sp>
        <p:nvSpPr>
          <p:cNvPr id="12" name="AutoShape 12"/>
          <p:cNvSpPr/>
          <p:nvPr/>
        </p:nvSpPr>
        <p:spPr>
          <a:xfrm>
            <a:off x="6832600" y="4038600"/>
            <a:ext cx="4635500" cy="838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隐藏层：特征的深度加工</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网络的核心计算层，负责对输入特征进行逐层抽象与非线性变换。层数和神经元数量决定了模型的容量，是神经网络能够拟合复杂函数的关键所在。</a:t>
            </a:r>
          </a:p>
        </p:txBody>
      </p:sp>
      <p:sp>
        <p:nvSpPr>
          <p:cNvPr id="13" name="AutoShape 13"/>
          <p:cNvSpPr/>
          <p:nvPr/>
        </p:nvSpPr>
        <p:spPr>
          <a:xfrm>
            <a:off x="6223000" y="5029200"/>
            <a:ext cx="5334000" cy="965200"/>
          </a:xfrm>
          <a:prstGeom prst="roundRect">
            <a:avLst>
              <a:gd name="adj" fmla="val 0"/>
            </a:avLst>
          </a:prstGeom>
          <a:solidFill>
            <a:srgbClr val="10B981">
              <a:alpha val="7000"/>
            </a:srgbClr>
          </a:solidFill>
          <a:ln w="12700" cap="flat" cmpd="sng">
            <a:solidFill>
              <a:srgbClr val="10B981">
                <a:alpha val="15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13500" y="5207000"/>
            <a:ext cx="304800" cy="304800"/>
          </a:xfrm>
          <a:prstGeom prst="rect">
            <a:avLst/>
          </a:prstGeom>
        </p:spPr>
      </p:pic>
      <p:sp>
        <p:nvSpPr>
          <p:cNvPr id="15" name="AutoShape 15"/>
          <p:cNvSpPr/>
          <p:nvPr/>
        </p:nvSpPr>
        <p:spPr>
          <a:xfrm>
            <a:off x="6832600" y="5092700"/>
            <a:ext cx="4635500" cy="838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输出层：决策的最终出口</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根据具体任务（分类或回归）输出最终结果。例如在分类问题中，常使用Softmax函数输出各类别的概率分布；在回归问题中，则直接输出连续的预测数值。</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3.2 模型训练流程</a:t>
            </a:r>
            <a:endParaRPr lang="en-US" sz="1100"/>
          </a:p>
        </p:txBody>
      </p:sp>
      <p:sp>
        <p:nvSpPr>
          <p:cNvPr id="4" name="AutoShape 4"/>
          <p:cNvSpPr/>
          <p:nvPr/>
        </p:nvSpPr>
        <p:spPr>
          <a:xfrm>
            <a:off x="762000" y="1778000"/>
            <a:ext cx="3378200" cy="40640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406400" cy="406400"/>
          </a:xfrm>
          <a:prstGeom prst="rect">
            <a:avLst/>
          </a:prstGeom>
        </p:spPr>
      </p:pic>
      <p:sp>
        <p:nvSpPr>
          <p:cNvPr id="6" name="AutoShape 6"/>
          <p:cNvSpPr/>
          <p:nvPr/>
        </p:nvSpPr>
        <p:spPr>
          <a:xfrm>
            <a:off x="1524000" y="2057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定义损失函数</a:t>
            </a:r>
            <a:endParaRPr lang="en-US" sz="1100"/>
          </a:p>
        </p:txBody>
      </p:sp>
      <p:sp>
        <p:nvSpPr>
          <p:cNvPr id="7" name="AutoShape 7"/>
          <p:cNvSpPr/>
          <p:nvPr/>
        </p:nvSpPr>
        <p:spPr>
          <a:xfrm>
            <a:off x="1016000" y="2603500"/>
            <a:ext cx="2870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1" u="none" strike="noStrike">
                <a:solidFill>
                  <a:srgbClr val="6B7280"/>
                </a:solidFill>
                <a:latin typeface="Noto Sans SC"/>
                <a:ea typeface="Noto Sans SC"/>
                <a:cs typeface="Noto Sans SC"/>
                <a:sym typeface="Noto Sans SC"/>
              </a:rPr>
              <a:t>Loss Function</a:t>
            </a:r>
            <a:endParaRPr lang="en-US" sz="1100"/>
          </a:p>
        </p:txBody>
      </p:sp>
      <p:cxnSp>
        <p:nvCxnSpPr>
          <p:cNvPr id="8" name="Connector 8"/>
          <p:cNvCxnSpPr/>
          <p:nvPr/>
        </p:nvCxnSpPr>
        <p:spPr>
          <a:xfrm rot="-15211">
            <a:off x="1016014" y="30416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9" name="AutoShape 9"/>
          <p:cNvSpPr/>
          <p:nvPr/>
        </p:nvSpPr>
        <p:spPr>
          <a:xfrm>
            <a:off x="1016000" y="3238500"/>
            <a:ext cx="28702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量化模型预测输出与真实标签之间的差异，是引导模型优化方向的“目标标尺”，直接决定了模型的优化目标。</a:t>
            </a:r>
            <a:endParaRPr lang="en-US" sz="1100"/>
          </a:p>
          <a:p>
            <a:pPr marL="0" indent="0" algn="l">
              <a:lnSpc>
                <a:spcPct val="116666"/>
              </a:lnSpc>
              <a:spcBef>
                <a:spcPts val="1200"/>
              </a:spcBef>
            </a:pPr>
            <a:r>
              <a:rPr lang="en-US" sz="1300" b="1" i="0" u="none" strike="noStrike">
                <a:solidFill>
                  <a:srgbClr val="1F2937"/>
                </a:solidFill>
                <a:latin typeface="Noto Sans SC"/>
                <a:ea typeface="Noto Sans SC"/>
                <a:cs typeface="Noto Sans SC"/>
                <a:sym typeface="Noto Sans SC"/>
              </a:rPr>
              <a:t>典型应用：</a:t>
            </a:r>
            <a:br>
              <a:rPr lang="en-US" sz="13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 回归任务：nn.MSELoss (均方误差)</a:t>
            </a:r>
            <a:br>
              <a:rPr lang="en-US" sz="13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 分类任务：nn.CrossEntropyLoss (交叉熵)</a:t>
            </a:r>
          </a:p>
        </p:txBody>
      </p:sp>
      <p:sp>
        <p:nvSpPr>
          <p:cNvPr id="10" name="AutoShape 10"/>
          <p:cNvSpPr/>
          <p:nvPr/>
        </p:nvSpPr>
        <p:spPr>
          <a:xfrm>
            <a:off x="4394200" y="1778000"/>
            <a:ext cx="3378200" cy="40640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2032000"/>
            <a:ext cx="406400" cy="406400"/>
          </a:xfrm>
          <a:prstGeom prst="rect">
            <a:avLst/>
          </a:prstGeom>
        </p:spPr>
      </p:pic>
      <p:sp>
        <p:nvSpPr>
          <p:cNvPr id="12" name="AutoShape 12"/>
          <p:cNvSpPr/>
          <p:nvPr/>
        </p:nvSpPr>
        <p:spPr>
          <a:xfrm>
            <a:off x="5156200" y="2057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定义优化器</a:t>
            </a:r>
            <a:endParaRPr lang="en-US" sz="1100"/>
          </a:p>
        </p:txBody>
      </p:sp>
      <p:sp>
        <p:nvSpPr>
          <p:cNvPr id="13" name="AutoShape 13"/>
          <p:cNvSpPr/>
          <p:nvPr/>
        </p:nvSpPr>
        <p:spPr>
          <a:xfrm>
            <a:off x="4648200" y="2603500"/>
            <a:ext cx="2870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1" u="none" strike="noStrike">
                <a:solidFill>
                  <a:srgbClr val="6B7280"/>
                </a:solidFill>
                <a:latin typeface="Noto Sans SC"/>
                <a:ea typeface="Noto Sans SC"/>
                <a:cs typeface="Noto Sans SC"/>
                <a:sym typeface="Noto Sans SC"/>
              </a:rPr>
              <a:t>Optimizer</a:t>
            </a:r>
            <a:endParaRPr lang="en-US" sz="1100"/>
          </a:p>
        </p:txBody>
      </p:sp>
      <p:cxnSp>
        <p:nvCxnSpPr>
          <p:cNvPr id="14" name="Connector 14"/>
          <p:cNvCxnSpPr/>
          <p:nvPr/>
        </p:nvCxnSpPr>
        <p:spPr>
          <a:xfrm rot="-15211">
            <a:off x="4648214" y="30416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5" name="AutoShape 15"/>
          <p:cNvSpPr/>
          <p:nvPr/>
        </p:nvSpPr>
        <p:spPr>
          <a:xfrm>
            <a:off x="4648200" y="3238500"/>
            <a:ext cx="28702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模型学习的“动力引擎”，依据反向传播计算出的梯度，按照特定的优化策略（如动量、学习率）来更新模型的权重和偏置参数。</a:t>
            </a:r>
            <a:endParaRPr lang="en-US" sz="1100"/>
          </a:p>
          <a:p>
            <a:pPr marL="0" indent="0" algn="l">
              <a:lnSpc>
                <a:spcPct val="116666"/>
              </a:lnSpc>
              <a:spcBef>
                <a:spcPts val="1200"/>
              </a:spcBef>
            </a:pPr>
            <a:r>
              <a:rPr lang="en-US" sz="1300" b="1" i="0" u="none" strike="noStrike">
                <a:solidFill>
                  <a:srgbClr val="1F2937"/>
                </a:solidFill>
                <a:latin typeface="Noto Sans SC"/>
                <a:ea typeface="Noto Sans SC"/>
                <a:cs typeface="Noto Sans SC"/>
                <a:sym typeface="Noto Sans SC"/>
              </a:rPr>
              <a:t>主流选择：</a:t>
            </a:r>
            <a:br>
              <a:rPr lang="en-US" sz="13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 基础优化：torch.optim.SGD (随机梯度下降)</a:t>
            </a:r>
            <a:br>
              <a:rPr lang="en-US" sz="13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 自适应：torch.optim.Adam (工业界常用首选)</a:t>
            </a:r>
          </a:p>
        </p:txBody>
      </p:sp>
      <p:sp>
        <p:nvSpPr>
          <p:cNvPr id="16" name="AutoShape 16"/>
          <p:cNvSpPr/>
          <p:nvPr/>
        </p:nvSpPr>
        <p:spPr>
          <a:xfrm>
            <a:off x="8026400" y="1778000"/>
            <a:ext cx="3378200" cy="40640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2032000"/>
            <a:ext cx="406400" cy="406400"/>
          </a:xfrm>
          <a:prstGeom prst="rect">
            <a:avLst/>
          </a:prstGeom>
        </p:spPr>
      </p:pic>
      <p:sp>
        <p:nvSpPr>
          <p:cNvPr id="18" name="AutoShape 18"/>
          <p:cNvSpPr/>
          <p:nvPr/>
        </p:nvSpPr>
        <p:spPr>
          <a:xfrm>
            <a:off x="8788400" y="2057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03 核心训练循环</a:t>
            </a:r>
            <a:endParaRPr lang="en-US" sz="1100"/>
          </a:p>
        </p:txBody>
      </p:sp>
      <p:sp>
        <p:nvSpPr>
          <p:cNvPr id="19" name="AutoShape 19"/>
          <p:cNvSpPr/>
          <p:nvPr/>
        </p:nvSpPr>
        <p:spPr>
          <a:xfrm>
            <a:off x="8280400" y="2603500"/>
            <a:ext cx="2870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1" u="none" strike="noStrike">
                <a:solidFill>
                  <a:srgbClr val="6B7280"/>
                </a:solidFill>
                <a:latin typeface="Noto Sans SC"/>
                <a:ea typeface="Noto Sans SC"/>
                <a:cs typeface="Noto Sans SC"/>
                <a:sym typeface="Noto Sans SC"/>
              </a:rPr>
              <a:t>Training Loop (Epoch/Iteration)</a:t>
            </a:r>
            <a:endParaRPr lang="en-US" sz="1100"/>
          </a:p>
        </p:txBody>
      </p:sp>
      <p:cxnSp>
        <p:nvCxnSpPr>
          <p:cNvPr id="20" name="Connector 20"/>
          <p:cNvCxnSpPr/>
          <p:nvPr/>
        </p:nvCxnSpPr>
        <p:spPr>
          <a:xfrm rot="-15211">
            <a:off x="8280414" y="3041650"/>
            <a:ext cx="28702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21" name="AutoShape 21"/>
          <p:cNvSpPr/>
          <p:nvPr/>
        </p:nvSpPr>
        <p:spPr>
          <a:xfrm>
            <a:off x="8280400" y="3238500"/>
            <a:ext cx="28702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a:ea typeface="Noto Sans SC"/>
                <a:cs typeface="Noto Sans SC"/>
                <a:sym typeface="Noto Sans SC"/>
              </a:rPr>
              <a:t>1.</a:t>
            </a:r>
            <a:r>
              <a:rPr lang="en-US" sz="1300" b="1" i="0" u="none" strike="noStrike">
                <a:solidFill>
                  <a:srgbClr val="374151"/>
                </a:solidFill>
                <a:latin typeface="Noto Sans SC"/>
                <a:ea typeface="Noto Sans SC"/>
                <a:cs typeface="Noto Sans SC"/>
                <a:sym typeface="Noto Sans SC"/>
              </a:rPr>
              <a:t>前向传播：</a:t>
            </a:r>
            <a:r>
              <a:rPr lang="en-US" sz="1300" b="0" i="0" u="none" strike="noStrike">
                <a:solidFill>
                  <a:srgbClr val="374151"/>
                </a:solidFill>
                <a:latin typeface="Noto Sans SC"/>
                <a:ea typeface="Noto Sans SC"/>
                <a:cs typeface="Noto Sans SC"/>
                <a:sym typeface="Noto Sans SC"/>
              </a:rPr>
              <a:t>输入数据，模型生成预测值</a:t>
            </a:r>
            <a:br>
              <a:rPr lang="en-US" sz="1300" b="0" i="0" u="none" strike="noStrike">
                <a:solidFill>
                  <a:srgbClr val="374151"/>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2.</a:t>
            </a:r>
            <a:r>
              <a:rPr lang="en-US" sz="1300" b="1" i="0" u="none" strike="noStrike">
                <a:solidFill>
                  <a:srgbClr val="374151"/>
                </a:solidFill>
                <a:latin typeface="Noto Sans SC"/>
                <a:ea typeface="Noto Sans SC"/>
                <a:cs typeface="Noto Sans SC"/>
                <a:sym typeface="Noto Sans SC"/>
              </a:rPr>
              <a:t>计算损失：</a:t>
            </a:r>
            <a:r>
              <a:rPr lang="en-US" sz="1300" b="0" i="0" u="none" strike="noStrike">
                <a:solidFill>
                  <a:srgbClr val="374151"/>
                </a:solidFill>
                <a:latin typeface="Noto Sans SC"/>
                <a:ea typeface="Noto Sans SC"/>
                <a:cs typeface="Noto Sans SC"/>
                <a:sym typeface="Noto Sans SC"/>
              </a:rPr>
              <a:t>代入损失函数，评估误差值</a:t>
            </a:r>
            <a:br>
              <a:rPr lang="en-US" sz="1300" b="0" i="0" u="none" strike="noStrike">
                <a:solidFill>
                  <a:srgbClr val="374151"/>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3.</a:t>
            </a:r>
            <a:r>
              <a:rPr lang="en-US" sz="1300" b="1" i="0" u="none" strike="noStrike">
                <a:solidFill>
                  <a:srgbClr val="374151"/>
                </a:solidFill>
                <a:latin typeface="Noto Sans SC"/>
                <a:ea typeface="Noto Sans SC"/>
                <a:cs typeface="Noto Sans SC"/>
                <a:sym typeface="Noto Sans SC"/>
              </a:rPr>
              <a:t>反向传播：</a:t>
            </a:r>
            <a:r>
              <a:rPr lang="en-US" sz="1300" b="0" i="0" u="none" strike="noStrike">
                <a:solidFill>
                  <a:srgbClr val="374151"/>
                </a:solidFill>
                <a:latin typeface="Noto Sans SC"/>
                <a:ea typeface="Noto Sans SC"/>
                <a:cs typeface="Noto Sans SC"/>
                <a:sym typeface="Noto Sans SC"/>
              </a:rPr>
              <a:t>loss.backward() 自动计算梯度</a:t>
            </a:r>
            <a:br>
              <a:rPr lang="en-US" sz="1300" b="0" i="0" u="none" strike="noStrike">
                <a:solidFill>
                  <a:srgbClr val="374151"/>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4.</a:t>
            </a:r>
            <a:r>
              <a:rPr lang="en-US" sz="1300" b="1" i="0" u="none" strike="noStrike">
                <a:solidFill>
                  <a:srgbClr val="374151"/>
                </a:solidFill>
                <a:latin typeface="Noto Sans SC"/>
                <a:ea typeface="Noto Sans SC"/>
                <a:cs typeface="Noto Sans SC"/>
                <a:sym typeface="Noto Sans SC"/>
              </a:rPr>
              <a:t>参数更新：</a:t>
            </a:r>
            <a:r>
              <a:rPr lang="en-US" sz="1300" b="0" i="0" u="none" strike="noStrike">
                <a:solidFill>
                  <a:srgbClr val="374151"/>
                </a:solidFill>
                <a:latin typeface="Noto Sans SC"/>
                <a:ea typeface="Noto Sans SC"/>
                <a:cs typeface="Noto Sans SC"/>
                <a:sym typeface="Noto Sans SC"/>
              </a:rPr>
              <a:t>optimizer.step() 调整模型参数</a:t>
            </a:r>
            <a:br>
              <a:rPr lang="en-US" sz="1300" b="0" i="0" u="none" strike="noStrike">
                <a:solidFill>
                  <a:srgbClr val="374151"/>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5.</a:t>
            </a:r>
            <a:r>
              <a:rPr lang="en-US" sz="1300" b="1" i="0" u="none" strike="noStrike">
                <a:solidFill>
                  <a:srgbClr val="374151"/>
                </a:solidFill>
                <a:latin typeface="Noto Sans SC"/>
                <a:ea typeface="Noto Sans SC"/>
                <a:cs typeface="Noto Sans SC"/>
                <a:sym typeface="Noto Sans SC"/>
              </a:rPr>
              <a:t>梯度清零：</a:t>
            </a:r>
            <a:r>
              <a:rPr lang="en-US" sz="1300" b="0" i="0" u="none" strike="noStrike">
                <a:solidFill>
                  <a:srgbClr val="374151"/>
                </a:solidFill>
                <a:latin typeface="Noto Sans SC"/>
                <a:ea typeface="Noto Sans SC"/>
                <a:cs typeface="Noto Sans SC"/>
                <a:sym typeface="Noto Sans SC"/>
              </a:rPr>
              <a:t>zero_grad() 重置梯度缓存</a:t>
            </a:r>
            <a:endParaRPr lang="en-US" sz="11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训练流程示例</a:t>
            </a:r>
            <a:endParaRPr lang="en-US" sz="1100"/>
          </a:p>
        </p:txBody>
      </p:sp>
      <p:sp>
        <p:nvSpPr>
          <p:cNvPr id="4" name="AutoShape 4"/>
          <p:cNvSpPr/>
          <p:nvPr/>
        </p:nvSpPr>
        <p:spPr>
          <a:xfrm>
            <a:off x="762000" y="1778000"/>
            <a:ext cx="10668000" cy="3683000"/>
          </a:xfrm>
          <a:prstGeom prst="roundRect">
            <a:avLst>
              <a:gd name="adj" fmla="val 0"/>
            </a:avLst>
          </a:prstGeom>
          <a:solidFill>
            <a:srgbClr val="1F2937">
              <a:alpha val="90000"/>
            </a:srgbClr>
          </a:solidFill>
          <a:ln cap="flat" cmpd="sng">
            <a:solidFill>
              <a:srgbClr val="0E141E">
                <a:alpha val="9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10668000" cy="457200"/>
          </a:xfrm>
          <a:prstGeom prst="roundRect">
            <a:avLst>
              <a:gd name="adj" fmla="val 0"/>
            </a:avLst>
          </a:prstGeom>
          <a:solidFill>
            <a:srgbClr val="374151">
              <a:alpha val="100000"/>
            </a:srgbClr>
          </a:solidFill>
          <a:ln cap="flat" cmpd="sng">
            <a:solidFill>
              <a:srgbClr val="202937">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65200" y="1930400"/>
            <a:ext cx="152400" cy="152400"/>
          </a:xfrm>
          <a:prstGeom prst="ellipse">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219200" y="1930400"/>
            <a:ext cx="152400" cy="152400"/>
          </a:xfrm>
          <a:prstGeom prst="ellipse">
            <a:avLst/>
          </a:prstGeom>
          <a:solidFill>
            <a:srgbClr val="EAB308">
              <a:alpha val="100000"/>
            </a:srgbClr>
          </a:solidFill>
          <a:ln cap="flat" cmpd="sng">
            <a:solidFill>
              <a:srgbClr val="D19E00">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473200" y="1930400"/>
            <a:ext cx="152400" cy="152400"/>
          </a:xfrm>
          <a:prstGeom prst="ellipse">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826000" y="1879600"/>
            <a:ext cx="2540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9CA3AF"/>
                </a:solidFill>
                <a:latin typeface="Roboto Mono"/>
                <a:ea typeface="Roboto Mono"/>
                <a:cs typeface="Roboto Mono"/>
                <a:sym typeface="Roboto Mono"/>
              </a:rPr>
              <a:t>train_workflow.py</a:t>
            </a:r>
            <a:endParaRPr lang="en-US" sz="1100"/>
          </a:p>
        </p:txBody>
      </p:sp>
      <p:sp>
        <p:nvSpPr>
          <p:cNvPr id="10" name="AutoShape 10"/>
          <p:cNvSpPr/>
          <p:nvPr/>
        </p:nvSpPr>
        <p:spPr>
          <a:xfrm>
            <a:off x="952500" y="2413000"/>
            <a:ext cx="10287000" cy="2984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6B7280"/>
                </a:solidFill>
                <a:latin typeface="Roboto Mono"/>
                <a:ea typeface="Roboto Mono"/>
                <a:cs typeface="Roboto Mono"/>
                <a:sym typeface="Roboto Mono"/>
              </a:rPr>
              <a:t># 1. 初始化：定义损失函数与优化器</a:t>
            </a:r>
            <a:endParaRPr lang="en-US" sz="1100"/>
          </a:p>
          <a:p>
            <a:pPr marL="0" indent="0" algn="l">
              <a:lnSpc>
                <a:spcPct val="116666"/>
              </a:lnSpc>
            </a:pPr>
            <a:r>
              <a:rPr lang="en-US" sz="1400" b="0" i="0" u="none" strike="noStrike">
                <a:solidFill>
                  <a:srgbClr val="FB923C"/>
                </a:solidFill>
                <a:latin typeface="Roboto Mono"/>
                <a:ea typeface="Roboto Mono"/>
                <a:cs typeface="Roboto Mono"/>
                <a:sym typeface="Roboto Mono"/>
              </a:rPr>
              <a:t>criterion</a:t>
            </a:r>
            <a:r>
              <a:rPr lang="en-US" sz="1400" b="0" i="0" u="none" strike="noStrike">
                <a:solidFill>
                  <a:srgbClr val="D1D5DB"/>
                </a:solidFill>
                <a:latin typeface="Roboto Mono"/>
                <a:ea typeface="Roboto Mono"/>
                <a:cs typeface="Roboto Mono"/>
                <a:sym typeface="Roboto Mono"/>
              </a:rPr>
              <a:t>= nn.</a:t>
            </a:r>
            <a:r>
              <a:rPr lang="en-US" sz="1400" b="0" i="0" u="none" strike="noStrike">
                <a:solidFill>
                  <a:srgbClr val="60A5FA"/>
                </a:solidFill>
                <a:latin typeface="Roboto Mono"/>
                <a:ea typeface="Roboto Mono"/>
                <a:cs typeface="Roboto Mono"/>
                <a:sym typeface="Roboto Mono"/>
              </a:rPr>
              <a:t>MSELoss</a:t>
            </a:r>
            <a:r>
              <a:rPr lang="en-US" sz="1400" b="0" i="0" u="none" strike="noStrike">
                <a:solidFill>
                  <a:srgbClr val="D1D5DB"/>
                </a:solidFill>
                <a:latin typeface="Roboto Mono"/>
                <a:ea typeface="Roboto Mono"/>
                <a:cs typeface="Roboto Mono"/>
                <a:sym typeface="Roboto Mono"/>
              </a:rPr>
              <a:t>()</a:t>
            </a:r>
            <a:r>
              <a:rPr lang="en-US" sz="1400" b="0" i="0" u="none" strike="noStrike">
                <a:solidFill>
                  <a:srgbClr val="6B7280"/>
                </a:solidFill>
                <a:latin typeface="Roboto Mono"/>
                <a:ea typeface="Roboto Mono"/>
                <a:cs typeface="Roboto Mono"/>
                <a:sym typeface="Roboto Mono"/>
              </a:rPr>
              <a:t># 均方误差损失 (回归任务常用)</a:t>
            </a:r>
          </a:p>
          <a:p>
            <a:pPr marL="0" indent="0" algn="l">
              <a:lnSpc>
                <a:spcPct val="116666"/>
              </a:lnSpc>
            </a:pPr>
            <a:r>
              <a:rPr lang="en-US" sz="1400" b="0" i="0" u="none" strike="noStrike">
                <a:solidFill>
                  <a:srgbClr val="FB923C"/>
                </a:solidFill>
                <a:latin typeface="Roboto Mono"/>
                <a:ea typeface="Roboto Mono"/>
                <a:cs typeface="Roboto Mono"/>
                <a:sym typeface="Roboto Mono"/>
              </a:rPr>
              <a:t>optimizer</a:t>
            </a:r>
            <a:r>
              <a:rPr lang="en-US" sz="1400" b="0" i="0" u="none" strike="noStrike">
                <a:solidFill>
                  <a:srgbClr val="D1D5DB"/>
                </a:solidFill>
                <a:latin typeface="Roboto Mono"/>
                <a:ea typeface="Roboto Mono"/>
                <a:cs typeface="Roboto Mono"/>
                <a:sym typeface="Roboto Mono"/>
              </a:rPr>
              <a:t>= torch.optim.</a:t>
            </a:r>
            <a:r>
              <a:rPr lang="en-US" sz="1400" b="0" i="0" u="none" strike="noStrike">
                <a:solidFill>
                  <a:srgbClr val="60A5FA"/>
                </a:solidFill>
                <a:latin typeface="Roboto Mono"/>
                <a:ea typeface="Roboto Mono"/>
                <a:cs typeface="Roboto Mono"/>
                <a:sym typeface="Roboto Mono"/>
              </a:rPr>
              <a:t>SGD</a:t>
            </a:r>
            <a:r>
              <a:rPr lang="en-US" sz="1400" b="0" i="0" u="none" strike="noStrike">
                <a:solidFill>
                  <a:srgbClr val="D1D5DB"/>
                </a:solidFill>
                <a:latin typeface="Roboto Mono"/>
                <a:ea typeface="Roboto Mono"/>
                <a:cs typeface="Roboto Mono"/>
                <a:sym typeface="Roboto Mono"/>
              </a:rPr>
              <a:t>(net.parameters(), lr=0.01)</a:t>
            </a:r>
            <a:r>
              <a:rPr lang="en-US" sz="1400" b="0" i="0" u="none" strike="noStrike">
                <a:solidFill>
                  <a:srgbClr val="6B7280"/>
                </a:solidFill>
                <a:latin typeface="Roboto Mono"/>
                <a:ea typeface="Roboto Mono"/>
                <a:cs typeface="Roboto Mono"/>
                <a:sym typeface="Roboto Mono"/>
              </a:rPr>
              <a:t># 随机梯度下降优化器</a:t>
            </a:r>
          </a:p>
          <a:p>
            <a:pPr marL="0" indent="0" algn="l">
              <a:lnSpc>
                <a:spcPct val="116666"/>
              </a:lnSpc>
            </a:pPr>
            <a:r>
              <a:rPr lang="en-US" sz="1400" b="0" i="0" u="none" strike="noStrike">
                <a:solidFill>
                  <a:srgbClr val="6B7280"/>
                </a:solidFill>
                <a:latin typeface="Roboto Mono"/>
                <a:ea typeface="Roboto Mono"/>
                <a:cs typeface="Roboto Mono"/>
                <a:sym typeface="Roboto Mono"/>
              </a:rPr>
              <a:t># 2. 核心循环：前向传播 -&gt; 损失计算 -&gt; 反向传播 -&gt; 参数更新</a:t>
            </a:r>
          </a:p>
          <a:p>
            <a:pPr marL="0" indent="0" algn="l">
              <a:lnSpc>
                <a:spcPct val="116666"/>
              </a:lnSpc>
            </a:pPr>
            <a:r>
              <a:rPr lang="en-US" sz="1400" b="0" i="0" u="none" strike="noStrike">
                <a:solidFill>
                  <a:srgbClr val="C084FC"/>
                </a:solidFill>
                <a:latin typeface="Roboto Mono"/>
                <a:ea typeface="Roboto Mono"/>
                <a:cs typeface="Roboto Mono"/>
                <a:sym typeface="Roboto Mono"/>
              </a:rPr>
              <a:t>for</a:t>
            </a:r>
            <a:r>
              <a:rPr lang="en-US" sz="1400" b="0" i="0" u="none" strike="noStrike">
                <a:solidFill>
                  <a:srgbClr val="D1D5DB"/>
                </a:solidFill>
                <a:latin typeface="Roboto Mono"/>
                <a:ea typeface="Roboto Mono"/>
                <a:cs typeface="Roboto Mono"/>
                <a:sym typeface="Roboto Mono"/>
              </a:rPr>
              <a:t>epoch</a:t>
            </a:r>
            <a:r>
              <a:rPr lang="en-US" sz="1400" b="0" i="0" u="none" strike="noStrike">
                <a:solidFill>
                  <a:srgbClr val="C084FC"/>
                </a:solidFill>
                <a:latin typeface="Roboto Mono"/>
                <a:ea typeface="Roboto Mono"/>
                <a:cs typeface="Roboto Mono"/>
                <a:sym typeface="Roboto Mono"/>
              </a:rPr>
              <a:t>in</a:t>
            </a:r>
            <a:r>
              <a:rPr lang="en-US" sz="1400" b="0" i="0" u="none" strike="noStrike">
                <a:solidFill>
                  <a:srgbClr val="D1D5DB"/>
                </a:solidFill>
                <a:latin typeface="Roboto Mono"/>
                <a:ea typeface="Roboto Mono"/>
                <a:cs typeface="Roboto Mono"/>
                <a:sym typeface="Roboto Mono"/>
              </a:rPr>
              <a:t>range(10):</a:t>
            </a:r>
            <a:r>
              <a:rPr lang="en-US" sz="1400" b="0" i="0" u="none" strike="noStrike">
                <a:solidFill>
                  <a:srgbClr val="6B7280"/>
                </a:solidFill>
                <a:latin typeface="Roboto Mono"/>
                <a:ea typeface="Roboto Mono"/>
                <a:cs typeface="Roboto Mono"/>
                <a:sym typeface="Roboto Mono"/>
              </a:rPr>
              <a:t># 迭代训练10轮</a:t>
            </a:r>
          </a:p>
          <a:p>
            <a:pPr marL="0" indent="0" algn="l">
              <a:lnSpc>
                <a:spcPct val="116666"/>
              </a:lnSpc>
            </a:pPr>
            <a:r>
              <a:rPr lang="en-US" sz="1400" b="0" i="0" u="none" strike="noStrike">
                <a:solidFill>
                  <a:srgbClr val="D1D5DB"/>
                </a:solidFill>
                <a:latin typeface="Roboto Mono"/>
                <a:ea typeface="Roboto Mono"/>
                <a:cs typeface="Roboto Mono"/>
                <a:sym typeface="Roboto Mono"/>
              </a:rPr>
              <a:t>pred = net(input) → loss = criterion(pred, target) → opt.zero_grad() → loss.backward() → opt.step()</a:t>
            </a:r>
          </a:p>
        </p:txBody>
      </p:sp>
      <p:sp>
        <p:nvSpPr>
          <p:cNvPr id="11" name="AutoShape 11"/>
          <p:cNvSpPr/>
          <p:nvPr/>
        </p:nvSpPr>
        <p:spPr>
          <a:xfrm>
            <a:off x="762000" y="5651500"/>
            <a:ext cx="10668000" cy="762000"/>
          </a:xfrm>
          <a:prstGeom prst="roundRect">
            <a:avLst>
              <a:gd name="adj" fmla="val 0"/>
            </a:avLst>
          </a:prstGeom>
          <a:solidFill>
            <a:srgbClr val="F3F4F6">
              <a:alpha val="7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952500" y="5778500"/>
            <a:ext cx="1028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a:ea typeface="Noto Sans SC"/>
                <a:cs typeface="Noto Sans SC"/>
                <a:sym typeface="Noto Sans SC"/>
              </a:rPr>
              <a:t>💡 核心逻辑闭环：</a:t>
            </a:r>
            <a:r>
              <a:rPr lang="en-US" sz="1400" b="0" i="0" u="none" strike="noStrike">
                <a:solidFill>
                  <a:srgbClr val="4B5563"/>
                </a:solidFill>
                <a:latin typeface="Noto Sans SC"/>
                <a:ea typeface="Noto Sans SC"/>
                <a:cs typeface="Noto Sans SC"/>
                <a:sym typeface="Noto Sans SC"/>
              </a:rPr>
              <a:t>通过不断重复“前向传播计算预测值 → 计算损失衡量误差 → 反向传播求导 → 优化器更新权重”这四个步骤，让模型在数据中学习规律，逐步降低预测误差，最终收敛到最优状态。</a:t>
            </a:r>
            <a:endParaRPr lang="en-US" sz="11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159000"/>
            <a:ext cx="1219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1F2937">
                    <a:alpha val="12157"/>
                  </a:srgbClr>
                </a:solidFill>
                <a:latin typeface="Noto Sans SC"/>
                <a:ea typeface="Noto Sans SC"/>
                <a:cs typeface="Noto Sans SC"/>
                <a:sym typeface="Noto Sans SC"/>
              </a:rPr>
              <a:t>PART 04</a:t>
            </a:r>
            <a:endParaRPr lang="en-US" sz="1100"/>
          </a:p>
        </p:txBody>
      </p:sp>
      <p:sp>
        <p:nvSpPr>
          <p:cNvPr id="4" name="AutoShape 4"/>
          <p:cNvSpPr/>
          <p:nvPr/>
        </p:nvSpPr>
        <p:spPr>
          <a:xfrm>
            <a:off x="0" y="3810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1F2937"/>
                </a:solidFill>
                <a:latin typeface="Noto Sans SC"/>
                <a:ea typeface="Noto Sans SC"/>
                <a:cs typeface="Noto Sans SC"/>
                <a:sym typeface="Noto Sans SC"/>
              </a:rPr>
              <a:t>综合实战：线性回归</a:t>
            </a:r>
            <a:endParaRPr lang="en-US" sz="1100"/>
          </a:p>
        </p:txBody>
      </p:sp>
      <p:sp>
        <p:nvSpPr>
          <p:cNvPr id="5" name="AutoShape 5"/>
          <p:cNvSpPr/>
          <p:nvPr/>
        </p:nvSpPr>
        <p:spPr>
          <a:xfrm>
            <a:off x="0" y="5334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spc="200">
                <a:solidFill>
                  <a:srgbClr val="4B5563"/>
                </a:solidFill>
                <a:latin typeface="Noto Sans SC"/>
                <a:ea typeface="Noto Sans SC"/>
                <a:cs typeface="Noto Sans SC"/>
                <a:sym typeface="Noto Sans SC"/>
              </a:rPr>
              <a:t>基于 NumPy 与 PyTorch 的端到端机器学习项目演练</a:t>
            </a:r>
            <a:endParaRPr lang="en-US" sz="11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1. 问题描述</a:t>
            </a:r>
            <a:endParaRPr lang="en-US" sz="1100"/>
          </a:p>
        </p:txBody>
      </p:sp>
      <p:sp>
        <p:nvSpPr>
          <p:cNvPr id="4" name="AutoShape 4"/>
          <p:cNvSpPr/>
          <p:nvPr/>
        </p:nvSpPr>
        <p:spPr>
          <a:xfrm>
            <a:off x="762000" y="177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4B5563"/>
                </a:solidFill>
                <a:latin typeface="Noto Sans SC"/>
                <a:ea typeface="Noto Sans SC"/>
                <a:cs typeface="Noto Sans SC"/>
                <a:sym typeface="Noto Sans SC"/>
              </a:rPr>
              <a:t>在房地产交易中，房屋面积是影响价格的关键因素。我们拥有一组历史成交数据，记录了不同面积对应的实际售价。我们的任务是基于这些数据，构建一个数学模型，从而能够对未知面积的房屋价格进行精准预测。</a:t>
            </a:r>
            <a:endParaRPr lang="en-US" sz="1100"/>
          </a:p>
        </p:txBody>
      </p:sp>
      <p:sp>
        <p:nvSpPr>
          <p:cNvPr id="5" name="AutoShape 5"/>
          <p:cNvSpPr/>
          <p:nvPr/>
        </p:nvSpPr>
        <p:spPr>
          <a:xfrm>
            <a:off x="762000" y="2857500"/>
            <a:ext cx="10668000" cy="812800"/>
          </a:xfrm>
          <a:prstGeom prst="roundRect">
            <a:avLst>
              <a:gd name="adj" fmla="val 0"/>
            </a:avLst>
          </a:prstGeom>
          <a:solidFill>
            <a:srgbClr val="1F2937">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3009900"/>
            <a:ext cx="1028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 核心目标：</a:t>
            </a:r>
            <a:r>
              <a:rPr lang="en-US" sz="1600" b="0" i="0" u="none" strike="noStrike">
                <a:solidFill>
                  <a:srgbClr val="374151"/>
                </a:solidFill>
                <a:latin typeface="Noto Sans SC"/>
                <a:ea typeface="Noto Sans SC"/>
                <a:cs typeface="Noto Sans SC"/>
                <a:sym typeface="Noto Sans SC"/>
              </a:rPr>
              <a:t>基于“面积与价格呈线性相关”的假设，通过数据训练找到最佳的参数组合，使模型的预测结果尽可能贴近真实市场价格。</a:t>
            </a:r>
            <a:endParaRPr lang="en-US" sz="1100"/>
          </a:p>
        </p:txBody>
      </p:sp>
      <p:sp>
        <p:nvSpPr>
          <p:cNvPr id="7" name="AutoShape 7"/>
          <p:cNvSpPr/>
          <p:nvPr/>
        </p:nvSpPr>
        <p:spPr>
          <a:xfrm>
            <a:off x="762000" y="3873500"/>
            <a:ext cx="10668000" cy="965200"/>
          </a:xfrm>
          <a:prstGeom prst="roundRect">
            <a:avLst>
              <a:gd name="adj" fmla="val 0"/>
            </a:avLst>
          </a:prstGeom>
          <a:solidFill>
            <a:srgbClr val="1F2937">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52500" y="4038600"/>
            <a:ext cx="10287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1F2937"/>
                </a:solidFill>
                <a:latin typeface="Noto Sans SC"/>
                <a:ea typeface="Noto Sans SC"/>
                <a:cs typeface="Noto Sans SC"/>
                <a:sym typeface="Noto Sans SC"/>
              </a:rPr>
              <a:t>价格 = w × 面积 + b</a:t>
            </a:r>
            <a:r>
              <a:rPr lang="en-US" sz="1600" b="0" i="0" u="none" strike="noStrike">
                <a:solidFill>
                  <a:srgbClr val="6B7280"/>
                </a:solidFill>
                <a:latin typeface="Noto Sans SC"/>
                <a:ea typeface="Noto Sans SC"/>
                <a:cs typeface="Noto Sans SC"/>
                <a:sym typeface="Noto Sans SC"/>
              </a:rPr>
              <a:t>（一元线性回归基础模型）</a:t>
            </a:r>
            <a:endParaRPr lang="en-US" sz="1100"/>
          </a:p>
        </p:txBody>
      </p:sp>
      <p:sp>
        <p:nvSpPr>
          <p:cNvPr id="9" name="AutoShape 9"/>
          <p:cNvSpPr/>
          <p:nvPr/>
        </p:nvSpPr>
        <p:spPr>
          <a:xfrm>
            <a:off x="762000" y="5080000"/>
            <a:ext cx="3378200" cy="1333500"/>
          </a:xfrm>
          <a:prstGeom prst="roundRect">
            <a:avLst>
              <a:gd name="adj" fmla="val 0"/>
            </a:avLst>
          </a:prstGeom>
          <a:solidFill>
            <a:srgbClr val="FFFFFF">
              <a:alpha val="7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232400"/>
            <a:ext cx="304800" cy="304800"/>
          </a:xfrm>
          <a:prstGeom prst="rect">
            <a:avLst/>
          </a:prstGeom>
        </p:spPr>
      </p:pic>
      <p:sp>
        <p:nvSpPr>
          <p:cNvPr id="11" name="AutoShape 11"/>
          <p:cNvSpPr/>
          <p:nvPr/>
        </p:nvSpPr>
        <p:spPr>
          <a:xfrm>
            <a:off x="1333500" y="5232400"/>
            <a:ext cx="2730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输入特征 (Feature)</a:t>
            </a:r>
            <a:endParaRPr lang="en-US" sz="1100"/>
          </a:p>
        </p:txBody>
      </p:sp>
      <p:sp>
        <p:nvSpPr>
          <p:cNvPr id="12" name="AutoShape 12"/>
          <p:cNvSpPr/>
          <p:nvPr/>
        </p:nvSpPr>
        <p:spPr>
          <a:xfrm>
            <a:off x="952500" y="56134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即房屋面积（平方米），作为模型的输入变量，是决定价格的自变量。</a:t>
            </a:r>
            <a:endParaRPr lang="en-US" sz="1100"/>
          </a:p>
        </p:txBody>
      </p:sp>
      <p:sp>
        <p:nvSpPr>
          <p:cNvPr id="13" name="AutoShape 13"/>
          <p:cNvSpPr/>
          <p:nvPr/>
        </p:nvSpPr>
        <p:spPr>
          <a:xfrm>
            <a:off x="4394200" y="5080000"/>
            <a:ext cx="3378200" cy="1333500"/>
          </a:xfrm>
          <a:prstGeom prst="roundRect">
            <a:avLst>
              <a:gd name="adj" fmla="val 0"/>
            </a:avLst>
          </a:prstGeom>
          <a:solidFill>
            <a:srgbClr val="FFFFFF">
              <a:alpha val="7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84700" y="5232400"/>
            <a:ext cx="304800" cy="304800"/>
          </a:xfrm>
          <a:prstGeom prst="rect">
            <a:avLst/>
          </a:prstGeom>
        </p:spPr>
      </p:pic>
      <p:sp>
        <p:nvSpPr>
          <p:cNvPr id="15" name="AutoShape 15"/>
          <p:cNvSpPr/>
          <p:nvPr/>
        </p:nvSpPr>
        <p:spPr>
          <a:xfrm>
            <a:off x="4965700" y="5232400"/>
            <a:ext cx="2730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模型参数 (Parameter)</a:t>
            </a:r>
            <a:endParaRPr lang="en-US" sz="1100"/>
          </a:p>
        </p:txBody>
      </p:sp>
      <p:sp>
        <p:nvSpPr>
          <p:cNvPr id="16" name="AutoShape 16"/>
          <p:cNvSpPr/>
          <p:nvPr/>
        </p:nvSpPr>
        <p:spPr>
          <a:xfrm>
            <a:off x="4584700" y="56134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w 为权重（斜率），b 为偏置（截距），是模型通过数据学习到的核心数值。</a:t>
            </a:r>
            <a:endParaRPr lang="en-US" sz="1100"/>
          </a:p>
        </p:txBody>
      </p:sp>
      <p:sp>
        <p:nvSpPr>
          <p:cNvPr id="17" name="AutoShape 17"/>
          <p:cNvSpPr/>
          <p:nvPr/>
        </p:nvSpPr>
        <p:spPr>
          <a:xfrm>
            <a:off x="8026400" y="5080000"/>
            <a:ext cx="3403600" cy="1333500"/>
          </a:xfrm>
          <a:prstGeom prst="roundRect">
            <a:avLst>
              <a:gd name="adj" fmla="val 0"/>
            </a:avLst>
          </a:prstGeom>
          <a:solidFill>
            <a:srgbClr val="FFFFFF">
              <a:alpha val="7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16900" y="5232400"/>
            <a:ext cx="304800" cy="304800"/>
          </a:xfrm>
          <a:prstGeom prst="rect">
            <a:avLst/>
          </a:prstGeom>
        </p:spPr>
      </p:pic>
      <p:sp>
        <p:nvSpPr>
          <p:cNvPr id="19" name="AutoShape 19"/>
          <p:cNvSpPr/>
          <p:nvPr/>
        </p:nvSpPr>
        <p:spPr>
          <a:xfrm>
            <a:off x="8597900" y="5232400"/>
            <a:ext cx="2730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预测目标 (Target)</a:t>
            </a:r>
            <a:endParaRPr lang="en-US" sz="1100"/>
          </a:p>
        </p:txBody>
      </p:sp>
      <p:sp>
        <p:nvSpPr>
          <p:cNvPr id="20" name="AutoShape 20"/>
          <p:cNvSpPr/>
          <p:nvPr/>
        </p:nvSpPr>
        <p:spPr>
          <a:xfrm>
            <a:off x="8216900" y="5613400"/>
            <a:ext cx="30226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即房屋价格（万元），是模型输出的预测值，我们期望它与真实值尽可能接近。</a:t>
            </a:r>
            <a:endParaRPr lang="en-US" sz="11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2. 步骤一：数据准备 (使用NumPy)</a:t>
            </a:r>
            <a:endParaRPr lang="en-US" sz="1100"/>
          </a:p>
        </p:txBody>
      </p:sp>
      <p:sp>
        <p:nvSpPr>
          <p:cNvPr id="4" name="AutoShape 4"/>
          <p:cNvSpPr/>
          <p:nvPr/>
        </p:nvSpPr>
        <p:spPr>
          <a:xfrm>
            <a:off x="762000" y="1905000"/>
            <a:ext cx="10668000" cy="3175000"/>
          </a:xfrm>
          <a:prstGeom prst="roundRect">
            <a:avLst>
              <a:gd name="adj" fmla="val 0"/>
            </a:avLst>
          </a:prstGeom>
          <a:solidFill>
            <a:srgbClr val="1E293B">
              <a:alpha val="85000"/>
            </a:srgbClr>
          </a:solidFill>
          <a:ln w="12700" cap="flat" cmpd="sng">
            <a:solidFill>
              <a:srgbClr val="64748B">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1590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95400" y="2159000"/>
            <a:ext cx="152400" cy="1524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574800" y="2159000"/>
            <a:ext cx="152400" cy="1524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2603500"/>
            <a:ext cx="10160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C084FC"/>
                </a:solidFill>
                <a:latin typeface="Source Code Pro"/>
                <a:ea typeface="Source Code Pro"/>
                <a:cs typeface="Source Code Pro"/>
                <a:sym typeface="Source Code Pro"/>
              </a:rPr>
              <a:t>import</a:t>
            </a:r>
            <a:r>
              <a:rPr lang="en-US" sz="1400" b="0" i="0" u="none" strike="noStrike">
                <a:solidFill>
                  <a:srgbClr val="E5E7EB"/>
                </a:solidFill>
                <a:latin typeface="Source Code Pro"/>
                <a:ea typeface="Source Code Pro"/>
                <a:cs typeface="Source Code Pro"/>
                <a:sym typeface="Source Code Pro"/>
              </a:rPr>
              <a:t>numpy</a:t>
            </a:r>
            <a:r>
              <a:rPr lang="en-US" sz="1400" b="0" i="0" u="none" strike="noStrike">
                <a:solidFill>
                  <a:srgbClr val="C084FC"/>
                </a:solidFill>
                <a:latin typeface="Source Code Pro"/>
                <a:ea typeface="Source Code Pro"/>
                <a:cs typeface="Source Code Pro"/>
                <a:sym typeface="Source Code Pro"/>
              </a:rPr>
              <a:t>as</a:t>
            </a:r>
            <a:r>
              <a:rPr lang="en-US" sz="1400" b="0" i="0" u="none" strike="noStrike">
                <a:solidFill>
                  <a:srgbClr val="E5E7EB"/>
                </a:solidFill>
                <a:latin typeface="Source Code Pro"/>
                <a:ea typeface="Source Code Pro"/>
                <a:cs typeface="Source Code Pro"/>
                <a:sym typeface="Source Code Pro"/>
              </a:rPr>
              <a:t>np;</a:t>
            </a:r>
            <a:r>
              <a:rPr lang="en-US" sz="1400" b="0" i="0" u="none" strike="noStrike">
                <a:solidFill>
                  <a:srgbClr val="C084FC"/>
                </a:solidFill>
                <a:latin typeface="Source Code Pro"/>
                <a:ea typeface="Source Code Pro"/>
                <a:cs typeface="Source Code Pro"/>
                <a:sym typeface="Source Code Pro"/>
              </a:rPr>
              <a:t>import</a:t>
            </a:r>
            <a:r>
              <a:rPr lang="en-US" sz="1400" b="0" i="0" u="none" strike="noStrike">
                <a:solidFill>
                  <a:srgbClr val="E5E7EB"/>
                </a:solidFill>
                <a:latin typeface="Source Code Pro"/>
                <a:ea typeface="Source Code Pro"/>
                <a:cs typeface="Source Code Pro"/>
                <a:sym typeface="Source Code Pro"/>
              </a:rPr>
              <a:t>matplotlib.pyplot</a:t>
            </a:r>
            <a:r>
              <a:rPr lang="en-US" sz="1400" b="0" i="0" u="none" strike="noStrike">
                <a:solidFill>
                  <a:srgbClr val="C084FC"/>
                </a:solidFill>
                <a:latin typeface="Source Code Pro"/>
                <a:ea typeface="Source Code Pro"/>
                <a:cs typeface="Source Code Pro"/>
                <a:sym typeface="Source Code Pro"/>
              </a:rPr>
              <a:t>as</a:t>
            </a:r>
            <a:r>
              <a:rPr lang="en-US" sz="1400" b="0" i="0" u="none" strike="noStrike">
                <a:solidFill>
                  <a:srgbClr val="E5E7EB"/>
                </a:solidFill>
                <a:latin typeface="Source Code Pro"/>
                <a:ea typeface="Source Code Pro"/>
                <a:cs typeface="Source Code Pro"/>
                <a:sym typeface="Source Code Pro"/>
              </a:rPr>
              <a:t>plt</a:t>
            </a:r>
            <a:endParaRPr lang="en-US" sz="1100"/>
          </a:p>
          <a:p>
            <a:pPr marL="0" indent="0" algn="l">
              <a:lnSpc>
                <a:spcPct val="116666"/>
              </a:lnSpc>
            </a:pPr>
            <a:r>
              <a:rPr lang="en-US" sz="1400" b="0" i="0" u="none" strike="noStrike">
                <a:solidFill>
                  <a:srgbClr val="94A3B8"/>
                </a:solidFill>
                <a:latin typeface="Source Code Pro"/>
                <a:ea typeface="Source Code Pro"/>
                <a:cs typeface="Source Code Pro"/>
                <a:sym typeface="Source Code Pro"/>
              </a:rPr>
              <a:t># 设定随机种子以确保结果可复现，生成100个样本数据</a:t>
            </a:r>
          </a:p>
          <a:p>
            <a:pPr marL="0" indent="0" algn="l">
              <a:lnSpc>
                <a:spcPct val="116666"/>
              </a:lnSpc>
            </a:pPr>
            <a:r>
              <a:rPr lang="en-US" sz="1400" b="0" i="0" u="none" strike="noStrike">
                <a:solidFill>
                  <a:srgbClr val="E5E7EB"/>
                </a:solidFill>
                <a:latin typeface="Source Code Pro"/>
                <a:ea typeface="Source Code Pro"/>
                <a:cs typeface="Source Code Pro"/>
                <a:sym typeface="Source Code Pro"/>
              </a:rPr>
              <a:t>np.random.seed(42);</a:t>
            </a:r>
            <a:r>
              <a:rPr lang="en-US" sz="1400" b="0" i="0" u="none" strike="noStrike">
                <a:solidFill>
                  <a:srgbClr val="FBBF24"/>
                </a:solidFill>
                <a:latin typeface="Source Code Pro"/>
                <a:ea typeface="Source Code Pro"/>
                <a:cs typeface="Source Code Pro"/>
                <a:sym typeface="Source Code Pro"/>
              </a:rPr>
              <a:t>X_np</a:t>
            </a:r>
            <a:r>
              <a:rPr lang="en-US" sz="1400" b="0" i="0" u="none" strike="noStrike">
                <a:solidFill>
                  <a:srgbClr val="E5E7EB"/>
                </a:solidFill>
                <a:latin typeface="Source Code Pro"/>
                <a:ea typeface="Source Code Pro"/>
                <a:cs typeface="Source Code Pro"/>
                <a:sym typeface="Source Code Pro"/>
              </a:rPr>
              <a:t>= np.random.rand(100, 1) * 100 + 50</a:t>
            </a:r>
          </a:p>
          <a:p>
            <a:pPr marL="0" indent="0" algn="l">
              <a:lnSpc>
                <a:spcPct val="116666"/>
              </a:lnSpc>
            </a:pPr>
            <a:r>
              <a:rPr lang="en-US" sz="1400" b="0" i="0" u="none" strike="noStrike">
                <a:solidFill>
                  <a:srgbClr val="94A3B8"/>
                </a:solidFill>
                <a:latin typeface="Source Code Pro"/>
                <a:ea typeface="Source Code Pro"/>
                <a:cs typeface="Source Code Pro"/>
                <a:sym typeface="Source Code Pro"/>
              </a:rPr>
              <a:t># 构建带噪声的标签：价格 = 2*面积 + 3 + 高斯噪声(模拟真实波动)</a:t>
            </a:r>
          </a:p>
          <a:p>
            <a:pPr marL="0" indent="0" algn="l">
              <a:lnSpc>
                <a:spcPct val="116666"/>
              </a:lnSpc>
            </a:pPr>
            <a:r>
              <a:rPr lang="en-US" sz="1400" b="0" i="0" u="none" strike="noStrike">
                <a:solidFill>
                  <a:srgbClr val="FBBF24"/>
                </a:solidFill>
                <a:latin typeface="Source Code Pro"/>
                <a:ea typeface="Source Code Pro"/>
                <a:cs typeface="Source Code Pro"/>
                <a:sym typeface="Source Code Pro"/>
              </a:rPr>
              <a:t>y_np</a:t>
            </a:r>
            <a:r>
              <a:rPr lang="en-US" sz="1400" b="0" i="0" u="none" strike="noStrike">
                <a:solidFill>
                  <a:srgbClr val="E5E7EB"/>
                </a:solidFill>
                <a:latin typeface="Source Code Pro"/>
                <a:ea typeface="Source Code Pro"/>
                <a:cs typeface="Source Code Pro"/>
                <a:sym typeface="Source Code Pro"/>
              </a:rPr>
              <a:t>= 2.0 * X_np + 3.0 + np.random.randn(100, 1) * 10</a:t>
            </a:r>
          </a:p>
        </p:txBody>
      </p:sp>
      <p:sp>
        <p:nvSpPr>
          <p:cNvPr id="9" name="AutoShape 9"/>
          <p:cNvSpPr/>
          <p:nvPr/>
        </p:nvSpPr>
        <p:spPr>
          <a:xfrm>
            <a:off x="762000" y="5270500"/>
            <a:ext cx="10668000" cy="1143000"/>
          </a:xfrm>
          <a:prstGeom prst="roundRect">
            <a:avLst>
              <a:gd name="adj" fmla="val 0"/>
            </a:avLst>
          </a:prstGeom>
          <a:solidFill>
            <a:srgbClr val="F3F4F6">
              <a:alpha val="75000"/>
            </a:srgbClr>
          </a:solidFill>
          <a:ln w="12700" cap="flat" cmpd="sng">
            <a:solidFill>
              <a:srgbClr val="D1D5DB">
                <a:alpha val="8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952500" y="5397500"/>
            <a:ext cx="1028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a:ea typeface="Noto Sans SC"/>
                <a:cs typeface="Noto Sans SC"/>
                <a:sym typeface="Noto Sans SC"/>
              </a:rPr>
              <a:t>代码解析：</a:t>
            </a:r>
            <a:r>
              <a:rPr lang="en-US" sz="1400" b="0" i="0" u="none" strike="noStrike">
                <a:solidFill>
                  <a:srgbClr val="374151"/>
                </a:solidFill>
                <a:latin typeface="Noto Sans SC"/>
                <a:ea typeface="Noto Sans SC"/>
                <a:cs typeface="Noto Sans SC"/>
                <a:sym typeface="Noto Sans SC"/>
              </a:rPr>
              <a:t>我们利用 NumPy 构建了一个简单的线性回归数据集。其中特征</a:t>
            </a:r>
            <a:r>
              <a:rPr lang="en-US" sz="1400" b="0" i="0" u="none" strike="noStrike">
                <a:solidFill>
                  <a:srgbClr val="D97706"/>
                </a:solidFill>
                <a:latin typeface="Noto Sans SC"/>
                <a:ea typeface="Noto Sans SC"/>
                <a:cs typeface="Noto Sans SC"/>
                <a:sym typeface="Noto Sans SC"/>
              </a:rPr>
              <a:t>X_np</a:t>
            </a:r>
            <a:r>
              <a:rPr lang="en-US" sz="1400" b="0" i="0" u="none" strike="noStrike">
                <a:solidFill>
                  <a:srgbClr val="374151"/>
                </a:solidFill>
                <a:latin typeface="Noto Sans SC"/>
                <a:ea typeface="Noto Sans SC"/>
                <a:cs typeface="Noto Sans SC"/>
                <a:sym typeface="Noto Sans SC"/>
              </a:rPr>
              <a:t>代表房屋面积（范围50-150平方米），标签</a:t>
            </a:r>
            <a:r>
              <a:rPr lang="en-US" sz="1400" b="0" i="0" u="none" strike="noStrike">
                <a:solidFill>
                  <a:srgbClr val="D97706"/>
                </a:solidFill>
                <a:latin typeface="Noto Sans SC"/>
                <a:ea typeface="Noto Sans SC"/>
                <a:cs typeface="Noto Sans SC"/>
                <a:sym typeface="Noto Sans SC"/>
              </a:rPr>
              <a:t>y_np</a:t>
            </a:r>
            <a:r>
              <a:rPr lang="en-US" sz="1400" b="0" i="0" u="none" strike="noStrike">
                <a:solidFill>
                  <a:srgbClr val="374151"/>
                </a:solidFill>
                <a:latin typeface="Noto Sans SC"/>
                <a:ea typeface="Noto Sans SC"/>
                <a:cs typeface="Noto Sans SC"/>
                <a:sym typeface="Noto Sans SC"/>
              </a:rPr>
              <a:t>由“2倍面积加3”的线性关系生成，并叠加了标准差为10的高斯噪声，以此来模拟真实世界中房价的随机波动，为后续模型训练提供了基础数据支撑。</a:t>
            </a:r>
            <a:endParaRPr lang="en-US" sz="11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数据可视化</a:t>
            </a:r>
            <a:endParaRPr lang="en-US" sz="1100"/>
          </a:p>
        </p:txBody>
      </p:sp>
      <p:sp>
        <p:nvSpPr>
          <p:cNvPr id="4" name="AutoShape 4"/>
          <p:cNvSpPr/>
          <p:nvPr/>
        </p:nvSpPr>
        <p:spPr>
          <a:xfrm>
            <a:off x="762000" y="1778000"/>
            <a:ext cx="5334000" cy="1968500"/>
          </a:xfrm>
          <a:prstGeom prst="roundRect">
            <a:avLst>
              <a:gd name="adj" fmla="val 0"/>
            </a:avLst>
          </a:prstGeom>
          <a:solidFill>
            <a:srgbClr val="F3F4F6">
              <a:alpha val="8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30400"/>
            <a:ext cx="5080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Source Code Pro"/>
                <a:ea typeface="Source Code Pro"/>
                <a:cs typeface="Source Code Pro"/>
                <a:sym typeface="Source Code Pro"/>
              </a:rPr>
              <a:t># 绘制散点图进行可视化</a:t>
            </a:r>
            <a:br>
              <a:rPr lang="en-US" sz="1300" b="0" i="0" u="none" strike="noStrike">
                <a:solidFill>
                  <a:srgbClr val="374151"/>
                </a:solidFill>
                <a:latin typeface="Source Code Pro"/>
                <a:ea typeface="Source Code Pro"/>
                <a:cs typeface="Source Code Pro"/>
                <a:sym typeface="Source Code Pro"/>
              </a:rPr>
            </a:br>
            <a:r>
              <a:rPr lang="en-US" sz="1300" b="0" i="0" u="none" strike="noStrike">
                <a:solidFill>
                  <a:srgbClr val="374151"/>
                </a:solidFill>
                <a:latin typeface="Source Code Pro"/>
                <a:ea typeface="Source Code Pro"/>
                <a:cs typeface="Source Code Pro"/>
                <a:sym typeface="Source Code Pro"/>
              </a:rPr>
              <a:t>plt.scatter(X_np, y_np, label='Real Data', color='b', alpha=0.6)</a:t>
            </a:r>
            <a:br>
              <a:rPr lang="en-US" sz="1300" b="0" i="0" u="none" strike="noStrike">
                <a:solidFill>
                  <a:srgbClr val="374151"/>
                </a:solidFill>
                <a:latin typeface="Source Code Pro"/>
                <a:ea typeface="Source Code Pro"/>
                <a:cs typeface="Source Code Pro"/>
                <a:sym typeface="Source Code Pro"/>
              </a:rPr>
            </a:br>
            <a:r>
              <a:rPr lang="en-US" sz="1300" b="0" i="0" u="none" strike="noStrike">
                <a:solidFill>
                  <a:srgbClr val="374151"/>
                </a:solidFill>
                <a:latin typeface="Source Code Pro"/>
                <a:ea typeface="Source Code Pro"/>
                <a:cs typeface="Source Code Pro"/>
                <a:sym typeface="Source Code Pro"/>
              </a:rPr>
              <a:t>plt.xlabel('Area (sq.m.)') # X轴：面积</a:t>
            </a:r>
            <a:br>
              <a:rPr lang="en-US" sz="1300" b="0" i="0" u="none" strike="noStrike">
                <a:solidFill>
                  <a:srgbClr val="374151"/>
                </a:solidFill>
                <a:latin typeface="Source Code Pro"/>
                <a:ea typeface="Source Code Pro"/>
                <a:cs typeface="Source Code Pro"/>
                <a:sym typeface="Source Code Pro"/>
              </a:rPr>
            </a:br>
            <a:r>
              <a:rPr lang="en-US" sz="1300" b="0" i="0" u="none" strike="noStrike">
                <a:solidFill>
                  <a:srgbClr val="374151"/>
                </a:solidFill>
                <a:latin typeface="Source Code Pro"/>
                <a:ea typeface="Source Code Pro"/>
                <a:cs typeface="Source Code Pro"/>
                <a:sym typeface="Source Code Pro"/>
              </a:rPr>
              <a:t>plt.ylabel('Price (10k CNY)') # Y轴：价格</a:t>
            </a:r>
            <a:br>
              <a:rPr lang="en-US" sz="1300" b="0" i="0" u="none" strike="noStrike">
                <a:solidFill>
                  <a:srgbClr val="374151"/>
                </a:solidFill>
                <a:latin typeface="Source Code Pro"/>
                <a:ea typeface="Source Code Pro"/>
                <a:cs typeface="Source Code Pro"/>
                <a:sym typeface="Source Code Pro"/>
              </a:rPr>
            </a:br>
            <a:r>
              <a:rPr lang="en-US" sz="1300" b="0" i="0" u="none" strike="noStrike">
                <a:solidFill>
                  <a:srgbClr val="374151"/>
                </a:solidFill>
                <a:latin typeface="Source Code Pro"/>
                <a:ea typeface="Source Code Pro"/>
                <a:cs typeface="Source Code Pro"/>
                <a:sym typeface="Source Code Pro"/>
              </a:rPr>
              <a:t>plt.title('Housing Price vs. Area')</a:t>
            </a:r>
            <a:br>
              <a:rPr lang="en-US" sz="1300" b="0" i="0" u="none" strike="noStrike">
                <a:solidFill>
                  <a:srgbClr val="374151"/>
                </a:solidFill>
                <a:latin typeface="Source Code Pro"/>
                <a:ea typeface="Source Code Pro"/>
                <a:cs typeface="Source Code Pro"/>
                <a:sym typeface="Source Code Pro"/>
              </a:rPr>
            </a:br>
            <a:r>
              <a:rPr lang="en-US" sz="1300" b="0" i="0" u="none" strike="noStrike">
                <a:solidFill>
                  <a:srgbClr val="374151"/>
                </a:solidFill>
                <a:latin typeface="Source Code Pro"/>
                <a:ea typeface="Source Code Pro"/>
                <a:cs typeface="Source Code Pro"/>
                <a:sym typeface="Source Code Pro"/>
              </a:rPr>
              <a:t>plt.legend()</a:t>
            </a:r>
            <a:br>
              <a:rPr lang="en-US" sz="1300" b="0" i="0" u="none" strike="noStrike">
                <a:solidFill>
                  <a:srgbClr val="374151"/>
                </a:solidFill>
                <a:latin typeface="Source Code Pro"/>
                <a:ea typeface="Source Code Pro"/>
                <a:cs typeface="Source Code Pro"/>
                <a:sym typeface="Source Code Pro"/>
              </a:rPr>
            </a:br>
            <a:r>
              <a:rPr lang="en-US" sz="1300" b="0" i="0" u="none" strike="noStrike">
                <a:solidFill>
                  <a:srgbClr val="374151"/>
                </a:solidFill>
                <a:latin typeface="Source Code Pro"/>
                <a:ea typeface="Source Code Pro"/>
                <a:cs typeface="Source Code Pro"/>
                <a:sym typeface="Source Code Pro"/>
              </a:rPr>
              <a:t>plt.show()</a:t>
            </a:r>
            <a:endParaRPr lang="en-US" sz="1100"/>
          </a:p>
        </p:txBody>
      </p:sp>
      <p:sp>
        <p:nvSpPr>
          <p:cNvPr id="6" name="AutoShape 6"/>
          <p:cNvSpPr/>
          <p:nvPr/>
        </p:nvSpPr>
        <p:spPr>
          <a:xfrm>
            <a:off x="762000" y="4191000"/>
            <a:ext cx="5334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F2937"/>
                </a:solidFill>
                <a:latin typeface="Noto Sans SC"/>
                <a:ea typeface="Noto Sans SC"/>
                <a:cs typeface="Noto Sans SC"/>
                <a:sym typeface="Noto Sans SC"/>
              </a:rPr>
              <a:t>分析与结论</a:t>
            </a:r>
            <a:endParaRPr lang="en-US" sz="1100"/>
          </a:p>
          <a:p>
            <a:pPr marL="0" indent="0" algn="l">
              <a:lnSpc>
                <a:spcPct val="125000"/>
              </a:lnSpc>
              <a:spcBef>
                <a:spcPts val="1200"/>
              </a:spcBef>
            </a:pPr>
            <a:r>
              <a:rPr lang="en-US" sz="1500" b="0" i="0" u="none" strike="noStrike">
                <a:solidFill>
                  <a:srgbClr val="4B5563"/>
                </a:solidFill>
                <a:latin typeface="Noto Sans SC"/>
                <a:ea typeface="Noto Sans SC"/>
                <a:cs typeface="Noto Sans SC"/>
                <a:sym typeface="Noto Sans SC"/>
              </a:rPr>
              <a:t>从散点图分布可见，房屋面积与价格呈现明显的正相关趋势，数据点紧密围绕潜在的线性趋势线分布。这一特征有力验证了使用</a:t>
            </a:r>
            <a:r>
              <a:rPr lang="en-US" sz="1500" b="1" i="0" u="none" strike="noStrike">
                <a:solidFill>
                  <a:srgbClr val="4B5563"/>
                </a:solidFill>
                <a:latin typeface="Noto Sans SC"/>
                <a:ea typeface="Noto Sans SC"/>
                <a:cs typeface="Noto Sans SC"/>
                <a:sym typeface="Noto Sans SC"/>
              </a:rPr>
              <a:t>线性回归模型</a:t>
            </a:r>
            <a:r>
              <a:rPr lang="en-US" sz="1500" b="0" i="0" u="none" strike="noStrike">
                <a:solidFill>
                  <a:srgbClr val="4B5563"/>
                </a:solidFill>
                <a:latin typeface="Noto Sans SC"/>
                <a:ea typeface="Noto Sans SC"/>
                <a:cs typeface="Noto Sans SC"/>
                <a:sym typeface="Noto Sans SC"/>
              </a:rPr>
              <a:t>进行预测的合理性。我们的建模目标，正是寻找一条能最小化误差的最优拟合直线，以此对未知房源的价格进行精准估算。</a:t>
            </a:r>
          </a:p>
        </p:txBody>
      </p:sp>
      <p:pic>
        <p:nvPicPr>
          <p:cNvPr id="7" name="Picture 7"/>
          <p:cNvPicPr>
            <a:picLocks noChangeAspect="1"/>
          </p:cNvPicPr>
          <p:nvPr/>
        </p:nvPicPr>
        <p:blipFill>
          <a:blip r:embed="rId4"/>
          <a:srcRect t="119" b="119"/>
          <a:stretch>
            <a:fillRect/>
          </a:stretch>
        </p:blipFill>
        <p:spPr>
          <a:xfrm>
            <a:off x="6858000" y="1841500"/>
            <a:ext cx="4064000" cy="3937000"/>
          </a:xfrm>
          <a:prstGeom prst="rect">
            <a:avLst/>
          </a:prstGeom>
          <a:noFill/>
          <a:ln w="25400" cap="flat" cmpd="sng">
            <a:solidFill>
              <a:srgbClr val="E5E7EB">
                <a:alpha val="100000"/>
              </a:srgbClr>
            </a:solidFill>
            <a:prstDash val="solid"/>
            <a:round/>
          </a:ln>
          <a:effectLst>
            <a:outerShdw blurRad="190500" dist="76200" dir="2700000" algn="tl" rotWithShape="0">
              <a:srgbClr val="000000">
                <a:alpha val="10000"/>
              </a:srgbClr>
            </a:outerShdw>
          </a:effectLst>
        </p:spPr>
      </p:pic>
      <p:sp>
        <p:nvSpPr>
          <p:cNvPr id="8" name="AutoShape 8"/>
          <p:cNvSpPr/>
          <p:nvPr/>
        </p:nvSpPr>
        <p:spPr>
          <a:xfrm>
            <a:off x="6858000" y="5905500"/>
            <a:ext cx="4064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6B7280"/>
                </a:solidFill>
                <a:latin typeface="Noto Sans SC"/>
                <a:ea typeface="Noto Sans SC"/>
                <a:cs typeface="Noto Sans SC"/>
                <a:sym typeface="Noto Sans SC"/>
              </a:rPr>
              <a:t>图表：房屋面积与成交价格的线性回归拟合趋势</a:t>
            </a:r>
            <a:endParaRPr lang="en-US" sz="11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3. 步骤二：数据转换 (NumPy to PyTorch Tensor)</a:t>
            </a:r>
            <a:endParaRPr lang="en-US" sz="1100"/>
          </a:p>
        </p:txBody>
      </p:sp>
      <p:sp>
        <p:nvSpPr>
          <p:cNvPr id="4" name="AutoShape 4"/>
          <p:cNvSpPr/>
          <p:nvPr/>
        </p:nvSpPr>
        <p:spPr>
          <a:xfrm>
            <a:off x="762000" y="17145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4B5563"/>
                </a:solidFill>
                <a:latin typeface="Noto Sans SC"/>
                <a:ea typeface="Noto Sans SC"/>
                <a:cs typeface="Noto Sans SC"/>
                <a:sym typeface="Noto Sans SC"/>
              </a:rPr>
              <a:t>PyTorch 模型仅支持张量 (Tensor) 作为输入。我们需要将数据从 NumPy 数组转换为张量，并根据硬件环境将其移动到 CPU 或 GPU，这是模型训练前的关键准备步骤。</a:t>
            </a:r>
            <a:endParaRPr lang="en-US" sz="1100"/>
          </a:p>
        </p:txBody>
      </p:sp>
      <p:sp>
        <p:nvSpPr>
          <p:cNvPr id="5" name="AutoShape 5"/>
          <p:cNvSpPr/>
          <p:nvPr/>
        </p:nvSpPr>
        <p:spPr>
          <a:xfrm>
            <a:off x="762000" y="2667000"/>
            <a:ext cx="10668000" cy="2794000"/>
          </a:xfrm>
          <a:prstGeom prst="roundRect">
            <a:avLst>
              <a:gd name="adj" fmla="val 0"/>
            </a:avLst>
          </a:prstGeom>
          <a:solidFill>
            <a:srgbClr val="1F2937">
              <a:alpha val="92000"/>
            </a:srgbClr>
          </a:solidFill>
          <a:ln cap="flat" cmpd="sng">
            <a:solidFill>
              <a:srgbClr val="0E141E">
                <a:alpha val="92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2895600"/>
            <a:ext cx="152400" cy="152400"/>
          </a:xfrm>
          <a:prstGeom prst="ellipse">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295400" y="2895600"/>
            <a:ext cx="152400" cy="152400"/>
          </a:xfrm>
          <a:prstGeom prst="ellipse">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574800" y="2895600"/>
            <a:ext cx="152400" cy="152400"/>
          </a:xfrm>
          <a:prstGeom prst="ellipse">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16000" y="3302000"/>
            <a:ext cx="10160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B7280"/>
                </a:solidFill>
                <a:latin typeface="Roboto Mono"/>
                <a:ea typeface="Roboto Mono"/>
                <a:cs typeface="Roboto Mono"/>
                <a:sym typeface="Roboto Mono"/>
              </a:rPr>
              <a:t># 1. 导入库与类型转换</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C084FC"/>
                </a:solidFill>
                <a:latin typeface="Roboto Mono"/>
                <a:ea typeface="Roboto Mono"/>
                <a:cs typeface="Roboto Mono"/>
                <a:sym typeface="Roboto Mono"/>
              </a:rPr>
              <a:t>import</a:t>
            </a:r>
            <a:r>
              <a:rPr lang="en-US" sz="1400" b="0" i="0" u="none" strike="noStrike">
                <a:solidFill>
                  <a:srgbClr val="E5E7EB"/>
                </a:solidFill>
                <a:latin typeface="Roboto Mono"/>
                <a:ea typeface="Roboto Mono"/>
                <a:cs typeface="Roboto Mono"/>
                <a:sym typeface="Roboto Mono"/>
              </a:rPr>
              <a:t>torch</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E5E7EB"/>
                </a:solidFill>
                <a:latin typeface="Roboto Mono"/>
                <a:ea typeface="Roboto Mono"/>
                <a:cs typeface="Roboto Mono"/>
                <a:sym typeface="Roboto Mono"/>
              </a:rPr>
              <a:t>X = torch.from_numpy(X_np).</a:t>
            </a:r>
            <a:r>
              <a:rPr lang="en-US" sz="1400" b="0" i="0" u="none" strike="noStrike">
                <a:solidFill>
                  <a:srgbClr val="60A5FA"/>
                </a:solidFill>
                <a:latin typeface="Roboto Mono"/>
                <a:ea typeface="Roboto Mono"/>
                <a:cs typeface="Roboto Mono"/>
                <a:sym typeface="Roboto Mono"/>
              </a:rPr>
              <a:t>float()</a:t>
            </a:r>
            <a:r>
              <a:rPr lang="en-US" sz="1400" b="0" i="0" u="none" strike="noStrike">
                <a:solidFill>
                  <a:srgbClr val="E5E7EB"/>
                </a:solidFill>
                <a:latin typeface="Roboto Mono"/>
                <a:ea typeface="Roboto Mono"/>
                <a:cs typeface="Roboto Mono"/>
                <a:sym typeface="Roboto Mono"/>
              </a:rPr>
              <a:t>; y = torch.from_numpy(y_np).</a:t>
            </a:r>
            <a:r>
              <a:rPr lang="en-US" sz="1400" b="0" i="0" u="none" strike="noStrike">
                <a:solidFill>
                  <a:srgbClr val="60A5FA"/>
                </a:solidFill>
                <a:latin typeface="Roboto Mono"/>
                <a:ea typeface="Roboto Mono"/>
                <a:cs typeface="Roboto Mono"/>
                <a:sym typeface="Roboto Mono"/>
              </a:rPr>
              <a:t>float()</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6B7280"/>
                </a:solidFill>
                <a:latin typeface="Roboto Mono"/>
                <a:ea typeface="Roboto Mono"/>
                <a:cs typeface="Roboto Mono"/>
                <a:sym typeface="Roboto Mono"/>
              </a:rPr>
              <a:t># 2. 自动检测并配置计算设备 (CPU / GPU)</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E5E7EB"/>
                </a:solidFill>
                <a:latin typeface="Roboto Mono"/>
                <a:ea typeface="Roboto Mono"/>
                <a:cs typeface="Roboto Mono"/>
                <a:sym typeface="Roboto Mono"/>
              </a:rPr>
              <a:t>device = torch.device(</a:t>
            </a:r>
            <a:r>
              <a:rPr lang="en-US" sz="1400" b="0" i="0" u="none" strike="noStrike">
                <a:solidFill>
                  <a:srgbClr val="A7F3D0"/>
                </a:solidFill>
                <a:latin typeface="Roboto Mono"/>
                <a:ea typeface="Roboto Mono"/>
                <a:cs typeface="Roboto Mono"/>
                <a:sym typeface="Roboto Mono"/>
              </a:rPr>
              <a:t>'cuda'</a:t>
            </a:r>
            <a:r>
              <a:rPr lang="en-US" sz="1400" b="0" i="0" u="none" strike="noStrike">
                <a:solidFill>
                  <a:srgbClr val="C084FC"/>
                </a:solidFill>
                <a:latin typeface="Roboto Mono"/>
                <a:ea typeface="Roboto Mono"/>
                <a:cs typeface="Roboto Mono"/>
                <a:sym typeface="Roboto Mono"/>
              </a:rPr>
              <a:t>if</a:t>
            </a:r>
            <a:r>
              <a:rPr lang="en-US" sz="1400" b="0" i="0" u="none" strike="noStrike">
                <a:solidFill>
                  <a:srgbClr val="E5E7EB"/>
                </a:solidFill>
                <a:latin typeface="Roboto Mono"/>
                <a:ea typeface="Roboto Mono"/>
                <a:cs typeface="Roboto Mono"/>
                <a:sym typeface="Roboto Mono"/>
              </a:rPr>
              <a:t>torch.cuda.is_available()</a:t>
            </a:r>
            <a:r>
              <a:rPr lang="en-US" sz="1400" b="0" i="0" u="none" strike="noStrike">
                <a:solidFill>
                  <a:srgbClr val="C084FC"/>
                </a:solidFill>
                <a:latin typeface="Roboto Mono"/>
                <a:ea typeface="Roboto Mono"/>
                <a:cs typeface="Roboto Mono"/>
                <a:sym typeface="Roboto Mono"/>
              </a:rPr>
              <a:t>else</a:t>
            </a:r>
            <a:r>
              <a:rPr lang="en-US" sz="1400" b="0" i="0" u="none" strike="noStrike">
                <a:solidFill>
                  <a:srgbClr val="A7F3D0"/>
                </a:solidFill>
                <a:latin typeface="Roboto Mono"/>
                <a:ea typeface="Roboto Mono"/>
                <a:cs typeface="Roboto Mono"/>
                <a:sym typeface="Roboto Mono"/>
              </a:rPr>
              <a:t>'cpu'</a:t>
            </a:r>
            <a:r>
              <a:rPr lang="en-US" sz="1400" b="0" i="0" u="none" strike="noStrike">
                <a:solidFill>
                  <a:srgbClr val="E5E7EB"/>
                </a:solidFill>
                <a:latin typeface="Roboto Mono"/>
                <a:ea typeface="Roboto Mono"/>
                <a:cs typeface="Roboto Mono"/>
                <a:sym typeface="Roboto Mono"/>
              </a:rPr>
              <a:t>)</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6B7280"/>
                </a:solidFill>
                <a:latin typeface="Roboto Mono"/>
                <a:ea typeface="Roboto Mono"/>
                <a:cs typeface="Roboto Mono"/>
                <a:sym typeface="Roboto Mono"/>
              </a:rPr>
              <a:t># 3. 将数据迁移至目标设备，确保数据与模型同端</a:t>
            </a:r>
            <a:br>
              <a:rPr lang="en-US" sz="1400" b="0" i="0" u="none" strike="noStrike">
                <a:solidFill>
                  <a:srgbClr val="1F2329"/>
                </a:solidFill>
                <a:latin typeface="Roboto Mono"/>
                <a:ea typeface="Roboto Mono"/>
                <a:cs typeface="Roboto Mono"/>
                <a:sym typeface="Roboto Mono"/>
              </a:rPr>
            </a:br>
            <a:r>
              <a:rPr lang="en-US" sz="1400" b="0" i="0" u="none" strike="noStrike">
                <a:solidFill>
                  <a:srgbClr val="E5E7EB"/>
                </a:solidFill>
                <a:latin typeface="Roboto Mono"/>
                <a:ea typeface="Roboto Mono"/>
                <a:cs typeface="Roboto Mono"/>
                <a:sym typeface="Roboto Mono"/>
              </a:rPr>
              <a:t>X, y = X.to(device), y.to(device)</a:t>
            </a:r>
            <a:endParaRPr lang="en-US" sz="1100"/>
          </a:p>
        </p:txBody>
      </p:sp>
      <p:sp>
        <p:nvSpPr>
          <p:cNvPr id="10" name="AutoShape 10"/>
          <p:cNvSpPr/>
          <p:nvPr/>
        </p:nvSpPr>
        <p:spPr>
          <a:xfrm>
            <a:off x="762000" y="5778500"/>
            <a:ext cx="10668000" cy="635000"/>
          </a:xfrm>
          <a:prstGeom prst="roundRect">
            <a:avLst>
              <a:gd name="adj" fmla="val 0"/>
            </a:avLst>
          </a:prstGeom>
          <a:solidFill>
            <a:srgbClr val="EFF6FF">
              <a:alpha val="7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943600"/>
            <a:ext cx="304800" cy="304800"/>
          </a:xfrm>
          <a:prstGeom prst="rect">
            <a:avLst/>
          </a:prstGeom>
        </p:spPr>
      </p:pic>
      <p:sp>
        <p:nvSpPr>
          <p:cNvPr id="12" name="AutoShape 12"/>
          <p:cNvSpPr/>
          <p:nvPr/>
        </p:nvSpPr>
        <p:spPr>
          <a:xfrm>
            <a:off x="1397000" y="5905500"/>
            <a:ext cx="990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E40AF"/>
                </a:solidFill>
                <a:latin typeface="Noto Sans SC"/>
                <a:ea typeface="Noto Sans SC"/>
                <a:cs typeface="Noto Sans SC"/>
                <a:sym typeface="Noto Sans SC"/>
              </a:rPr>
              <a:t>核心提示：</a:t>
            </a:r>
            <a:r>
              <a:rPr lang="en-US" sz="1400" b="0" i="0" u="none" strike="noStrike">
                <a:solidFill>
                  <a:srgbClr val="374151"/>
                </a:solidFill>
                <a:latin typeface="Noto Sans SC"/>
                <a:ea typeface="Noto Sans SC"/>
                <a:cs typeface="Noto Sans SC"/>
                <a:sym typeface="Noto Sans SC"/>
              </a:rPr>
              <a:t>务必确保输入数据张量与模型参数位于同一计算设备上，否则会导致 RuntimeError。使用 .to(device) 方法是实现这一目标的标准做法。</a:t>
            </a:r>
            <a:endParaRPr lang="en-US" sz="11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4. 步骤三：定义模型、损失函数和优化器</a:t>
            </a:r>
            <a:endParaRPr lang="en-US" sz="1100"/>
          </a:p>
        </p:txBody>
      </p:sp>
      <p:sp>
        <p:nvSpPr>
          <p:cNvPr id="4" name="AutoShape 4"/>
          <p:cNvSpPr/>
          <p:nvPr/>
        </p:nvSpPr>
        <p:spPr>
          <a:xfrm>
            <a:off x="762000" y="1905000"/>
            <a:ext cx="10668000" cy="508000"/>
          </a:xfrm>
          <a:prstGeom prst="roundRect">
            <a:avLst>
              <a:gd name="adj" fmla="val 0"/>
            </a:avLst>
          </a:prstGeom>
          <a:solidFill>
            <a:srgbClr val="1F2937">
              <a:alpha val="95000"/>
            </a:srgbClr>
          </a:solidFill>
          <a:ln cap="flat" cmpd="sng">
            <a:solidFill>
              <a:srgbClr val="0E141E">
                <a:alpha val="9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082800"/>
            <a:ext cx="152400" cy="152400"/>
          </a:xfrm>
          <a:prstGeom prst="ellipse">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95400" y="2082800"/>
            <a:ext cx="152400" cy="152400"/>
          </a:xfrm>
          <a:prstGeom prst="ellipse">
            <a:avLst/>
          </a:prstGeom>
          <a:solidFill>
            <a:srgbClr val="EAB308">
              <a:alpha val="100000"/>
            </a:srgbClr>
          </a:solidFill>
          <a:ln cap="flat" cmpd="sng">
            <a:solidFill>
              <a:srgbClr val="D19E00">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574800" y="2082800"/>
            <a:ext cx="152400" cy="152400"/>
          </a:xfrm>
          <a:prstGeom prst="ellipse">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968500" y="2006600"/>
            <a:ext cx="381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9CA3AF"/>
                </a:solidFill>
                <a:latin typeface="Source Code Pro"/>
                <a:ea typeface="Source Code Pro"/>
                <a:cs typeface="Source Code Pro"/>
                <a:sym typeface="Source Code Pro"/>
              </a:rPr>
              <a:t>model_setup.py</a:t>
            </a:r>
            <a:endParaRPr lang="en-US" sz="1100"/>
          </a:p>
        </p:txBody>
      </p:sp>
      <p:sp>
        <p:nvSpPr>
          <p:cNvPr id="9" name="AutoShape 9"/>
          <p:cNvSpPr/>
          <p:nvPr/>
        </p:nvSpPr>
        <p:spPr>
          <a:xfrm>
            <a:off x="762000" y="2413000"/>
            <a:ext cx="10668000" cy="2984500"/>
          </a:xfrm>
          <a:prstGeom prst="roundRect">
            <a:avLst>
              <a:gd name="adj" fmla="val 0"/>
            </a:avLst>
          </a:prstGeom>
          <a:solidFill>
            <a:srgbClr val="1F2937">
              <a:alpha val="80000"/>
            </a:srgbClr>
          </a:solidFill>
          <a:ln w="12700" cap="flat" cmpd="sng">
            <a:solidFill>
              <a:srgbClr val="4B5563">
                <a:alpha val="6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016000" y="26035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9CA3AF"/>
                </a:solidFill>
                <a:latin typeface="Source Code Pro"/>
                <a:ea typeface="Source Code Pro"/>
                <a:cs typeface="Source Code Pro"/>
                <a:sym typeface="Source Code Pro"/>
              </a:rPr>
              <a:t># 1. 定义线性回归模型 (输入特征:面积, 输出特征:价格)</a:t>
            </a:r>
            <a:br>
              <a:rPr lang="en-US" sz="1600" b="0" i="0" u="none" strike="noStrike">
                <a:solidFill>
                  <a:srgbClr val="1F2329"/>
                </a:solidFill>
                <a:latin typeface="Source Code Pro"/>
                <a:ea typeface="Source Code Pro"/>
                <a:cs typeface="Source Code Pro"/>
                <a:sym typeface="Source Code Pro"/>
              </a:rPr>
            </a:br>
            <a:r>
              <a:rPr lang="en-US" sz="1500" b="0" i="0" u="none" strike="noStrike">
                <a:solidFill>
                  <a:srgbClr val="F97316"/>
                </a:solidFill>
                <a:latin typeface="Source Code Pro"/>
                <a:ea typeface="Source Code Pro"/>
                <a:cs typeface="Source Code Pro"/>
                <a:sym typeface="Source Code Pro"/>
              </a:rPr>
              <a:t>model</a:t>
            </a:r>
            <a:r>
              <a:rPr lang="en-US" sz="1500" b="0" i="0" u="none" strike="noStrike">
                <a:solidFill>
                  <a:srgbClr val="E5E7EB"/>
                </a:solidFill>
                <a:latin typeface="Source Code Pro"/>
                <a:ea typeface="Source Code Pro"/>
                <a:cs typeface="Source Code Pro"/>
                <a:sym typeface="Source Code Pro"/>
              </a:rPr>
              <a:t>=</a:t>
            </a:r>
            <a:r>
              <a:rPr lang="en-US" sz="1500" b="0" i="0" u="none" strike="noStrike">
                <a:solidFill>
                  <a:srgbClr val="60A5FA"/>
                </a:solidFill>
                <a:latin typeface="Source Code Pro"/>
                <a:ea typeface="Source Code Pro"/>
                <a:cs typeface="Source Code Pro"/>
                <a:sym typeface="Source Code Pro"/>
              </a:rPr>
              <a:t>nn.Linear</a:t>
            </a:r>
            <a:r>
              <a:rPr lang="en-US" sz="1500" b="0" i="0" u="none" strike="noStrike">
                <a:solidFill>
                  <a:srgbClr val="E5E7EB"/>
                </a:solidFill>
                <a:latin typeface="Source Code Pro"/>
                <a:ea typeface="Source Code Pro"/>
                <a:cs typeface="Source Code Pro"/>
                <a:sym typeface="Source Code Pro"/>
              </a:rPr>
              <a:t>(in_features=1, out_features=1).</a:t>
            </a:r>
            <a:r>
              <a:rPr lang="en-US" sz="1500" b="0" i="0" u="none" strike="noStrike">
                <a:solidFill>
                  <a:srgbClr val="A78BFA"/>
                </a:solidFill>
                <a:latin typeface="Source Code Pro"/>
                <a:ea typeface="Source Code Pro"/>
                <a:cs typeface="Source Code Pro"/>
                <a:sym typeface="Source Code Pro"/>
              </a:rPr>
              <a:t>to</a:t>
            </a:r>
            <a:r>
              <a:rPr lang="en-US" sz="1500" b="0" i="0" u="none" strike="noStrike">
                <a:solidFill>
                  <a:srgbClr val="E5E7EB"/>
                </a:solidFill>
                <a:latin typeface="Source Code Pro"/>
                <a:ea typeface="Source Code Pro"/>
                <a:cs typeface="Source Code Pro"/>
                <a:sym typeface="Source Code Pro"/>
              </a:rPr>
              <a:t>(device)</a:t>
            </a:r>
            <a:endParaRPr lang="en-US" sz="1100"/>
          </a:p>
        </p:txBody>
      </p:sp>
      <p:cxnSp>
        <p:nvCxnSpPr>
          <p:cNvPr id="11" name="Connector 11"/>
          <p:cNvCxnSpPr/>
          <p:nvPr/>
        </p:nvCxnSpPr>
        <p:spPr>
          <a:xfrm rot="-4297">
            <a:off x="1016004" y="3422650"/>
            <a:ext cx="10160000" cy="12700"/>
          </a:xfrm>
          <a:prstGeom prst="straightConnector1">
            <a:avLst/>
          </a:prstGeom>
          <a:solidFill>
            <a:srgbClr val="DEE0E3">
              <a:alpha val="100000"/>
            </a:srgbClr>
          </a:solidFill>
          <a:ln w="12700" cap="flat" cmpd="sng">
            <a:solidFill>
              <a:srgbClr val="4B5563">
                <a:alpha val="40000"/>
              </a:srgbClr>
            </a:solidFill>
            <a:prstDash val="dash"/>
            <a:round/>
            <a:headEnd type="none" w="med" len="med"/>
            <a:tailEnd type="none" w="med" len="med"/>
          </a:ln>
        </p:spPr>
      </p:cxnSp>
      <p:sp>
        <p:nvSpPr>
          <p:cNvPr id="12" name="AutoShape 12"/>
          <p:cNvSpPr/>
          <p:nvPr/>
        </p:nvSpPr>
        <p:spPr>
          <a:xfrm>
            <a:off x="1016000" y="3556000"/>
            <a:ext cx="1016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9CA3AF"/>
                </a:solidFill>
                <a:latin typeface="Source Code Pro"/>
                <a:ea typeface="Source Code Pro"/>
                <a:cs typeface="Source Code Pro"/>
                <a:sym typeface="Source Code Pro"/>
              </a:rPr>
              <a:t># 2. 定义损失函数 (使用均方误差 MSE 衡量误差)</a:t>
            </a:r>
            <a:br>
              <a:rPr lang="en-US" sz="1600" b="0" i="0" u="none" strike="noStrike">
                <a:solidFill>
                  <a:srgbClr val="1F2329"/>
                </a:solidFill>
                <a:latin typeface="Source Code Pro"/>
                <a:ea typeface="Source Code Pro"/>
                <a:cs typeface="Source Code Pro"/>
                <a:sym typeface="Source Code Pro"/>
              </a:rPr>
            </a:br>
            <a:r>
              <a:rPr lang="en-US" sz="1500" b="0" i="0" u="none" strike="noStrike">
                <a:solidFill>
                  <a:srgbClr val="F97316"/>
                </a:solidFill>
                <a:latin typeface="Source Code Pro"/>
                <a:ea typeface="Source Code Pro"/>
                <a:cs typeface="Source Code Pro"/>
                <a:sym typeface="Source Code Pro"/>
              </a:rPr>
              <a:t>criterion</a:t>
            </a:r>
            <a:r>
              <a:rPr lang="en-US" sz="1500" b="0" i="0" u="none" strike="noStrike">
                <a:solidFill>
                  <a:srgbClr val="E5E7EB"/>
                </a:solidFill>
                <a:latin typeface="Source Code Pro"/>
                <a:ea typeface="Source Code Pro"/>
                <a:cs typeface="Source Code Pro"/>
                <a:sym typeface="Source Code Pro"/>
              </a:rPr>
              <a:t>=</a:t>
            </a:r>
            <a:r>
              <a:rPr lang="en-US" sz="1500" b="0" i="0" u="none" strike="noStrike">
                <a:solidFill>
                  <a:srgbClr val="60A5FA"/>
                </a:solidFill>
                <a:latin typeface="Source Code Pro"/>
                <a:ea typeface="Source Code Pro"/>
                <a:cs typeface="Source Code Pro"/>
                <a:sym typeface="Source Code Pro"/>
              </a:rPr>
              <a:t>nn.MSELoss</a:t>
            </a:r>
            <a:r>
              <a:rPr lang="en-US" sz="1500" b="0" i="0" u="none" strike="noStrike">
                <a:solidFill>
                  <a:srgbClr val="E5E7EB"/>
                </a:solidFill>
                <a:latin typeface="Source Code Pro"/>
                <a:ea typeface="Source Code Pro"/>
                <a:cs typeface="Source Code Pro"/>
                <a:sym typeface="Source Code Pro"/>
              </a:rPr>
              <a:t>()</a:t>
            </a:r>
            <a:endParaRPr lang="en-US" sz="1100"/>
          </a:p>
        </p:txBody>
      </p:sp>
      <p:cxnSp>
        <p:nvCxnSpPr>
          <p:cNvPr id="13" name="Connector 13"/>
          <p:cNvCxnSpPr/>
          <p:nvPr/>
        </p:nvCxnSpPr>
        <p:spPr>
          <a:xfrm rot="-4297">
            <a:off x="1016004" y="4311650"/>
            <a:ext cx="10160000" cy="12700"/>
          </a:xfrm>
          <a:prstGeom prst="straightConnector1">
            <a:avLst/>
          </a:prstGeom>
          <a:solidFill>
            <a:srgbClr val="DEE0E3">
              <a:alpha val="100000"/>
            </a:srgbClr>
          </a:solidFill>
          <a:ln w="12700" cap="flat" cmpd="sng">
            <a:solidFill>
              <a:srgbClr val="4B5563">
                <a:alpha val="40000"/>
              </a:srgbClr>
            </a:solidFill>
            <a:prstDash val="dash"/>
            <a:round/>
            <a:headEnd type="none" w="med" len="med"/>
            <a:tailEnd type="none" w="med" len="med"/>
          </a:ln>
        </p:spPr>
      </p:cxnSp>
      <p:sp>
        <p:nvSpPr>
          <p:cNvPr id="14" name="AutoShape 14"/>
          <p:cNvSpPr/>
          <p:nvPr/>
        </p:nvSpPr>
        <p:spPr>
          <a:xfrm>
            <a:off x="1016000" y="4445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9CA3AF"/>
                </a:solidFill>
                <a:latin typeface="Source Code Pro"/>
                <a:ea typeface="Source Code Pro"/>
                <a:cs typeface="Source Code Pro"/>
                <a:sym typeface="Source Code Pro"/>
              </a:rPr>
              <a:t># 3. 定义优化器 (随机梯度下降 SGD 更新参数)</a:t>
            </a:r>
            <a:br>
              <a:rPr lang="en-US" sz="1600" b="0" i="0" u="none" strike="noStrike">
                <a:solidFill>
                  <a:srgbClr val="1F2329"/>
                </a:solidFill>
                <a:latin typeface="Source Code Pro"/>
                <a:ea typeface="Source Code Pro"/>
                <a:cs typeface="Source Code Pro"/>
                <a:sym typeface="Source Code Pro"/>
              </a:rPr>
            </a:br>
            <a:r>
              <a:rPr lang="en-US" sz="1500" b="0" i="0" u="none" strike="noStrike">
                <a:solidFill>
                  <a:srgbClr val="F97316"/>
                </a:solidFill>
                <a:latin typeface="Source Code Pro"/>
                <a:ea typeface="Source Code Pro"/>
                <a:cs typeface="Source Code Pro"/>
                <a:sym typeface="Source Code Pro"/>
              </a:rPr>
              <a:t>optimizer</a:t>
            </a:r>
            <a:r>
              <a:rPr lang="en-US" sz="1500" b="0" i="0" u="none" strike="noStrike">
                <a:solidFill>
                  <a:srgbClr val="E5E7EB"/>
                </a:solidFill>
                <a:latin typeface="Source Code Pro"/>
                <a:ea typeface="Source Code Pro"/>
                <a:cs typeface="Source Code Pro"/>
                <a:sym typeface="Source Code Pro"/>
              </a:rPr>
              <a:t>=</a:t>
            </a:r>
            <a:r>
              <a:rPr lang="en-US" sz="1500" b="0" i="0" u="none" strike="noStrike">
                <a:solidFill>
                  <a:srgbClr val="60A5FA"/>
                </a:solidFill>
                <a:latin typeface="Source Code Pro"/>
                <a:ea typeface="Source Code Pro"/>
                <a:cs typeface="Source Code Pro"/>
                <a:sym typeface="Source Code Pro"/>
              </a:rPr>
              <a:t>torch.optim.SGD</a:t>
            </a:r>
            <a:r>
              <a:rPr lang="en-US" sz="1500" b="0" i="0" u="none" strike="noStrike">
                <a:solidFill>
                  <a:srgbClr val="E5E7EB"/>
                </a:solidFill>
                <a:latin typeface="Source Code Pro"/>
                <a:ea typeface="Source Code Pro"/>
                <a:cs typeface="Source Code Pro"/>
                <a:sym typeface="Source Code Pro"/>
              </a:rPr>
              <a:t>(model.parameters(), lr=</a:t>
            </a:r>
            <a:r>
              <a:rPr lang="en-US" sz="1500" b="0" i="0" u="none" strike="noStrike">
                <a:solidFill>
                  <a:srgbClr val="34D399"/>
                </a:solidFill>
                <a:latin typeface="Source Code Pro"/>
                <a:ea typeface="Source Code Pro"/>
                <a:cs typeface="Source Code Pro"/>
                <a:sym typeface="Source Code Pro"/>
              </a:rPr>
              <a:t>0.0001</a:t>
            </a:r>
            <a:r>
              <a:rPr lang="en-US" sz="1500" b="0" i="0" u="none" strike="noStrike">
                <a:solidFill>
                  <a:srgbClr val="E5E7EB"/>
                </a:solidFill>
                <a:latin typeface="Source Code Pro"/>
                <a:ea typeface="Source Code Pro"/>
                <a:cs typeface="Source Code Pro"/>
                <a:sym typeface="Source Code Pro"/>
              </a:rPr>
              <a:t>)</a:t>
            </a:r>
            <a:endParaRPr lang="en-US" sz="1100"/>
          </a:p>
        </p:txBody>
      </p:sp>
      <p:sp>
        <p:nvSpPr>
          <p:cNvPr id="15" name="AutoShape 15"/>
          <p:cNvSpPr/>
          <p:nvPr/>
        </p:nvSpPr>
        <p:spPr>
          <a:xfrm>
            <a:off x="762000" y="5715000"/>
            <a:ext cx="10668000" cy="698500"/>
          </a:xfrm>
          <a:prstGeom prst="roundRect">
            <a:avLst>
              <a:gd name="adj" fmla="val 0"/>
            </a:avLst>
          </a:prstGeom>
          <a:solidFill>
            <a:srgbClr val="F3F4F6">
              <a:alpha val="7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0600" y="5918200"/>
            <a:ext cx="279400" cy="279400"/>
          </a:xfrm>
          <a:prstGeom prst="rect">
            <a:avLst/>
          </a:prstGeom>
        </p:spPr>
      </p:pic>
      <p:sp>
        <p:nvSpPr>
          <p:cNvPr id="17" name="AutoShape 17"/>
          <p:cNvSpPr/>
          <p:nvPr/>
        </p:nvSpPr>
        <p:spPr>
          <a:xfrm>
            <a:off x="1397000" y="5816600"/>
            <a:ext cx="990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a:ea typeface="Noto Sans SC"/>
                <a:cs typeface="Noto Sans SC"/>
                <a:sym typeface="Noto Sans SC"/>
              </a:rPr>
              <a:t>💡 核心技巧：</a:t>
            </a:r>
            <a:r>
              <a:rPr lang="en-US" sz="1400" b="0" i="0" u="none" strike="noStrike">
                <a:solidFill>
                  <a:srgbClr val="374151"/>
                </a:solidFill>
                <a:latin typeface="Noto Sans SC"/>
                <a:ea typeface="Noto Sans SC"/>
                <a:cs typeface="Noto Sans SC"/>
                <a:sym typeface="Noto Sans SC"/>
              </a:rPr>
              <a:t>学习率 (lr) 决定了参数更新的步长。设置过小会导致模型收敛极慢，过大则可能在最优解附近震荡甚至无法收敛，建议根据数据规模从小值开始尝试。</a:t>
            </a:r>
            <a:endParaRPr lang="en-US" sz="11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5. 步骤四：训练模型</a:t>
            </a:r>
            <a:endParaRPr lang="en-US" sz="1100"/>
          </a:p>
        </p:txBody>
      </p:sp>
      <p:sp>
        <p:nvSpPr>
          <p:cNvPr id="4" name="AutoShape 4"/>
          <p:cNvSpPr/>
          <p:nvPr/>
        </p:nvSpPr>
        <p:spPr>
          <a:xfrm>
            <a:off x="762000" y="1778000"/>
            <a:ext cx="10668000" cy="3302000"/>
          </a:xfrm>
          <a:prstGeom prst="roundRect">
            <a:avLst>
              <a:gd name="adj" fmla="val 0"/>
            </a:avLst>
          </a:prstGeom>
          <a:solidFill>
            <a:srgbClr val="1F2937">
              <a:alpha val="88000"/>
            </a:srgbClr>
          </a:solidFill>
          <a:ln w="12700" cap="flat" cmpd="sng">
            <a:solidFill>
              <a:srgbClr val="4B5563">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032000"/>
            <a:ext cx="101600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9CA3AF"/>
                </a:solidFill>
                <a:latin typeface="Source Code Pro"/>
                <a:ea typeface="Source Code Pro"/>
                <a:cs typeface="Source Code Pro"/>
                <a:sym typeface="Source Code Pro"/>
              </a:rPr>
              <a:t># 1. 配置超参数与初始化</a:t>
            </a:r>
            <a:endParaRPr lang="en-US" sz="1100"/>
          </a:p>
          <a:p>
            <a:pPr marL="0" indent="0" algn="l">
              <a:lnSpc>
                <a:spcPct val="125000"/>
              </a:lnSpc>
            </a:pPr>
            <a:r>
              <a:rPr lang="en-US" sz="1400" b="0" i="0" u="none" strike="noStrike">
                <a:solidFill>
                  <a:srgbClr val="E5E7EB"/>
                </a:solidFill>
                <a:latin typeface="Source Code Pro"/>
                <a:ea typeface="Source Code Pro"/>
                <a:cs typeface="Source Code Pro"/>
                <a:sym typeface="Source Code Pro"/>
              </a:rPr>
              <a:t>epochs = 1000; losses = []</a:t>
            </a:r>
          </a:p>
          <a:p>
            <a:pPr marL="0" indent="0" algn="l">
              <a:lnSpc>
                <a:spcPct val="125000"/>
              </a:lnSpc>
            </a:pPr>
            <a:r>
              <a:rPr lang="en-US" sz="1400" b="0" i="0" u="none" strike="noStrike">
                <a:solidFill>
                  <a:srgbClr val="60A5FA"/>
                </a:solidFill>
                <a:latin typeface="Source Code Pro"/>
                <a:ea typeface="Source Code Pro"/>
                <a:cs typeface="Source Code Pro"/>
                <a:sym typeface="Source Code Pro"/>
              </a:rPr>
              <a:t>for</a:t>
            </a:r>
            <a:r>
              <a:rPr lang="en-US" sz="1400" b="0" i="0" u="none" strike="noStrike">
                <a:solidFill>
                  <a:srgbClr val="E5E7EB"/>
                </a:solidFill>
                <a:latin typeface="Source Code Pro"/>
                <a:ea typeface="Source Code Pro"/>
                <a:cs typeface="Source Code Pro"/>
                <a:sym typeface="Source Code Pro"/>
              </a:rPr>
              <a:t>epoch</a:t>
            </a:r>
            <a:r>
              <a:rPr lang="en-US" sz="1400" b="0" i="0" u="none" strike="noStrike">
                <a:solidFill>
                  <a:srgbClr val="60A5FA"/>
                </a:solidFill>
                <a:latin typeface="Source Code Pro"/>
                <a:ea typeface="Source Code Pro"/>
                <a:cs typeface="Source Code Pro"/>
                <a:sym typeface="Source Code Pro"/>
              </a:rPr>
              <a:t>in</a:t>
            </a:r>
            <a:r>
              <a:rPr lang="en-US" sz="1400" b="0" i="0" u="none" strike="noStrike">
                <a:solidFill>
                  <a:srgbClr val="E5E7EB"/>
                </a:solidFill>
                <a:latin typeface="Source Code Pro"/>
                <a:ea typeface="Source Code Pro"/>
                <a:cs typeface="Source Code Pro"/>
                <a:sym typeface="Source Code Pro"/>
              </a:rPr>
              <a:t>range(epochs):</a:t>
            </a:r>
          </a:p>
          <a:p>
            <a:pPr marL="0" indent="0" algn="l">
              <a:lnSpc>
                <a:spcPct val="125000"/>
              </a:lnSpc>
            </a:pPr>
            <a:r>
              <a:rPr lang="en-US" sz="1400" b="0" i="0" u="none" strike="noStrike">
                <a:solidFill>
                  <a:srgbClr val="E5E7EB"/>
                </a:solidFill>
                <a:latin typeface="Source Code Pro"/>
                <a:ea typeface="Source Code Pro"/>
                <a:cs typeface="Source Code Pro"/>
                <a:sym typeface="Source Code Pro"/>
              </a:rPr>
              <a:t>y_pred = model(X)</a:t>
            </a:r>
            <a:r>
              <a:rPr lang="en-US" sz="1400" b="0" i="0" u="none" strike="noStrike">
                <a:solidFill>
                  <a:srgbClr val="9CA3AF"/>
                </a:solidFill>
                <a:latin typeface="Source Code Pro"/>
                <a:ea typeface="Source Code Pro"/>
                <a:cs typeface="Source Code Pro"/>
                <a:sym typeface="Source Code Pro"/>
              </a:rPr>
              <a:t># 前向传播：计算预测值</a:t>
            </a:r>
          </a:p>
          <a:p>
            <a:pPr marL="0" indent="0" algn="l">
              <a:lnSpc>
                <a:spcPct val="125000"/>
              </a:lnSpc>
            </a:pPr>
            <a:r>
              <a:rPr lang="en-US" sz="1400" b="0" i="0" u="none" strike="noStrike">
                <a:solidFill>
                  <a:srgbClr val="E5E7EB"/>
                </a:solidFill>
                <a:latin typeface="Source Code Pro"/>
                <a:ea typeface="Source Code Pro"/>
                <a:cs typeface="Source Code Pro"/>
                <a:sym typeface="Source Code Pro"/>
              </a:rPr>
              <a:t>loss = criterion(y_pred, y)</a:t>
            </a:r>
            <a:r>
              <a:rPr lang="en-US" sz="1400" b="0" i="0" u="none" strike="noStrike">
                <a:solidFill>
                  <a:srgbClr val="9CA3AF"/>
                </a:solidFill>
                <a:latin typeface="Source Code Pro"/>
                <a:ea typeface="Source Code Pro"/>
                <a:cs typeface="Source Code Pro"/>
                <a:sym typeface="Source Code Pro"/>
              </a:rPr>
              <a:t># 计算损失：衡量误差大小</a:t>
            </a:r>
          </a:p>
          <a:p>
            <a:pPr marL="0" indent="0" algn="l">
              <a:lnSpc>
                <a:spcPct val="125000"/>
              </a:lnSpc>
            </a:pPr>
            <a:r>
              <a:rPr lang="en-US" sz="1400" b="0" i="0" u="none" strike="noStrike">
                <a:solidFill>
                  <a:srgbClr val="E5E7EB"/>
                </a:solidFill>
                <a:latin typeface="Source Code Pro"/>
                <a:ea typeface="Source Code Pro"/>
                <a:cs typeface="Source Code Pro"/>
                <a:sym typeface="Source Code Pro"/>
              </a:rPr>
              <a:t>optimizer.zero_grad(); loss.backward(); optimizer.step()</a:t>
            </a:r>
          </a:p>
          <a:p>
            <a:pPr marL="0" indent="0" algn="l">
              <a:lnSpc>
                <a:spcPct val="125000"/>
              </a:lnSpc>
            </a:pPr>
            <a:r>
              <a:rPr lang="en-US" sz="1400" b="0" i="0" u="none" strike="noStrike">
                <a:solidFill>
                  <a:srgbClr val="60A5FA"/>
                </a:solidFill>
                <a:latin typeface="Source Code Pro"/>
                <a:ea typeface="Source Code Pro"/>
                <a:cs typeface="Source Code Pro"/>
                <a:sym typeface="Source Code Pro"/>
              </a:rPr>
              <a:t>if</a:t>
            </a:r>
            <a:r>
              <a:rPr lang="en-US" sz="1400" b="0" i="0" u="none" strike="noStrike">
                <a:solidFill>
                  <a:srgbClr val="E5E7EB"/>
                </a:solidFill>
                <a:latin typeface="Source Code Pro"/>
                <a:ea typeface="Source Code Pro"/>
                <a:cs typeface="Source Code Pro"/>
                <a:sym typeface="Source Code Pro"/>
              </a:rPr>
              <a:t>(epoch+1) % 100 == 0: print(f"Epoch [{epoch+1}], Loss: {loss.item():.4f}")</a:t>
            </a:r>
          </a:p>
        </p:txBody>
      </p:sp>
      <p:sp>
        <p:nvSpPr>
          <p:cNvPr id="6" name="AutoShape 6"/>
          <p:cNvSpPr/>
          <p:nvPr/>
        </p:nvSpPr>
        <p:spPr>
          <a:xfrm>
            <a:off x="762000" y="5334000"/>
            <a:ext cx="10668000" cy="1079500"/>
          </a:xfrm>
          <a:prstGeom prst="roundRect">
            <a:avLst>
              <a:gd name="adj" fmla="val 0"/>
            </a:avLst>
          </a:prstGeom>
          <a:solidFill>
            <a:srgbClr val="F3F4F6">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5461000"/>
            <a:ext cx="1028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1F2937"/>
                </a:solidFill>
                <a:latin typeface="Noto Sans SC"/>
                <a:ea typeface="Noto Sans SC"/>
                <a:cs typeface="Noto Sans SC"/>
                <a:sym typeface="Noto Sans SC"/>
              </a:rPr>
              <a:t>关键逻辑解析：</a:t>
            </a:r>
            <a:r>
              <a:rPr lang="en-US" sz="1400" b="0" i="0" u="none" strike="noStrike">
                <a:solidFill>
                  <a:srgbClr val="374151"/>
                </a:solidFill>
                <a:latin typeface="Noto Sans SC"/>
                <a:ea typeface="Noto Sans SC"/>
                <a:cs typeface="Noto Sans SC"/>
                <a:sym typeface="Noto Sans SC"/>
              </a:rPr>
              <a:t>这是深度学习训练的核心循环（Epoch Loop）。每一轮迭代都包含“前向传播”生成预测、计算损失值衡量偏差、“反向传播”计算梯度，最后通过优化器更新模型参数。通过上千次的迭代，模型将逐渐拟合数据规律，使预测误差降至最低。</a:t>
            </a:r>
            <a:endParaRPr lang="en-US" sz="11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训练过程可视化</a:t>
            </a:r>
            <a:endParaRPr lang="en-US" sz="1100"/>
          </a:p>
        </p:txBody>
      </p:sp>
      <p:sp>
        <p:nvSpPr>
          <p:cNvPr id="4" name="AutoShape 4"/>
          <p:cNvSpPr/>
          <p:nvPr/>
        </p:nvSpPr>
        <p:spPr>
          <a:xfrm>
            <a:off x="762000" y="1905000"/>
            <a:ext cx="5334000" cy="2667000"/>
          </a:xfrm>
          <a:prstGeom prst="roundRect">
            <a:avLst>
              <a:gd name="adj" fmla="val 0"/>
            </a:avLst>
          </a:prstGeom>
          <a:solidFill>
            <a:srgbClr val="1F2937">
              <a:alpha val="90000"/>
            </a:srgbClr>
          </a:solidFill>
          <a:ln w="12700" cap="flat" cmpd="sng">
            <a:solidFill>
              <a:srgbClr val="D1D5DB">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2095500"/>
            <a:ext cx="4953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9CA3AF"/>
                </a:solidFill>
                <a:latin typeface="Consolas"/>
                <a:ea typeface="Consolas"/>
                <a:cs typeface="Consolas"/>
                <a:sym typeface="Consolas"/>
              </a:rPr>
              <a:t># 绘制损失变化曲线，监控模型收敛</a:t>
            </a:r>
            <a:br>
              <a:rPr lang="en-US" sz="1400" b="0" i="0" u="none" strike="noStrike">
                <a:solidFill>
                  <a:srgbClr val="1F2329"/>
                </a:solidFill>
                <a:latin typeface="Consolas"/>
                <a:ea typeface="Consolas"/>
                <a:cs typeface="Consolas"/>
                <a:sym typeface="Consolas"/>
              </a:rPr>
            </a:br>
            <a:r>
              <a:rPr lang="en-US" sz="1400" b="0" i="0" u="none" strike="noStrike">
                <a:solidFill>
                  <a:srgbClr val="FFCB6B"/>
                </a:solidFill>
                <a:latin typeface="Consolas"/>
                <a:ea typeface="Consolas"/>
                <a:cs typeface="Consolas"/>
                <a:sym typeface="Consolas"/>
              </a:rPr>
              <a:t>import</a:t>
            </a:r>
            <a:r>
              <a:rPr lang="en-US" sz="1400" b="0" i="0" u="none" strike="noStrike">
                <a:solidFill>
                  <a:srgbClr val="E5E7EB"/>
                </a:solidFill>
                <a:latin typeface="Consolas"/>
                <a:ea typeface="Consolas"/>
                <a:cs typeface="Consolas"/>
                <a:sym typeface="Consolas"/>
              </a:rPr>
              <a:t>matplotlib.pyplot</a:t>
            </a:r>
            <a:r>
              <a:rPr lang="en-US" sz="1400" b="0" i="0" u="none" strike="noStrike">
                <a:solidFill>
                  <a:srgbClr val="FFCB6B"/>
                </a:solidFill>
                <a:latin typeface="Consolas"/>
                <a:ea typeface="Consolas"/>
                <a:cs typeface="Consolas"/>
                <a:sym typeface="Consolas"/>
              </a:rPr>
              <a:t>as</a:t>
            </a:r>
            <a:r>
              <a:rPr lang="en-US" sz="1400" b="0" i="0" u="none" strike="noStrike">
                <a:solidFill>
                  <a:srgbClr val="E5E7EB"/>
                </a:solidFill>
                <a:latin typeface="Consolas"/>
                <a:ea typeface="Consolas"/>
                <a:cs typeface="Consolas"/>
                <a:sym typeface="Consolas"/>
              </a:rPr>
              <a:t>plt</a:t>
            </a:r>
            <a:br>
              <a:rPr lang="en-US" sz="1400" b="0" i="0" u="none" strike="noStrike">
                <a:solidFill>
                  <a:srgbClr val="1F2329"/>
                </a:solidFill>
                <a:latin typeface="Consolas"/>
                <a:ea typeface="Consolas"/>
                <a:cs typeface="Consolas"/>
                <a:sym typeface="Consolas"/>
              </a:rPr>
            </a:br>
            <a:r>
              <a:rPr lang="en-US" sz="1400" b="0" i="0" u="none" strike="noStrike">
                <a:solidFill>
                  <a:srgbClr val="E5E7EB"/>
                </a:solidFill>
                <a:latin typeface="Consolas"/>
                <a:ea typeface="Consolas"/>
                <a:cs typeface="Consolas"/>
                <a:sym typeface="Consolas"/>
              </a:rPr>
              <a:t>plt.plot(history.history[</a:t>
            </a:r>
            <a:r>
              <a:rPr lang="en-US" sz="1400" b="0" i="0" u="none" strike="noStrike">
                <a:solidFill>
                  <a:srgbClr val="98C379"/>
                </a:solidFill>
                <a:latin typeface="Consolas"/>
                <a:ea typeface="Consolas"/>
                <a:cs typeface="Consolas"/>
                <a:sym typeface="Consolas"/>
              </a:rPr>
              <a:t>'loss'</a:t>
            </a:r>
            <a:r>
              <a:rPr lang="en-US" sz="1400" b="0" i="0" u="none" strike="noStrike">
                <a:solidFill>
                  <a:srgbClr val="E5E7EB"/>
                </a:solidFill>
                <a:latin typeface="Consolas"/>
                <a:ea typeface="Consolas"/>
                <a:cs typeface="Consolas"/>
                <a:sym typeface="Consolas"/>
              </a:rPr>
              <a:t>],</a:t>
            </a:r>
            <a:r>
              <a:rPr lang="en-US" sz="1400" b="0" i="0" u="none" strike="noStrike">
                <a:solidFill>
                  <a:srgbClr val="C678DD"/>
                </a:solidFill>
                <a:latin typeface="Consolas"/>
                <a:ea typeface="Consolas"/>
                <a:cs typeface="Consolas"/>
                <a:sym typeface="Consolas"/>
              </a:rPr>
              <a:t>'r-'</a:t>
            </a:r>
            <a:r>
              <a:rPr lang="en-US" sz="1400" b="0" i="0" u="none" strike="noStrike">
                <a:solidFill>
                  <a:srgbClr val="E5E7EB"/>
                </a:solidFill>
                <a:latin typeface="Consolas"/>
                <a:ea typeface="Consolas"/>
                <a:cs typeface="Consolas"/>
                <a:sym typeface="Consolas"/>
              </a:rPr>
              <a:t>, label=</a:t>
            </a:r>
            <a:r>
              <a:rPr lang="en-US" sz="1400" b="0" i="0" u="none" strike="noStrike">
                <a:solidFill>
                  <a:srgbClr val="98C379"/>
                </a:solidFill>
                <a:latin typeface="Consolas"/>
                <a:ea typeface="Consolas"/>
                <a:cs typeface="Consolas"/>
                <a:sym typeface="Consolas"/>
              </a:rPr>
              <a:t>'Train Loss'</a:t>
            </a:r>
            <a:r>
              <a:rPr lang="en-US" sz="1400" b="0" i="0" u="none" strike="noStrike">
                <a:solidFill>
                  <a:srgbClr val="E5E7EB"/>
                </a:solidFill>
                <a:latin typeface="Consolas"/>
                <a:ea typeface="Consolas"/>
                <a:cs typeface="Consolas"/>
                <a:sym typeface="Consolas"/>
              </a:rPr>
              <a:t>)</a:t>
            </a:r>
            <a:br>
              <a:rPr lang="en-US" sz="1400" b="0" i="0" u="none" strike="noStrike">
                <a:solidFill>
                  <a:srgbClr val="1F2329"/>
                </a:solidFill>
                <a:latin typeface="Consolas"/>
                <a:ea typeface="Consolas"/>
                <a:cs typeface="Consolas"/>
                <a:sym typeface="Consolas"/>
              </a:rPr>
            </a:br>
            <a:r>
              <a:rPr lang="en-US" sz="1400" b="0" i="0" u="none" strike="noStrike">
                <a:solidFill>
                  <a:srgbClr val="E5E7EB"/>
                </a:solidFill>
                <a:latin typeface="Consolas"/>
                <a:ea typeface="Consolas"/>
                <a:cs typeface="Consolas"/>
                <a:sym typeface="Consolas"/>
              </a:rPr>
              <a:t>plt.title(</a:t>
            </a:r>
            <a:r>
              <a:rPr lang="en-US" sz="1400" b="0" i="0" u="none" strike="noStrike">
                <a:solidFill>
                  <a:srgbClr val="98C379"/>
                </a:solidFill>
                <a:latin typeface="Consolas"/>
                <a:ea typeface="Consolas"/>
                <a:cs typeface="Consolas"/>
                <a:sym typeface="Consolas"/>
              </a:rPr>
              <a:t>'Training Loss Over Epochs'</a:t>
            </a:r>
            <a:r>
              <a:rPr lang="en-US" sz="1400" b="0" i="0" u="none" strike="noStrike">
                <a:solidFill>
                  <a:srgbClr val="E5E7EB"/>
                </a:solidFill>
                <a:latin typeface="Consolas"/>
                <a:ea typeface="Consolas"/>
                <a:cs typeface="Consolas"/>
                <a:sym typeface="Consolas"/>
              </a:rPr>
              <a:t>), plt.grid(True)</a:t>
            </a:r>
            <a:br>
              <a:rPr lang="en-US" sz="1400" b="0" i="0" u="none" strike="noStrike">
                <a:solidFill>
                  <a:srgbClr val="1F2329"/>
                </a:solidFill>
                <a:latin typeface="Consolas"/>
                <a:ea typeface="Consolas"/>
                <a:cs typeface="Consolas"/>
                <a:sym typeface="Consolas"/>
              </a:rPr>
            </a:br>
            <a:r>
              <a:rPr lang="en-US" sz="1400" b="0" i="0" u="none" strike="noStrike">
                <a:solidFill>
                  <a:srgbClr val="E5E7EB"/>
                </a:solidFill>
                <a:latin typeface="Consolas"/>
                <a:ea typeface="Consolas"/>
                <a:cs typeface="Consolas"/>
                <a:sym typeface="Consolas"/>
              </a:rPr>
              <a:t>plt.show()</a:t>
            </a:r>
            <a:endParaRPr lang="en-US" sz="1100"/>
          </a:p>
        </p:txBody>
      </p:sp>
      <p:sp>
        <p:nvSpPr>
          <p:cNvPr id="6" name="AutoShape 6"/>
          <p:cNvSpPr/>
          <p:nvPr/>
        </p:nvSpPr>
        <p:spPr>
          <a:xfrm>
            <a:off x="6350000" y="1905000"/>
            <a:ext cx="5334000" cy="2667000"/>
          </a:xfrm>
          <a:prstGeom prst="roundRect">
            <a:avLst>
              <a:gd name="adj" fmla="val 0"/>
            </a:avLst>
          </a:prstGeom>
          <a:solidFill>
            <a:srgbClr val="FFFFFF">
              <a:alpha val="65000"/>
            </a:srgbClr>
          </a:solidFill>
          <a:ln w="12700" cap="flat" cmpd="sng">
            <a:solidFill>
              <a:srgbClr val="1F2937">
                <a:alpha val="1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540500" y="2095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损失曲线关键特征解析</a:t>
            </a:r>
            <a:endParaRPr lang="en-US" sz="1100"/>
          </a:p>
        </p:txBody>
      </p:sp>
      <p:sp>
        <p:nvSpPr>
          <p:cNvPr id="8" name="AutoShape 8"/>
          <p:cNvSpPr/>
          <p:nvPr/>
        </p:nvSpPr>
        <p:spPr>
          <a:xfrm>
            <a:off x="6540500" y="2603500"/>
            <a:ext cx="4953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a:t>
            </a:r>
            <a:r>
              <a:rPr lang="en-US" sz="1400" b="1" i="0" u="none" strike="noStrike">
                <a:solidFill>
                  <a:srgbClr val="374151"/>
                </a:solidFill>
                <a:latin typeface="Noto Sans SC"/>
                <a:ea typeface="Noto Sans SC"/>
                <a:cs typeface="Noto Sans SC"/>
                <a:sym typeface="Noto Sans SC"/>
              </a:rPr>
              <a:t>下降趋势：</a:t>
            </a:r>
            <a:r>
              <a:rPr lang="en-US" sz="1400" b="0" i="0" u="none" strike="noStrike">
                <a:solidFill>
                  <a:srgbClr val="374151"/>
                </a:solidFill>
                <a:latin typeface="Noto Sans SC"/>
                <a:ea typeface="Noto Sans SC"/>
                <a:cs typeface="Noto Sans SC"/>
                <a:sym typeface="Noto Sans SC"/>
              </a:rPr>
              <a:t>损失值随训练轮次持续递减，证明梯度下降算法有效，模型正在不断学习数据特征。</a:t>
            </a:r>
            <a:br>
              <a:rPr lang="en-US" sz="1400" b="0" i="0" u="none" strike="noStrike">
                <a:solidFill>
                  <a:srgbClr val="374151"/>
                </a:solidFill>
                <a:latin typeface="Noto Sans SC"/>
                <a:ea typeface="Noto Sans SC"/>
                <a:cs typeface="Noto Sans SC"/>
                <a:sym typeface="Noto Sans SC"/>
              </a:rPr>
            </a:br>
            <a:r>
              <a:rPr lang="en-US" sz="1400" b="0" i="0" u="none" strike="noStrike">
                <a:solidFill>
                  <a:srgbClr val="374151"/>
                </a:solidFill>
                <a:latin typeface="Noto Sans SC"/>
                <a:ea typeface="Noto Sans SC"/>
                <a:cs typeface="Noto Sans SC"/>
                <a:sym typeface="Noto Sans SC"/>
              </a:rPr>
              <a:t>•</a:t>
            </a:r>
            <a:r>
              <a:rPr lang="en-US" sz="1400" b="1" i="0" u="none" strike="noStrike">
                <a:solidFill>
                  <a:srgbClr val="374151"/>
                </a:solidFill>
                <a:latin typeface="Noto Sans SC"/>
                <a:ea typeface="Noto Sans SC"/>
                <a:cs typeface="Noto Sans SC"/>
                <a:sym typeface="Noto Sans SC"/>
              </a:rPr>
              <a:t>收敛状态：</a:t>
            </a:r>
            <a:r>
              <a:rPr lang="en-US" sz="1400" b="0" i="0" u="none" strike="noStrike">
                <a:solidFill>
                  <a:srgbClr val="374151"/>
                </a:solidFill>
                <a:latin typeface="Noto Sans SC"/>
                <a:ea typeface="Noto Sans SC"/>
                <a:cs typeface="Noto Sans SC"/>
                <a:sym typeface="Noto Sans SC"/>
              </a:rPr>
              <a:t>曲线后期趋于平缓，说明模型已接近最优解，拟合效果趋于稳定。</a:t>
            </a:r>
            <a:br>
              <a:rPr lang="en-US" sz="1400" b="0" i="0" u="none" strike="noStrike">
                <a:solidFill>
                  <a:srgbClr val="374151"/>
                </a:solidFill>
                <a:latin typeface="Noto Sans SC"/>
                <a:ea typeface="Noto Sans SC"/>
                <a:cs typeface="Noto Sans SC"/>
                <a:sym typeface="Noto Sans SC"/>
              </a:rPr>
            </a:br>
            <a:r>
              <a:rPr lang="en-US" sz="1400" b="0" i="0" u="none" strike="noStrike">
                <a:solidFill>
                  <a:srgbClr val="374151"/>
                </a:solidFill>
                <a:latin typeface="Noto Sans SC"/>
                <a:ea typeface="Noto Sans SC"/>
                <a:cs typeface="Noto Sans SC"/>
                <a:sym typeface="Noto Sans SC"/>
              </a:rPr>
              <a:t>•</a:t>
            </a:r>
            <a:r>
              <a:rPr lang="en-US" sz="1400" b="1" i="0" u="none" strike="noStrike">
                <a:solidFill>
                  <a:srgbClr val="374151"/>
                </a:solidFill>
                <a:latin typeface="Noto Sans SC"/>
                <a:ea typeface="Noto Sans SC"/>
                <a:cs typeface="Noto Sans SC"/>
                <a:sym typeface="Noto Sans SC"/>
              </a:rPr>
              <a:t>异常预警：</a:t>
            </a:r>
            <a:r>
              <a:rPr lang="en-US" sz="1400" b="0" i="0" u="none" strike="noStrike">
                <a:solidFill>
                  <a:srgbClr val="374151"/>
                </a:solidFill>
                <a:latin typeface="Noto Sans SC"/>
                <a:ea typeface="Noto Sans SC"/>
                <a:cs typeface="Noto Sans SC"/>
                <a:sym typeface="Noto Sans SC"/>
              </a:rPr>
              <a:t>若曲线出现震荡、停滞或回升，通常提示学习率设置不当、数据过拟合或模型结构不合理。</a:t>
            </a:r>
            <a:endParaRPr lang="en-US" sz="1100"/>
          </a:p>
        </p:txBody>
      </p:sp>
      <p:sp>
        <p:nvSpPr>
          <p:cNvPr id="9" name="AutoShape 9"/>
          <p:cNvSpPr/>
          <p:nvPr/>
        </p:nvSpPr>
        <p:spPr>
          <a:xfrm>
            <a:off x="762000" y="4889500"/>
            <a:ext cx="5334000" cy="1397000"/>
          </a:xfrm>
          <a:prstGeom prst="roundRect">
            <a:avLst>
              <a:gd name="adj" fmla="val 0"/>
            </a:avLst>
          </a:prstGeom>
          <a:solidFill>
            <a:srgbClr val="3B82F6">
              <a:alpha val="8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080000"/>
            <a:ext cx="304800" cy="304800"/>
          </a:xfrm>
          <a:prstGeom prst="rect">
            <a:avLst/>
          </a:prstGeom>
        </p:spPr>
      </p:pic>
      <p:sp>
        <p:nvSpPr>
          <p:cNvPr id="11" name="AutoShape 11"/>
          <p:cNvSpPr/>
          <p:nvPr/>
        </p:nvSpPr>
        <p:spPr>
          <a:xfrm>
            <a:off x="1397000" y="5080000"/>
            <a:ext cx="457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a:ea typeface="Noto Sans SC"/>
                <a:cs typeface="Noto Sans SC"/>
                <a:sym typeface="Noto Sans SC"/>
              </a:rPr>
              <a:t>模型有效性验证</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持续下降并最终平稳的损失曲线是模型训练健康的核心标志，意味着模型成功捕捉了数据中的规律，未出现欠拟合或梯度消失等问题。</a:t>
            </a:r>
          </a:p>
        </p:txBody>
      </p:sp>
      <p:sp>
        <p:nvSpPr>
          <p:cNvPr id="12" name="AutoShape 12"/>
          <p:cNvSpPr/>
          <p:nvPr/>
        </p:nvSpPr>
        <p:spPr>
          <a:xfrm>
            <a:off x="6350000" y="4889500"/>
            <a:ext cx="5334000" cy="1397000"/>
          </a:xfrm>
          <a:prstGeom prst="roundRect">
            <a:avLst>
              <a:gd name="adj" fmla="val 0"/>
            </a:avLst>
          </a:prstGeom>
          <a:solidFill>
            <a:srgbClr val="10B981">
              <a:alpha val="8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5080000"/>
            <a:ext cx="304800" cy="304800"/>
          </a:xfrm>
          <a:prstGeom prst="rect">
            <a:avLst/>
          </a:prstGeom>
        </p:spPr>
      </p:pic>
      <p:sp>
        <p:nvSpPr>
          <p:cNvPr id="14" name="AutoShape 14"/>
          <p:cNvSpPr/>
          <p:nvPr/>
        </p:nvSpPr>
        <p:spPr>
          <a:xfrm>
            <a:off x="6985000" y="5080000"/>
            <a:ext cx="457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59669"/>
                </a:solidFill>
                <a:latin typeface="Noto Sans SC"/>
                <a:ea typeface="Noto Sans SC"/>
                <a:cs typeface="Noto Sans SC"/>
                <a:sym typeface="Noto Sans SC"/>
              </a:rPr>
              <a:t>后续调优建议</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若损失下降缓慢，可尝试增大学习率或使用学习率调度器；若验证集损失上升，需引入Dropout或早停机制以防止过拟合。</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6. 步骤五：模型评估与预测</a:t>
            </a:r>
            <a:endParaRPr lang="en-US" sz="1100"/>
          </a:p>
        </p:txBody>
      </p:sp>
      <p:sp>
        <p:nvSpPr>
          <p:cNvPr id="4" name="AutoShape 4"/>
          <p:cNvSpPr/>
          <p:nvPr/>
        </p:nvSpPr>
        <p:spPr>
          <a:xfrm>
            <a:off x="762000" y="1778000"/>
            <a:ext cx="5270500" cy="3810000"/>
          </a:xfrm>
          <a:prstGeom prst="roundRect">
            <a:avLst>
              <a:gd name="adj" fmla="val 0"/>
            </a:avLst>
          </a:prstGeom>
          <a:solidFill>
            <a:srgbClr val="F9FAFB">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685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01. 核心代码实现</a:t>
            </a:r>
            <a:endParaRPr lang="en-US" sz="1100"/>
          </a:p>
        </p:txBody>
      </p:sp>
      <p:sp>
        <p:nvSpPr>
          <p:cNvPr id="6" name="AutoShape 6"/>
          <p:cNvSpPr/>
          <p:nvPr/>
        </p:nvSpPr>
        <p:spPr>
          <a:xfrm>
            <a:off x="952500" y="2476500"/>
            <a:ext cx="4889500" cy="2857500"/>
          </a:xfrm>
          <a:prstGeom prst="roundRect">
            <a:avLst>
              <a:gd name="adj" fmla="val 0"/>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79500" y="2603500"/>
            <a:ext cx="46990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6B7280"/>
                </a:solidFill>
                <a:latin typeface="Consolas"/>
                <a:ea typeface="Consolas"/>
                <a:cs typeface="Consolas"/>
                <a:sym typeface="Consolas"/>
              </a:rPr>
              <a:t># 提取训练得到的模型参数</a:t>
            </a:r>
            <a:br>
              <a:rPr lang="en-US" sz="1300" b="0" i="0" u="none" strike="noStrike">
                <a:solidFill>
                  <a:srgbClr val="1F2329"/>
                </a:solidFill>
                <a:latin typeface="Consolas"/>
                <a:ea typeface="Consolas"/>
                <a:cs typeface="Consolas"/>
                <a:sym typeface="Consolas"/>
              </a:rPr>
            </a:br>
            <a:r>
              <a:rPr lang="en-US" sz="1300" b="0" i="0" u="none" strike="noStrike">
                <a:solidFill>
                  <a:srgbClr val="C084FC"/>
                </a:solidFill>
                <a:latin typeface="Consolas"/>
                <a:ea typeface="Consolas"/>
                <a:cs typeface="Consolas"/>
                <a:sym typeface="Consolas"/>
              </a:rPr>
              <a:t>w_pred</a:t>
            </a:r>
            <a:r>
              <a:rPr lang="en-US" sz="1300" b="0" i="0" u="none" strike="noStrike">
                <a:solidFill>
                  <a:srgbClr val="E5E7EB"/>
                </a:solidFill>
                <a:latin typeface="Consolas"/>
                <a:ea typeface="Consolas"/>
                <a:cs typeface="Consolas"/>
                <a:sym typeface="Consolas"/>
              </a:rPr>
              <a:t>= model.weight.item()</a:t>
            </a:r>
            <a:br>
              <a:rPr lang="en-US" sz="1300" b="0" i="0" u="none" strike="noStrike">
                <a:solidFill>
                  <a:srgbClr val="1F2329"/>
                </a:solidFill>
                <a:latin typeface="Consolas"/>
                <a:ea typeface="Consolas"/>
                <a:cs typeface="Consolas"/>
                <a:sym typeface="Consolas"/>
              </a:rPr>
            </a:br>
            <a:r>
              <a:rPr lang="en-US" sz="1300" b="0" i="0" u="none" strike="noStrike">
                <a:solidFill>
                  <a:srgbClr val="C084FC"/>
                </a:solidFill>
                <a:latin typeface="Consolas"/>
                <a:ea typeface="Consolas"/>
                <a:cs typeface="Consolas"/>
                <a:sym typeface="Consolas"/>
              </a:rPr>
              <a:t>b_pred</a:t>
            </a:r>
            <a:r>
              <a:rPr lang="en-US" sz="1300" b="0" i="0" u="none" strike="noStrike">
                <a:solidFill>
                  <a:srgbClr val="E5E7EB"/>
                </a:solidFill>
                <a:latin typeface="Consolas"/>
                <a:ea typeface="Consolas"/>
                <a:cs typeface="Consolas"/>
                <a:sym typeface="Consolas"/>
              </a:rPr>
              <a:t>= model.bias.item()</a:t>
            </a:r>
            <a:br>
              <a:rPr lang="en-US" sz="1300" b="0" i="0" u="none" strike="noStrike">
                <a:solidFill>
                  <a:srgbClr val="1F2329"/>
                </a:solidFill>
                <a:latin typeface="Consolas"/>
                <a:ea typeface="Consolas"/>
                <a:cs typeface="Consolas"/>
                <a:sym typeface="Consolas"/>
              </a:rPr>
            </a:br>
            <a:r>
              <a:rPr lang="en-US" sz="1300" b="0" i="0" u="none" strike="noStrike">
                <a:solidFill>
                  <a:srgbClr val="6B7280"/>
                </a:solidFill>
                <a:latin typeface="Consolas"/>
                <a:ea typeface="Consolas"/>
                <a:cs typeface="Consolas"/>
                <a:sym typeface="Consolas"/>
              </a:rPr>
              <a:t># 预测120平米房价并输出</a:t>
            </a:r>
            <a:br>
              <a:rPr lang="en-US" sz="1300" b="0" i="0" u="none" strike="noStrike">
                <a:solidFill>
                  <a:srgbClr val="1F2329"/>
                </a:solidFill>
                <a:latin typeface="Consolas"/>
                <a:ea typeface="Consolas"/>
                <a:cs typeface="Consolas"/>
                <a:sym typeface="Consolas"/>
              </a:rPr>
            </a:br>
            <a:r>
              <a:rPr lang="en-US" sz="1300" b="0" i="0" u="none" strike="noStrike">
                <a:solidFill>
                  <a:srgbClr val="C084FC"/>
                </a:solidFill>
                <a:latin typeface="Consolas"/>
                <a:ea typeface="Consolas"/>
                <a:cs typeface="Consolas"/>
                <a:sym typeface="Consolas"/>
              </a:rPr>
              <a:t>x_new</a:t>
            </a:r>
            <a:r>
              <a:rPr lang="en-US" sz="1300" b="0" i="0" u="none" strike="noStrike">
                <a:solidFill>
                  <a:srgbClr val="E5E7EB"/>
                </a:solidFill>
                <a:latin typeface="Consolas"/>
                <a:ea typeface="Consolas"/>
                <a:cs typeface="Consolas"/>
                <a:sym typeface="Consolas"/>
              </a:rPr>
              <a:t>= torch.tensor([[120.0]]).to(device)</a:t>
            </a:r>
            <a:br>
              <a:rPr lang="en-US" sz="1300" b="0" i="0" u="none" strike="noStrike">
                <a:solidFill>
                  <a:srgbClr val="1F2329"/>
                </a:solidFill>
                <a:latin typeface="Consolas"/>
                <a:ea typeface="Consolas"/>
                <a:cs typeface="Consolas"/>
                <a:sym typeface="Consolas"/>
              </a:rPr>
            </a:br>
            <a:r>
              <a:rPr lang="en-US" sz="1300" b="0" i="0" u="none" strike="noStrike">
                <a:solidFill>
                  <a:srgbClr val="C084FC"/>
                </a:solidFill>
                <a:latin typeface="Consolas"/>
                <a:ea typeface="Consolas"/>
                <a:cs typeface="Consolas"/>
                <a:sym typeface="Consolas"/>
              </a:rPr>
              <a:t>price</a:t>
            </a:r>
            <a:r>
              <a:rPr lang="en-US" sz="1300" b="0" i="0" u="none" strike="noStrike">
                <a:solidFill>
                  <a:srgbClr val="E5E7EB"/>
                </a:solidFill>
                <a:latin typeface="Consolas"/>
                <a:ea typeface="Consolas"/>
                <a:cs typeface="Consolas"/>
                <a:sym typeface="Consolas"/>
              </a:rPr>
              <a:t>= model(x_new).item()</a:t>
            </a:r>
            <a:br>
              <a:rPr lang="en-US" sz="1300" b="0" i="0" u="none" strike="noStrike">
                <a:solidFill>
                  <a:srgbClr val="1F2329"/>
                </a:solidFill>
                <a:latin typeface="Consolas"/>
                <a:ea typeface="Consolas"/>
                <a:cs typeface="Consolas"/>
                <a:sym typeface="Consolas"/>
              </a:rPr>
            </a:br>
            <a:r>
              <a:rPr lang="en-US" sz="1300" b="0" i="0" u="none" strike="noStrike">
                <a:solidFill>
                  <a:srgbClr val="60A5FA"/>
                </a:solidFill>
                <a:latin typeface="Consolas"/>
                <a:ea typeface="Consolas"/>
                <a:cs typeface="Consolas"/>
                <a:sym typeface="Consolas"/>
              </a:rPr>
              <a:t>print</a:t>
            </a:r>
            <a:r>
              <a:rPr lang="en-US" sz="1300" b="0" i="0" u="none" strike="noStrike">
                <a:solidFill>
                  <a:srgbClr val="E5E7EB"/>
                </a:solidFill>
                <a:latin typeface="Consolas"/>
                <a:ea typeface="Consolas"/>
                <a:cs typeface="Consolas"/>
                <a:sym typeface="Consolas"/>
              </a:rPr>
              <a:t>(f"120㎡ 预测价: {price:.2f} 万元")</a:t>
            </a:r>
            <a:endParaRPr lang="en-US" sz="1100"/>
          </a:p>
        </p:txBody>
      </p:sp>
      <p:sp>
        <p:nvSpPr>
          <p:cNvPr id="8" name="AutoShape 8"/>
          <p:cNvSpPr/>
          <p:nvPr/>
        </p:nvSpPr>
        <p:spPr>
          <a:xfrm>
            <a:off x="6159500" y="1778000"/>
            <a:ext cx="5270500" cy="3810000"/>
          </a:xfrm>
          <a:prstGeom prst="roundRect">
            <a:avLst>
              <a:gd name="adj" fmla="val 0"/>
            </a:avLst>
          </a:prstGeom>
          <a:solidFill>
            <a:srgbClr val="F9FAFB">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350000" y="19685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02. 模型运行输出</a:t>
            </a:r>
            <a:endParaRPr lang="en-US" sz="1100"/>
          </a:p>
        </p:txBody>
      </p:sp>
      <p:sp>
        <p:nvSpPr>
          <p:cNvPr id="10" name="AutoShape 10"/>
          <p:cNvSpPr/>
          <p:nvPr/>
        </p:nvSpPr>
        <p:spPr>
          <a:xfrm>
            <a:off x="6350000" y="2476500"/>
            <a:ext cx="4889500" cy="2857500"/>
          </a:xfrm>
          <a:prstGeom prst="roundRect">
            <a:avLst>
              <a:gd name="adj" fmla="val 0"/>
            </a:avLst>
          </a:prstGeom>
          <a:solidFill>
            <a:srgbClr val="ECFDF5">
              <a:alpha val="10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477000" y="2603500"/>
            <a:ext cx="46990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047857"/>
                </a:solidFill>
                <a:latin typeface="Consolas"/>
                <a:ea typeface="Consolas"/>
                <a:cs typeface="Consolas"/>
                <a:sym typeface="Consolas"/>
              </a:rPr>
              <a:t>&gt; python predict.py</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 模型参数评估 ================</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预测权重: 1.9876 | 真实权重: 2.0000</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预测偏置: 4.0123 | 真实偏置: 3.0000</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120 平米房屋的预测价格为：</a:t>
            </a:r>
            <a:br>
              <a:rPr lang="en-US" sz="1600" b="0" i="0" u="none" strike="noStrike">
                <a:solidFill>
                  <a:srgbClr val="1F2329"/>
                </a:solidFill>
                <a:latin typeface="Noto Sans SC"/>
                <a:ea typeface="Noto Sans SC"/>
                <a:cs typeface="Noto Sans SC"/>
                <a:sym typeface="Noto Sans SC"/>
              </a:rPr>
            </a:br>
            <a:r>
              <a:rPr lang="en-US" sz="1600" b="1" i="0" u="none" strike="noStrike">
                <a:solidFill>
                  <a:srgbClr val="10B981"/>
                </a:solidFill>
                <a:latin typeface="Noto Sans SC"/>
                <a:ea typeface="Noto Sans SC"/>
                <a:cs typeface="Noto Sans SC"/>
                <a:sym typeface="Noto Sans SC"/>
              </a:rPr>
              <a:t>¥ 242.52 万元</a:t>
            </a:r>
            <a:endParaRPr lang="en-US" sz="1100"/>
          </a:p>
        </p:txBody>
      </p:sp>
      <p:sp>
        <p:nvSpPr>
          <p:cNvPr id="12" name="AutoShape 12"/>
          <p:cNvSpPr/>
          <p:nvPr/>
        </p:nvSpPr>
        <p:spPr>
          <a:xfrm>
            <a:off x="762000" y="5842000"/>
            <a:ext cx="10668000" cy="635000"/>
          </a:xfrm>
          <a:prstGeom prst="roundRect">
            <a:avLst>
              <a:gd name="adj" fmla="val 0"/>
            </a:avLst>
          </a:prstGeom>
          <a:solidFill>
            <a:srgbClr val="1F2937">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889000" y="59436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B5563"/>
                </a:solidFill>
                <a:latin typeface="Noto Sans SC"/>
                <a:ea typeface="Noto Sans SC"/>
                <a:cs typeface="Noto Sans SC"/>
                <a:sym typeface="Noto Sans SC"/>
              </a:rPr>
              <a:t>结论：</a:t>
            </a:r>
            <a:r>
              <a:rPr lang="en-US" sz="1400" b="0" i="0" u="none" strike="noStrike">
                <a:solidFill>
                  <a:srgbClr val="4B5563"/>
                </a:solidFill>
                <a:latin typeface="Noto Sans SC"/>
                <a:ea typeface="Noto Sans SC"/>
                <a:cs typeface="Noto Sans SC"/>
                <a:sym typeface="Noto Sans SC"/>
              </a:rPr>
              <a:t>模型参数已成功拟合，预测值与真实值高度接近，证明线性回归模型已有效学习数据规律，可用于新样本的房价估算。</a:t>
            </a:r>
            <a:endParaRPr lang="en-US" sz="11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拟合结果可视化</a:t>
            </a:r>
            <a:endParaRPr lang="en-US" sz="1100"/>
          </a:p>
        </p:txBody>
      </p:sp>
      <p:sp>
        <p:nvSpPr>
          <p:cNvPr id="4" name="AutoShape 4"/>
          <p:cNvSpPr/>
          <p:nvPr/>
        </p:nvSpPr>
        <p:spPr>
          <a:xfrm>
            <a:off x="762000" y="1778000"/>
            <a:ext cx="5207000" cy="2286000"/>
          </a:xfrm>
          <a:prstGeom prst="roundRect">
            <a:avLst>
              <a:gd name="adj" fmla="val 0"/>
            </a:avLst>
          </a:prstGeom>
          <a:solidFill>
            <a:srgbClr val="F3F4F6">
              <a:alpha val="7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68500"/>
            <a:ext cx="4826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Source Code Pro"/>
                <a:ea typeface="Source Code Pro"/>
                <a:cs typeface="Source Code Pro"/>
                <a:sym typeface="Source Code Pro"/>
              </a:rPr>
              <a:t># 切换至评估模式并准备数据</a:t>
            </a:r>
            <a:br>
              <a:rPr lang="en-US" sz="1300" b="0" i="0" u="none" strike="noStrike">
                <a:solidFill>
                  <a:srgbClr val="374151"/>
                </a:solidFill>
                <a:latin typeface="Source Code Pro"/>
                <a:ea typeface="Source Code Pro"/>
                <a:cs typeface="Source Code Pro"/>
                <a:sym typeface="Source Code Pro"/>
              </a:rPr>
            </a:br>
            <a:r>
              <a:rPr lang="en-US" sz="1300" b="0" i="0" u="none" strike="noStrike">
                <a:solidFill>
                  <a:srgbClr val="374151"/>
                </a:solidFill>
                <a:latin typeface="Source Code Pro"/>
                <a:ea typeface="Source Code Pro"/>
                <a:cs typeface="Source Code Pro"/>
                <a:sym typeface="Source Code Pro"/>
              </a:rPr>
              <a:t>model.eval()</a:t>
            </a:r>
            <a:br>
              <a:rPr lang="en-US" sz="1300" b="0" i="0" u="none" strike="noStrike">
                <a:solidFill>
                  <a:srgbClr val="374151"/>
                </a:solidFill>
                <a:latin typeface="Source Code Pro"/>
                <a:ea typeface="Source Code Pro"/>
                <a:cs typeface="Source Code Pro"/>
                <a:sym typeface="Source Code Pro"/>
              </a:rPr>
            </a:br>
            <a:r>
              <a:rPr lang="en-US" sz="1300" b="0" i="0" u="none" strike="noStrike">
                <a:solidFill>
                  <a:srgbClr val="374151"/>
                </a:solidFill>
                <a:latin typeface="Source Code Pro"/>
                <a:ea typeface="Source Code Pro"/>
                <a:cs typeface="Source Code Pro"/>
                <a:sym typeface="Source Code Pro"/>
              </a:rPr>
              <a:t>X_np = X.cpu().numpy()</a:t>
            </a:r>
            <a:br>
              <a:rPr lang="en-US" sz="1300" b="0" i="0" u="none" strike="noStrike">
                <a:solidFill>
                  <a:srgbClr val="374151"/>
                </a:solidFill>
                <a:latin typeface="Source Code Pro"/>
                <a:ea typeface="Source Code Pro"/>
                <a:cs typeface="Source Code Pro"/>
                <a:sym typeface="Source Code Pro"/>
              </a:rPr>
            </a:br>
            <a:r>
              <a:rPr lang="en-US" sz="1300" b="0" i="0" u="none" strike="noStrike">
                <a:solidFill>
                  <a:srgbClr val="374151"/>
                </a:solidFill>
                <a:latin typeface="Source Code Pro"/>
                <a:ea typeface="Source Code Pro"/>
                <a:cs typeface="Source Code Pro"/>
                <a:sym typeface="Source Code Pro"/>
              </a:rPr>
              <a:t>y_pred = model(X).detach().cpu().numpy()</a:t>
            </a:r>
            <a:br>
              <a:rPr lang="en-US" sz="1300" b="0" i="0" u="none" strike="noStrike">
                <a:solidFill>
                  <a:srgbClr val="374151"/>
                </a:solidFill>
                <a:latin typeface="Source Code Pro"/>
                <a:ea typeface="Source Code Pro"/>
                <a:cs typeface="Source Code Pro"/>
                <a:sym typeface="Source Code Pro"/>
              </a:rPr>
            </a:br>
            <a:br>
              <a:rPr lang="en-US" sz="1300" b="0" i="0" u="none" strike="noStrike">
                <a:solidFill>
                  <a:srgbClr val="374151"/>
                </a:solidFill>
                <a:latin typeface="Source Code Pro"/>
                <a:ea typeface="Source Code Pro"/>
                <a:cs typeface="Source Code Pro"/>
                <a:sym typeface="Source Code Pro"/>
              </a:rPr>
            </a:br>
            <a:r>
              <a:rPr lang="en-US" sz="1300" b="0" i="0" u="none" strike="noStrike">
                <a:solidFill>
                  <a:srgbClr val="374151"/>
                </a:solidFill>
                <a:latin typeface="Source Code Pro"/>
                <a:ea typeface="Source Code Pro"/>
                <a:cs typeface="Source Code Pro"/>
                <a:sym typeface="Source Code Pro"/>
              </a:rPr>
              <a:t># 绘制散点图与拟合线</a:t>
            </a:r>
            <a:br>
              <a:rPr lang="en-US" sz="1300" b="0" i="0" u="none" strike="noStrike">
                <a:solidFill>
                  <a:srgbClr val="374151"/>
                </a:solidFill>
                <a:latin typeface="Source Code Pro"/>
                <a:ea typeface="Source Code Pro"/>
                <a:cs typeface="Source Code Pro"/>
                <a:sym typeface="Source Code Pro"/>
              </a:rPr>
            </a:br>
            <a:r>
              <a:rPr lang="en-US" sz="1300" b="0" i="0" u="none" strike="noStrike">
                <a:solidFill>
                  <a:srgbClr val="374151"/>
                </a:solidFill>
                <a:latin typeface="Source Code Pro"/>
                <a:ea typeface="Source Code Pro"/>
                <a:cs typeface="Source Code Pro"/>
                <a:sym typeface="Source Code Pro"/>
              </a:rPr>
              <a:t>plt.scatter(X_np, y_np, alpha=0.6, label='真实数据')</a:t>
            </a:r>
            <a:br>
              <a:rPr lang="en-US" sz="1300" b="0" i="0" u="none" strike="noStrike">
                <a:solidFill>
                  <a:srgbClr val="374151"/>
                </a:solidFill>
                <a:latin typeface="Source Code Pro"/>
                <a:ea typeface="Source Code Pro"/>
                <a:cs typeface="Source Code Pro"/>
                <a:sym typeface="Source Code Pro"/>
              </a:rPr>
            </a:br>
            <a:r>
              <a:rPr lang="en-US" sz="1300" b="0" i="0" u="none" strike="noStrike">
                <a:solidFill>
                  <a:srgbClr val="374151"/>
                </a:solidFill>
                <a:latin typeface="Source Code Pro"/>
                <a:ea typeface="Source Code Pro"/>
                <a:cs typeface="Source Code Pro"/>
                <a:sym typeface="Source Code Pro"/>
              </a:rPr>
              <a:t>plt.plot(X_np, y_pred, 'r-', label='拟合直线')</a:t>
            </a:r>
            <a:br>
              <a:rPr lang="en-US" sz="1300" b="0" i="0" u="none" strike="noStrike">
                <a:solidFill>
                  <a:srgbClr val="374151"/>
                </a:solidFill>
                <a:latin typeface="Source Code Pro"/>
                <a:ea typeface="Source Code Pro"/>
                <a:cs typeface="Source Code Pro"/>
                <a:sym typeface="Source Code Pro"/>
              </a:rPr>
            </a:br>
            <a:r>
              <a:rPr lang="en-US" sz="1300" b="0" i="0" u="none" strike="noStrike">
                <a:solidFill>
                  <a:srgbClr val="374151"/>
                </a:solidFill>
                <a:latin typeface="Source Code Pro"/>
                <a:ea typeface="Source Code Pro"/>
                <a:cs typeface="Source Code Pro"/>
                <a:sym typeface="Source Code Pro"/>
              </a:rPr>
              <a:t>plt.title('回归分析结果'), plt.legend(), plt.show()</a:t>
            </a:r>
            <a:endParaRPr lang="en-US" sz="1100"/>
          </a:p>
        </p:txBody>
      </p:sp>
      <p:sp>
        <p:nvSpPr>
          <p:cNvPr id="6" name="AutoShape 6"/>
          <p:cNvSpPr/>
          <p:nvPr/>
        </p:nvSpPr>
        <p:spPr>
          <a:xfrm>
            <a:off x="762000" y="4381500"/>
            <a:ext cx="520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模型表现验证</a:t>
            </a:r>
            <a:endParaRPr lang="en-US" sz="1100"/>
          </a:p>
        </p:txBody>
      </p:sp>
      <p:sp>
        <p:nvSpPr>
          <p:cNvPr id="7" name="AutoShape 7"/>
          <p:cNvSpPr/>
          <p:nvPr/>
        </p:nvSpPr>
        <p:spPr>
          <a:xfrm>
            <a:off x="762000" y="4953000"/>
            <a:ext cx="5207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红色拟合直线精准贯穿数据点的中心分布，清晰揭示了面积与价格之间的正向线性关系。这一直观结果不仅印证了模型训练的有效性，也说明我们成功捕捉到了数据的核心规律，为后续的价格预测提供了可靠的模型支持。</a:t>
            </a:r>
            <a:endParaRPr lang="en-US" sz="1100"/>
          </a:p>
        </p:txBody>
      </p:sp>
      <p:pic>
        <p:nvPicPr>
          <p:cNvPr id="8" name="Picture 8"/>
          <p:cNvPicPr>
            <a:picLocks noChangeAspect="1"/>
          </p:cNvPicPr>
          <p:nvPr/>
        </p:nvPicPr>
        <p:blipFill>
          <a:blip r:embed="rId4"/>
          <a:srcRect l="1446" r="1446"/>
          <a:stretch>
            <a:fillRect/>
          </a:stretch>
        </p:blipFill>
        <p:spPr>
          <a:xfrm>
            <a:off x="6604000" y="1905000"/>
            <a:ext cx="3556000" cy="3556000"/>
          </a:xfrm>
          <a:prstGeom prst="rect">
            <a:avLst/>
          </a:prstGeom>
          <a:noFill/>
          <a:ln w="38100" cap="flat" cmpd="sng">
            <a:solidFill>
              <a:srgbClr val="FFFFFF">
                <a:alpha val="100000"/>
              </a:srgbClr>
            </a:solidFill>
            <a:prstDash val="solid"/>
            <a:round/>
          </a:ln>
          <a:effectLst>
            <a:outerShdw blurRad="190500" dist="76200" dir="2700000" algn="tl" rotWithShape="0">
              <a:srgbClr val="1F2937">
                <a:alpha val="10000"/>
              </a:srgbClr>
            </a:outerShdw>
          </a:effectLst>
        </p:spPr>
      </p:pic>
      <p:sp>
        <p:nvSpPr>
          <p:cNvPr id="9" name="AutoShape 9"/>
          <p:cNvSpPr/>
          <p:nvPr/>
        </p:nvSpPr>
        <p:spPr>
          <a:xfrm>
            <a:off x="6604000" y="5588000"/>
            <a:ext cx="355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6B7280"/>
                </a:solidFill>
                <a:latin typeface="Noto Sans SC"/>
                <a:ea typeface="Noto Sans SC"/>
                <a:cs typeface="Noto Sans SC"/>
                <a:sym typeface="Noto Sans SC"/>
              </a:rPr>
              <a:t>图：房屋面积与价格的线性拟合关系散点图</a:t>
            </a:r>
            <a:endParaRPr lang="en-US" sz="11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核心数据汇总表</a:t>
            </a:r>
            <a:endParaRPr lang="en-US" sz="1100"/>
          </a:p>
        </p:txBody>
      </p:sp>
      <p:sp>
        <p:nvSpPr>
          <p:cNvPr id="4" name="AutoShape 4"/>
          <p:cNvSpPr/>
          <p:nvPr/>
        </p:nvSpPr>
        <p:spPr>
          <a:xfrm>
            <a:off x="762000" y="1841500"/>
            <a:ext cx="3378200" cy="3683000"/>
          </a:xfrm>
          <a:prstGeom prst="roundRect">
            <a:avLst>
              <a:gd name="adj" fmla="val 0"/>
            </a:avLst>
          </a:prstGeom>
          <a:solidFill>
            <a:srgbClr val="F9FAFB">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65200" y="2095500"/>
            <a:ext cx="29718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Python 基础构建</a:t>
            </a:r>
            <a:endParaRPr lang="en-US" sz="1100"/>
          </a:p>
        </p:txBody>
      </p:sp>
      <p:cxnSp>
        <p:nvCxnSpPr>
          <p:cNvPr id="6" name="Connector 6"/>
          <p:cNvCxnSpPr/>
          <p:nvPr/>
        </p:nvCxnSpPr>
        <p:spPr>
          <a:xfrm rot="-14691">
            <a:off x="965214" y="2597150"/>
            <a:ext cx="29718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7" name="AutoShape 7"/>
          <p:cNvSpPr/>
          <p:nvPr/>
        </p:nvSpPr>
        <p:spPr>
          <a:xfrm>
            <a:off x="965200" y="2794000"/>
            <a:ext cx="2971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基础数据结构</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`list` / `dict` / `tuple`：构建灵活的数据存储单元，适配多样化的数据组织与访问需求。</a:t>
            </a:r>
            <a:endParaRPr lang="en-US" sz="1100"/>
          </a:p>
        </p:txBody>
      </p:sp>
      <p:sp>
        <p:nvSpPr>
          <p:cNvPr id="8" name="AutoShape 8"/>
          <p:cNvSpPr/>
          <p:nvPr/>
        </p:nvSpPr>
        <p:spPr>
          <a:xfrm>
            <a:off x="965200" y="3746500"/>
            <a:ext cx="2971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函数式编程</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`lambda` / `map` / `filter`：实现简洁的匿名逻辑与高效的序列处理，提升代码表达力。</a:t>
            </a:r>
            <a:endParaRPr lang="en-US" sz="1100"/>
          </a:p>
        </p:txBody>
      </p:sp>
      <p:sp>
        <p:nvSpPr>
          <p:cNvPr id="9" name="AutoShape 9"/>
          <p:cNvSpPr/>
          <p:nvPr/>
        </p:nvSpPr>
        <p:spPr>
          <a:xfrm>
            <a:off x="965200" y="4699000"/>
            <a:ext cx="2971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高效迭代生成</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`yield`：按需惰性生成数据，显著降低内存占用，优化大数据集的迭代效率。</a:t>
            </a:r>
            <a:endParaRPr lang="en-US" sz="1100"/>
          </a:p>
        </p:txBody>
      </p:sp>
      <p:sp>
        <p:nvSpPr>
          <p:cNvPr id="10" name="AutoShape 10"/>
          <p:cNvSpPr/>
          <p:nvPr/>
        </p:nvSpPr>
        <p:spPr>
          <a:xfrm>
            <a:off x="4394200" y="1841500"/>
            <a:ext cx="3378200" cy="3683000"/>
          </a:xfrm>
          <a:prstGeom prst="roundRect">
            <a:avLst>
              <a:gd name="adj" fmla="val 0"/>
            </a:avLst>
          </a:prstGeom>
          <a:solidFill>
            <a:srgbClr val="F9FAFB">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597400" y="2095500"/>
            <a:ext cx="29718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NumPy 数值计算</a:t>
            </a:r>
            <a:endParaRPr lang="en-US" sz="1100"/>
          </a:p>
        </p:txBody>
      </p:sp>
      <p:cxnSp>
        <p:nvCxnSpPr>
          <p:cNvPr id="12" name="Connector 12"/>
          <p:cNvCxnSpPr/>
          <p:nvPr/>
        </p:nvCxnSpPr>
        <p:spPr>
          <a:xfrm rot="-14691">
            <a:off x="4597414" y="2597150"/>
            <a:ext cx="29718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3" name="AutoShape 13"/>
          <p:cNvSpPr/>
          <p:nvPr/>
        </p:nvSpPr>
        <p:spPr>
          <a:xfrm>
            <a:off x="4597400" y="2794000"/>
            <a:ext cx="2971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多维数组核心</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`numpy.array()`：创建高性能 `ndarray` 数组，是科学计算与数据处理的基础载体。</a:t>
            </a:r>
            <a:endParaRPr lang="en-US" sz="1100"/>
          </a:p>
        </p:txBody>
      </p:sp>
      <p:sp>
        <p:nvSpPr>
          <p:cNvPr id="14" name="AutoShape 14"/>
          <p:cNvSpPr/>
          <p:nvPr/>
        </p:nvSpPr>
        <p:spPr>
          <a:xfrm>
            <a:off x="4597400" y="3746500"/>
            <a:ext cx="2971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形态与维度操作</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`.shape`：快速获取或重塑数组维度，灵活适配卷积、矩阵运算等不同计算场景。</a:t>
            </a:r>
            <a:endParaRPr lang="en-US" sz="1100"/>
          </a:p>
        </p:txBody>
      </p:sp>
      <p:sp>
        <p:nvSpPr>
          <p:cNvPr id="15" name="AutoShape 15"/>
          <p:cNvSpPr/>
          <p:nvPr/>
        </p:nvSpPr>
        <p:spPr>
          <a:xfrm>
            <a:off x="4597400" y="4699000"/>
            <a:ext cx="2971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线性代数运算</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`dot()` / `linalg.solve()`：高效完成矩阵乘法与线性方程组求解，支撑复杂数值分析。</a:t>
            </a:r>
            <a:endParaRPr lang="en-US" sz="1100"/>
          </a:p>
        </p:txBody>
      </p:sp>
      <p:sp>
        <p:nvSpPr>
          <p:cNvPr id="16" name="AutoShape 16"/>
          <p:cNvSpPr/>
          <p:nvPr/>
        </p:nvSpPr>
        <p:spPr>
          <a:xfrm>
            <a:off x="8026400" y="1841500"/>
            <a:ext cx="3378200" cy="3683000"/>
          </a:xfrm>
          <a:prstGeom prst="roundRect">
            <a:avLst>
              <a:gd name="adj" fmla="val 0"/>
            </a:avLst>
          </a:prstGeom>
          <a:solidFill>
            <a:srgbClr val="F9FAFB">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229600" y="2095500"/>
            <a:ext cx="29718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03 PyTorch 深度学习</a:t>
            </a:r>
            <a:endParaRPr lang="en-US" sz="1100"/>
          </a:p>
        </p:txBody>
      </p:sp>
      <p:cxnSp>
        <p:nvCxnSpPr>
          <p:cNvPr id="18" name="Connector 18"/>
          <p:cNvCxnSpPr/>
          <p:nvPr/>
        </p:nvCxnSpPr>
        <p:spPr>
          <a:xfrm rot="-14691">
            <a:off x="8229614" y="2597150"/>
            <a:ext cx="29718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9" name="AutoShape 19"/>
          <p:cNvSpPr/>
          <p:nvPr/>
        </p:nvSpPr>
        <p:spPr>
          <a:xfrm>
            <a:off x="8229600" y="2794000"/>
            <a:ext cx="2971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张量与设备管理</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`tensor()` / `.to(device)`：构建计算核心对象，灵活调度 CPU/GPU 资源加速训练。</a:t>
            </a:r>
            <a:endParaRPr lang="en-US" sz="1100"/>
          </a:p>
        </p:txBody>
      </p:sp>
      <p:sp>
        <p:nvSpPr>
          <p:cNvPr id="20" name="AutoShape 20"/>
          <p:cNvSpPr/>
          <p:nvPr/>
        </p:nvSpPr>
        <p:spPr>
          <a:xfrm>
            <a:off x="8229600" y="3746500"/>
            <a:ext cx="2971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自动微分机制</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`requires_grad` / `.backward()`：自动追踪计算图并反向传播，自动求解梯度。</a:t>
            </a:r>
            <a:endParaRPr lang="en-US" sz="1100"/>
          </a:p>
        </p:txBody>
      </p:sp>
      <p:sp>
        <p:nvSpPr>
          <p:cNvPr id="21" name="AutoShape 21"/>
          <p:cNvSpPr/>
          <p:nvPr/>
        </p:nvSpPr>
        <p:spPr>
          <a:xfrm>
            <a:off x="8229600" y="4699000"/>
            <a:ext cx="2971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74151"/>
                </a:solidFill>
                <a:latin typeface="Noto Sans SC"/>
                <a:ea typeface="Noto Sans SC"/>
                <a:cs typeface="Noto Sans SC"/>
                <a:sym typeface="Noto Sans SC"/>
              </a:rPr>
              <a:t>网络构建与优化</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`nn.Module` / `nn.Linear` / `SGD`：从网络层定义到损失计算与参数优化的全流程支持。</a:t>
            </a:r>
            <a:endParaRPr lang="en-US" sz="1100"/>
          </a:p>
        </p:txBody>
      </p:sp>
      <p:sp>
        <p:nvSpPr>
          <p:cNvPr id="22" name="AutoShape 22"/>
          <p:cNvSpPr/>
          <p:nvPr/>
        </p:nvSpPr>
        <p:spPr>
          <a:xfrm>
            <a:off x="762000" y="58420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4B5563"/>
                </a:solidFill>
                <a:latin typeface="Noto Sans SC"/>
                <a:ea typeface="Noto Sans SC"/>
                <a:cs typeface="Noto Sans SC"/>
                <a:sym typeface="Noto Sans SC"/>
              </a:rPr>
              <a:t>💡 掌握这些核心工具与概念，是构建稳健数据应用与深度学习模型的关键基石。</a:t>
            </a:r>
            <a:endParaRPr lang="en-US" sz="11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参考资料与信息来源</a:t>
            </a:r>
            <a:endParaRPr lang="en-US" sz="1100"/>
          </a:p>
        </p:txBody>
      </p:sp>
      <p:sp>
        <p:nvSpPr>
          <p:cNvPr id="4" name="AutoShape 4"/>
          <p:cNvSpPr/>
          <p:nvPr/>
        </p:nvSpPr>
        <p:spPr>
          <a:xfrm>
            <a:off x="762000" y="2032000"/>
            <a:ext cx="5207000" cy="1143000"/>
          </a:xfrm>
          <a:prstGeom prst="roundRect">
            <a:avLst>
              <a:gd name="adj" fmla="val 0"/>
            </a:avLst>
          </a:prstGeom>
          <a:solidFill>
            <a:srgbClr val="FFFFFF">
              <a:alpha val="6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400300"/>
            <a:ext cx="406400" cy="406400"/>
          </a:xfrm>
          <a:prstGeom prst="rect">
            <a:avLst/>
          </a:prstGeom>
        </p:spPr>
      </p:pic>
      <p:sp>
        <p:nvSpPr>
          <p:cNvPr id="6" name="AutoShape 6"/>
          <p:cNvSpPr/>
          <p:nvPr/>
        </p:nvSpPr>
        <p:spPr>
          <a:xfrm>
            <a:off x="1587500" y="2184400"/>
            <a:ext cx="419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Python 官方文档</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Python语言的核心权威指南，涵盖基础语法、标准库、进阶特性及最佳实践，是学习和查阅的最可靠依据。</a:t>
            </a:r>
          </a:p>
        </p:txBody>
      </p:sp>
      <p:sp>
        <p:nvSpPr>
          <p:cNvPr id="7" name="AutoShape 7"/>
          <p:cNvSpPr/>
          <p:nvPr/>
        </p:nvSpPr>
        <p:spPr>
          <a:xfrm>
            <a:off x="6223000" y="2032000"/>
            <a:ext cx="5207000" cy="1143000"/>
          </a:xfrm>
          <a:prstGeom prst="roundRect">
            <a:avLst>
              <a:gd name="adj" fmla="val 0"/>
            </a:avLst>
          </a:prstGeom>
          <a:solidFill>
            <a:srgbClr val="FFFFFF">
              <a:alpha val="6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400300"/>
            <a:ext cx="406400" cy="406400"/>
          </a:xfrm>
          <a:prstGeom prst="rect">
            <a:avLst/>
          </a:prstGeom>
        </p:spPr>
      </p:pic>
      <p:sp>
        <p:nvSpPr>
          <p:cNvPr id="9" name="AutoShape 9"/>
          <p:cNvSpPr/>
          <p:nvPr/>
        </p:nvSpPr>
        <p:spPr>
          <a:xfrm>
            <a:off x="7048500" y="2184400"/>
            <a:ext cx="419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NumPy 官方文档</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科学计算基础库的完整参考，详解多维数组操作、线性代数运算及数学函数库，是数据分析的基石。</a:t>
            </a:r>
          </a:p>
        </p:txBody>
      </p:sp>
      <p:sp>
        <p:nvSpPr>
          <p:cNvPr id="10" name="AutoShape 10"/>
          <p:cNvSpPr/>
          <p:nvPr/>
        </p:nvSpPr>
        <p:spPr>
          <a:xfrm>
            <a:off x="762000" y="3492500"/>
            <a:ext cx="5207000" cy="1143000"/>
          </a:xfrm>
          <a:prstGeom prst="roundRect">
            <a:avLst>
              <a:gd name="adj" fmla="val 0"/>
            </a:avLst>
          </a:prstGeom>
          <a:solidFill>
            <a:srgbClr val="FFFFFF">
              <a:alpha val="6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860800"/>
            <a:ext cx="406400" cy="406400"/>
          </a:xfrm>
          <a:prstGeom prst="rect">
            <a:avLst/>
          </a:prstGeom>
        </p:spPr>
      </p:pic>
      <p:sp>
        <p:nvSpPr>
          <p:cNvPr id="12" name="AutoShape 12"/>
          <p:cNvSpPr/>
          <p:nvPr/>
        </p:nvSpPr>
        <p:spPr>
          <a:xfrm>
            <a:off x="1587500" y="3644900"/>
            <a:ext cx="419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PyTorch 官方教程</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由开发团队维护的权威学习资源，包含从基础张量操作到高级模型构建的实战案例与API详解。</a:t>
            </a:r>
          </a:p>
        </p:txBody>
      </p:sp>
      <p:sp>
        <p:nvSpPr>
          <p:cNvPr id="13" name="AutoShape 13"/>
          <p:cNvSpPr/>
          <p:nvPr/>
        </p:nvSpPr>
        <p:spPr>
          <a:xfrm>
            <a:off x="6223000" y="3492500"/>
            <a:ext cx="5207000" cy="1143000"/>
          </a:xfrm>
          <a:prstGeom prst="roundRect">
            <a:avLst>
              <a:gd name="adj" fmla="val 0"/>
            </a:avLst>
          </a:prstGeom>
          <a:solidFill>
            <a:srgbClr val="FFFFFF">
              <a:alpha val="6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3860800"/>
            <a:ext cx="406400" cy="406400"/>
          </a:xfrm>
          <a:prstGeom prst="rect">
            <a:avLst/>
          </a:prstGeom>
        </p:spPr>
      </p:pic>
      <p:sp>
        <p:nvSpPr>
          <p:cNvPr id="15" name="AutoShape 15"/>
          <p:cNvSpPr/>
          <p:nvPr/>
        </p:nvSpPr>
        <p:spPr>
          <a:xfrm>
            <a:off x="7048500" y="3644900"/>
            <a:ext cx="419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PyTorch 中文文档</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专为中文开发者打造的本地化指南，内容与官方同步更新，语言通俗，大幅降低深度学习入门门槛。</a:t>
            </a:r>
          </a:p>
        </p:txBody>
      </p:sp>
      <p:sp>
        <p:nvSpPr>
          <p:cNvPr id="16" name="AutoShape 16"/>
          <p:cNvSpPr/>
          <p:nvPr/>
        </p:nvSpPr>
        <p:spPr>
          <a:xfrm>
            <a:off x="762000" y="4953000"/>
            <a:ext cx="10668000" cy="1143000"/>
          </a:xfrm>
          <a:prstGeom prst="roundRect">
            <a:avLst>
              <a:gd name="adj" fmla="val 0"/>
            </a:avLst>
          </a:prstGeom>
          <a:solidFill>
            <a:srgbClr val="FFFFFF">
              <a:alpha val="60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321300"/>
            <a:ext cx="406400" cy="406400"/>
          </a:xfrm>
          <a:prstGeom prst="rect">
            <a:avLst/>
          </a:prstGeom>
        </p:spPr>
      </p:pic>
      <p:sp>
        <p:nvSpPr>
          <p:cNvPr id="18" name="AutoShape 18"/>
          <p:cNvSpPr/>
          <p:nvPr/>
        </p:nvSpPr>
        <p:spPr>
          <a:xfrm>
            <a:off x="1587500" y="5105400"/>
            <a:ext cx="965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优质技术社区与博客</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CSDN、阿里云开发者社区、掘金等平台汇聚了海量实战经验分享与疑难解答，是对官方文档的重要补充，帮助开发者快速解决实际问题。</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413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Q&amp;A</a:t>
            </a:r>
            <a:endParaRPr lang="en-US" sz="1100"/>
          </a:p>
        </p:txBody>
      </p:sp>
      <p:sp>
        <p:nvSpPr>
          <p:cNvPr id="4" name="AutoShape 4"/>
          <p:cNvSpPr/>
          <p:nvPr/>
        </p:nvSpPr>
        <p:spPr>
          <a:xfrm>
            <a:off x="0" y="38735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0" i="0" u="none" strike="noStrike">
                <a:solidFill>
                  <a:srgbClr val="FFFFFF">
                    <a:alpha val="85098"/>
                  </a:srgbClr>
                </a:solidFill>
                <a:latin typeface="Noto Sans SC"/>
                <a:ea typeface="Noto Sans SC"/>
                <a:cs typeface="Noto Sans SC"/>
                <a:sym typeface="Noto Sans SC"/>
              </a:rPr>
              <a:t>感谢观看</a:t>
            </a:r>
            <a:endParaRPr lang="en-US" sz="1100"/>
          </a:p>
        </p:txBody>
      </p:sp>
      <p:sp>
        <p:nvSpPr>
          <p:cNvPr id="5" name="AutoShape 5"/>
          <p:cNvSpPr/>
          <p:nvPr/>
        </p:nvSpPr>
        <p:spPr>
          <a:xfrm>
            <a:off x="1270000" y="5016500"/>
            <a:ext cx="965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600" b="0" i="0" u="none" strike="noStrike">
                <a:solidFill>
                  <a:srgbClr val="FFFFFF">
                    <a:alpha val="70196"/>
                  </a:srgbClr>
                </a:solidFill>
                <a:latin typeface="Noto Sans SC"/>
                <a:ea typeface="Noto Sans SC"/>
                <a:cs typeface="Noto Sans SC"/>
                <a:sym typeface="Noto Sans SC"/>
              </a:rPr>
              <a:t>希望本次分享能为您开启深度学习的新篇章，若有任何疑问或想法，</a:t>
            </a:r>
            <a:br>
              <a:rPr lang="en-US" sz="1600" b="0" i="0" u="none" strike="noStrike">
                <a:solidFill>
                  <a:srgbClr val="FFFFFF">
                    <a:alpha val="70196"/>
                  </a:srgbClr>
                </a:solidFill>
                <a:latin typeface="Noto Sans SC"/>
                <a:ea typeface="Noto Sans SC"/>
                <a:cs typeface="Noto Sans SC"/>
                <a:sym typeface="Noto Sans SC"/>
              </a:rPr>
            </a:br>
            <a:r>
              <a:rPr lang="en-US" sz="1600" b="0" i="0" u="none" strike="noStrike">
                <a:solidFill>
                  <a:srgbClr val="FFFFFF">
                    <a:alpha val="70196"/>
                  </a:srgbClr>
                </a:solidFill>
                <a:latin typeface="Noto Sans SC"/>
                <a:ea typeface="Noto Sans SC"/>
                <a:cs typeface="Noto Sans SC"/>
                <a:sym typeface="Noto Sans SC"/>
              </a:rPr>
              <a:t>欢迎随时提出，我们一起交流探讨。</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8473</Words>
  <Application>Microsoft Office PowerPoint</Application>
  <PresentationFormat>宽屏</PresentationFormat>
  <Paragraphs>803</Paragraphs>
  <Slides>63</Slides>
  <Notes>63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63</vt:i4>
      </vt:variant>
    </vt:vector>
  </HeadingPairs>
  <TitlesOfParts>
    <vt:vector size="71" baseType="lpstr">
      <vt:lpstr>Menlo</vt:lpstr>
      <vt:lpstr>Noto Sans SC</vt:lpstr>
      <vt:lpstr>Roboto Mono</vt:lpstr>
      <vt:lpstr>Arial</vt:lpstr>
      <vt:lpstr>Consolas</vt:lpstr>
      <vt:lpstr>Source Code Pro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cp:lastModifiedBy>
  <cp:revision>2</cp:revision>
  <dcterms:modified xsi:type="dcterms:W3CDTF">2026-07-17T02:53:52Z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{"Label":"1","ContentProducer":"001191110102MACQD9K64010000","ProduceID":"7661790425536302293","ReservedCode1":"","ContentPropagator":"","PropagateID":"","ReservedCode2":""}</vt:lpwstr>
  </property>
</Properties>
</file>