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4" y="2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欢迎参加本次“C++核心进阶”技术培训。本课程旨在帮助有一定C++基础的开发者，深入理解C++语言的核心机制和高级特性，从而编写出更高效、更健壮、更具可维护性的代码。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在接下来的内容中，我们将系统性地探讨四个核心模块：面向对象编程、STL、智能指针以及CMake构建工具。通过理论与实践相结合的方式，全面提升您的C++编程水平。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首先，我们进入第一个模块：深入掌握面向对象编程的三大核心机制——封装、继承和多态。理解这些机制的深层原理是编写高质量C++代码的基础。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首先是封装。简单来说，封装就是把数据和操作数据的方法打包在一起，并隐藏内部细节。我们只暴露必要的公共接口供外部使用，这样做的好处是保护了数据的安全性，并降低了代码间的耦合度。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在C++中，我们通过public、protected和private这三个访问控制符来实现封装。Public成员构成了类的对外接口，protected成员可以被派生类访问以实现复用，而private成员则完全隐藏，确保了数据的绝对安全。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这个银行账户的例子很好地展示了封装。账户余额balance_是私有成员，外部无法直接修改。所有操作都必须通过deposit和withdraw这两个公共方法进行，这保证了余额不会被随意篡改，确保了数据的完整性和安全性。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接下来是继承。继承允许我们基于已有的类创建新类，从而实现代码复用，并建立类之间的层次关系。比如，我们可以定义一个基类Animal，然后派生出Dog和Cat类，它们自动拥有Animal的属性和方法。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++支持三种继承方式：public、protected和private。public继承是最常见的，它表示派生类是基类的一种。protected和private继承则更多地用于代码复用，隐藏了基类的接口。理解它们的区别对于设计正确的类层次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承体系中，构造和析构的顺序是固定的。构造时从基类到派生类，析构时则完全相反。一个非常重要的规则是，如果一个类可能被用作基类，它的析构函数应该声明为虚函数，以确保删除派生类对象时能正确调用所有析构函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请看这个例子。当基类Base的析构函数被声明为virtual时，通过基类指针p删除派生类对象Derived，能够正确地先调用Derived的析构函数，再调用Base的析构函数，从而避免了资源泄漏。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菱形继承是多继承中一个经典的问题。当一个类继承自两个共同基类的派生类时，它会拥有两份基类的成员，这会导致命名冲突和数据冗余。直接调用基类方法会导致编译错误，必须显式指定，这非常不方便。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为了解决菱形继承问题，C++引入了虚继承。通过在继承时使用virtual关键字，我们可以确保最终的派生类只包含一份共享的基类实例，从而避免了二义性。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态是面向对象编程的精髓。它分为静态多态和动态多态。静态多态在编译时确定，比如函数重载。而动态多态则在运行时确定，通过继承和虚函数实现，它让我们可以用统一的接口处理不同类型的对象，极大地提高了代码的灵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动态多态的核心是虚函数。在基类中声明为virtual的函数，可以在派生类中被重写。当我们将纯虚函数（= 0）引入一个类，这个类就变成了抽象基类，它不能被实例化，只能作为接口被继承。这是定义框架和规范的常用手段。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例子展示了多态的威力。我们定义了一个抽象基类Shape，并派生出Circle和Square。printArea函数接收一个Shape的引用，它不需要关心传入的具体是圆还是正方形，就能正确调用对应对象的draw和area方法。这就是“一个接口，多种实现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接下来，我们进入第二个模块：标准模板库，也就是STL。STL是C++的精华所在，它提供了一套强大的通用数据结构和算法，极大地提高了开发效率。我们将重点学习容器、迭代器和算法。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STL容器是存储数据的通用数据结构。它们被分为序列式容器，如vector和list；关联式容器，如map和set；以及基于哈希表的无序关联式容器。每种容器都有其特定的内部实现和适用场景。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选择合适的容器至关重要。vector是最常用的，它支持快速随机访问，但在中间插入元素代价很高。list是双向链表，适合频繁在任意位置增删元素。deque则是双端队列，两端操作效率很高。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对于键值对存储，`map`基于红黑树实现，元素有序，性能稳定。而`unordered_map`基于哈希表，平均查找速度更快，但元素无序。在实际开发中，我们需要根据具体需求来权衡选择。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迭代器是STL的另一个核心概念。它就像一个通用的指针，允许我们遍历不同类型的容器。更重要的是，它将算法和容器分离开来，使得算法可以独立于具体的容器实现，大大增强了代码的复用性。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迭代器有不同的类别，从功能最弱的输入/输出迭代器，到功能最强的随机访问迭代器。一个算法所需的迭代器类型决定了它能作用于哪些容器。例如，需要随机访问迭代器的std::sort就不能用于list。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STL算法库包含了大量通用算法，如排序、查找、变换等。这些算法通过迭代器工作，非常高效且通用。熟练掌握STL算法可以避免重复造轮子，让代码更简洁、更高效。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这里展示了几个常用算法的例子。std::sort用于排序，std::find用于查找，std::transform可以对每个元素应用一个函数进行转换，而std::accumulate则可以计算元素的总和。这些算法极大地简化了数据处理逻辑。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现在我们进入第三个模块：智能指针。智能指针是现代C++中管理动态内存的利器，它能帮助我们自动管理内存，有效避免内存泄漏等常见问题。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在C++11之前，我们主要使用裸指针和new/delete来管理动态内存。但这非常容易出错，比如忘记释放内存导致泄漏，或者在内存释放后继续使用指针导致悬空指针。这些问题是C++程序中臭名昭著的bug来源。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裸指针的问题，我们引入了RAII，也就是“资源获取即初始化”的思想。其核心是将资源的生命周期绑定到一个对象上。当对象被创建时获取资源，当对象生命周期结束被销毁时，在析构函数中自动释放资源。智能指针正是基于这一思想实现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unique_ptr是最简单的智能指针，它实现了独占所有权。这意味着，一块内存只能被一个unique_ptr管理。它不能被拷贝，但可以通过std::move来转移所有权。当unique_ptr离开作用域时，它所管理的对象会被自动删除。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在这个例子中，up1拥有MyClass对象的唯一所有权。尝试拷贝up1会导致编译错误。我们必须使用std::move来将所有权转移给up2。转移后，up1变为空，不再指向任何对象。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需要多个指针共享同一块内存时，就需要用到shared_ptr。它通过引用计数来管理对象的生命周期。每多一个shared_ptr指向该对象，计数就加一；每少一个，计数就减一。当计数变为零时，对象才会被真正删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这个例子展示了shared_ptr的引用计数是如何工作的。创建sp1后计数为1。拷贝给sp2后计数变为2。当sp2被重置后，计数又减为1。最后，当sp1离开作用域，计数变为0，内存被自动释放。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hared_ptr有一个致命弱点：循环引用。如果对象A和对象B互相持有对方的shared_ptr，它们的引用计数将永远无法归零，导致内存泄漏。为了解决这个问题，我们引入了weak_ptr，它是一种不增加引用计数的弱引用，可以安全地打破这种循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使用智能指针的最佳实践。优先使用unique_ptr，并总是使用make_shared和make_unique来创建智能指针。要特别小心循环引用问题，并避免将智能指针和裸指针混用。遵循这些原则，可以让你的代码更安全、更健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最后，我们来学习第四个模块：CMake。CMake是一个非常强大的跨平台构建工具，掌握它对于开发专业的、可移植的C++项目至关重要。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CMake的核心思想是“一次编写，到处构建”。我们编写平台无关的CMakeLists.txt配置文件，CMake会根据这个文件，为我们生成对应平台的构建脚本，比如Linux下的Makefile或Windows下的Visual Studio解决方案。这极大地简化了跨平台开发的流程。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CMake的语法非常直观。cmake_minimum_required指定CMake版本，project定义项目，add_executable用于创建可执行文件。我们还可以通过set指令来配置项目，比如设置C++标准。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项目变得复杂，我们需要链接库和管理头文件路径。target_link_libraries用于链接库，target_include_directories用于指定头文件目录。对于大型项目，我们可以使用add_subdirectory来组织代码，每个子目录都有自己的CMakeLists.tx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这是一个推荐的现代CMake项目结构。公共头文件放在include目录，源文件放在src目录，示例程序放在examples目录。每个目录都有自己的CMakeLists.txt，使得项目结构清晰，易于管理。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对应的CMake配置如下。根目录的CMakeLists.txt负责全局配置并添加子目录。src目录的CMakeLists.txt创建一个静态库，并指定头文件目录。examples目录的CMakeLists.txt创建可执行文件，并链接我们自己的库。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在实际开发中，我们经常需要使用第三方库，比如Boost。CMake提供了find_package指令来方便地查找和配置这些外部依赖。一旦找到，我们就可以像链接自己的库一样，将其链接到我们的目标上。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我们来总结一下本次课程的核心内容。我们深入探讨了面向对象的三大特性，熟练掌握了STL的容器、迭代器和算法，学会了如何使用智能指针安全地管理内存，并掌握了CMake这一强大的跨平台构建工具。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我的讲解到此结束。希望通过本次课程，大家对C++的核心机制有了更深入的理解。现在是问答环节，欢迎大家提问。感谢大家的聆听！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0.svg"/><Relationship Id="rId5" Type="http://schemas.openxmlformats.org/officeDocument/2006/relationships/image" Target="../media/image16.sv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9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5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11" Type="http://schemas.openxmlformats.org/officeDocument/2006/relationships/image" Target="../media/image56.svg"/><Relationship Id="rId5" Type="http://schemas.openxmlformats.org/officeDocument/2006/relationships/image" Target="../media/image52.svg"/><Relationship Id="rId10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5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9" Type="http://schemas.openxmlformats.org/officeDocument/2006/relationships/image" Target="../media/image6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jpe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jpe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70.svg"/><Relationship Id="rId5" Type="http://schemas.openxmlformats.org/officeDocument/2006/relationships/image" Target="../media/image66.sv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2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11" Type="http://schemas.openxmlformats.org/officeDocument/2006/relationships/image" Target="../media/image4.svg"/><Relationship Id="rId5" Type="http://schemas.openxmlformats.org/officeDocument/2006/relationships/image" Target="../media/image72.svg"/><Relationship Id="rId10" Type="http://schemas.openxmlformats.org/officeDocument/2006/relationships/image" Target="../media/image3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.jpe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9" Type="http://schemas.openxmlformats.org/officeDocument/2006/relationships/image" Target="../media/image78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2.jpeg"/><Relationship Id="rId7" Type="http://schemas.openxmlformats.org/officeDocument/2006/relationships/image" Target="../media/image8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9" Type="http://schemas.openxmlformats.org/officeDocument/2006/relationships/image" Target="../media/image8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.jpeg"/><Relationship Id="rId7" Type="http://schemas.openxmlformats.org/officeDocument/2006/relationships/image" Target="../media/image86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5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2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Relationship Id="rId9" Type="http://schemas.openxmlformats.org/officeDocument/2006/relationships/image" Target="../media/image90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2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92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2.jpeg"/><Relationship Id="rId7" Type="http://schemas.openxmlformats.org/officeDocument/2006/relationships/image" Target="../media/image9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5.png"/><Relationship Id="rId5" Type="http://schemas.openxmlformats.org/officeDocument/2006/relationships/image" Target="../media/image94.svg"/><Relationship Id="rId4" Type="http://schemas.openxmlformats.org/officeDocument/2006/relationships/image" Target="../media/image93.png"/><Relationship Id="rId9" Type="http://schemas.openxmlformats.org/officeDocument/2006/relationships/image" Target="../media/image9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2.jpe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103.svg"/><Relationship Id="rId4" Type="http://schemas.openxmlformats.org/officeDocument/2006/relationships/image" Target="../media/image99.jpeg"/><Relationship Id="rId9" Type="http://schemas.openxmlformats.org/officeDocument/2006/relationships/image" Target="../media/image10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105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32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2.jpeg"/><Relationship Id="rId7" Type="http://schemas.openxmlformats.org/officeDocument/2006/relationships/image" Target="../media/image10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9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50.svg"/><Relationship Id="rId5" Type="http://schemas.openxmlformats.org/officeDocument/2006/relationships/image" Target="../media/image111.svg"/><Relationship Id="rId10" Type="http://schemas.openxmlformats.org/officeDocument/2006/relationships/image" Target="../media/image49.png"/><Relationship Id="rId4" Type="http://schemas.openxmlformats.org/officeDocument/2006/relationships/image" Target="../media/image110.png"/><Relationship Id="rId9" Type="http://schemas.openxmlformats.org/officeDocument/2006/relationships/image" Target="../media/image11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4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116.svg"/><Relationship Id="rId5" Type="http://schemas.openxmlformats.org/officeDocument/2006/relationships/image" Target="../media/image4.svg"/><Relationship Id="rId10" Type="http://schemas.openxmlformats.org/officeDocument/2006/relationships/image" Target="../media/image115.pn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C++核心进阶技术培训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826000" y="4191000"/>
            <a:ext cx="2540000" cy="381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深入理解C++核心机制与高级特性，打造高效、健壮、可维护的高性能代码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8D1CC">
                  <a:alpha val="0"/>
                </a:srgbClr>
              </a:gs>
              <a:gs pos="50000">
                <a:srgbClr val="48D1CC">
                  <a:alpha val="20000"/>
                </a:srgbClr>
              </a:gs>
              <a:gs pos="100000">
                <a:srgbClr val="48D1CC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开启C++进阶之旅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本课程将系统性地探讨四个核心模块，从面向对象的核心机制到现代C++的工程化实践，帮助您构建扎实、完整的C++知识体系，实现编程能力的全面跃升。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" y="2857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8194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深入掌握面向对象编程的核心机制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316">
            <a:off x="1092209" y="3422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92200" y="3556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深度探索封装、继承与多态的底层原理，理解虚函数表与动态绑定机制，掌握如何设计高内聚、低耦合的类结构，奠定面向对象设计的坚实基础。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667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86500" y="2667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6700" y="2857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02500" y="28194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熟练运用标准模板库 (STL)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316">
            <a:off x="6616709" y="3422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16700" y="3556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剖析容器、迭代器和算法的设计精髓，掌握常用容器的性能特点与适用场景，通过泛型编程思维高效复用代码，大幅提升开发效率与程序性能。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2200" y="4889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48514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理解并正确使用智能指针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316">
            <a:off x="1092209" y="5454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92200" y="558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 RAII 资源获取即初始化机制，掌握 unique_ptr、shared_ptr 与 weak_ptr 的原理与使用场景，彻底告别内存泄漏，拥抱现代C++的内存管理哲学。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86500" y="4699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86500" y="4699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6700" y="4889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48514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 CMake 跨平台构建工具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316">
            <a:off x="6616709" y="5454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16700" y="558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学习编写高效、可扩展的 CMakeLists.txt 脚本，实现跨 Windows、Linux、macOS 的统一构建流程，管理复杂的项目依赖，提升工程化协作能力。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48D1CC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304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深入掌握面向对象编程的核心机制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445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520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 (Encapsulation)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隐藏内部状态，通过接口交互，保障数据安全性与完整性。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520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72000" y="533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 (Inheritance)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建立类的层级关系，实现代码复用，扩展现有类的功能属性。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520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533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多态 (Polymorphism)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同一接口多种实现，动态绑定行为，提升程序的灵活性与扩展性。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 (Encapsulation)：概念与核心思想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3876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核心概念：捆绑与隐藏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封装是面向对象编程（OOP）的三大基石之一。它将对象的状态信息（成员变量）与操作数据的行为（成员方法）紧密结合，形成一个独立的单元，并对外部隐藏对象的内部实现细节，只保留有限的对外接口。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41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3876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核心思想：接口交互与安全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429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核心在于保护对象的内部状态不被外部随意篡改，仅通过预设的公共接口（Public Interface）进行数据交互。就像使用一个“黑盒子”，用户只需关注如何调用接口实现功能，而无需理解其复杂的内部构造，极大降低了系统的耦合度。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816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总结：封装不仅保障了数据的安全性，更简化了代码的使用方式，让系统更易于维护和扩展。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封装：访问控制符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006600"/>
            <a:ext cx="233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public 公有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对所有外部代码完全可见，是类对外暴露的接口，也是外部程序与类进行交互的唯一合法途径。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81600" y="2006600"/>
            <a:ext cx="233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protected 保护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2921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仅对本类及其派生类可见。常用于实现代码的继承与复用，同时向外部隐藏具体的实现细节，保障结构完整性。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203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006600"/>
            <a:ext cx="2336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private 私有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2921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仅对本类内部可见，是完全隐藏的实现细节。可有效防止外部意外修改对象状态，确保数据的安全性和一致性。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5308600" cy="1143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397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334000"/>
            <a:ext cx="4292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class 默认权限：private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 class 关键字定义的类中，若未显式声明访问控制符，成员默认具有 private 权限，强调数据封装。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48400" y="5207000"/>
            <a:ext cx="5308600" cy="1143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02400" y="5397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10400" y="5334000"/>
            <a:ext cx="4292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struct 默认权限：public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 struct 关键字定义的结构体中，成员默认具有 public 权限，保留了C语言中结构体的特性，更侧重数据集合。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封装：代码示例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715000" cy="4191000"/>
          </a:xfrm>
          <a:prstGeom prst="roundRect">
            <a:avLst>
              <a:gd name="adj" fmla="val 0"/>
            </a:avLst>
          </a:prstGeom>
          <a:solidFill>
            <a:srgbClr val="1E1E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533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2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BankAccount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 // 私有数据，外部无法直接访问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std::string account_number_;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balance_; // 核心数据隐藏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 // 公共接口，控制访问权限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voiddeposit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amount)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(amount &gt; 0) balance_ += amount;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12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withdraw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amount)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(amount &gt; 0 &amp;&amp; amount &lt;= balance_) {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balance_ -= amount;</a:t>
            </a: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2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return false</a:t>
            </a: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</p:txBody>
      </p:sp>
      <p:sp>
        <p:nvSpPr>
          <p:cNvPr id="6" name="AutoShape 6"/>
          <p:cNvSpPr/>
          <p:nvPr/>
        </p:nvSpPr>
        <p:spPr>
          <a:xfrm>
            <a:off x="6858000" y="16510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858000" y="1651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0" y="184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747000" y="1778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严格的数据隐藏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将账户余额等核心数据设为私有成员（private），禁止外部代码直接访问和修改，从底层保障数据不被随意篡改。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858000" y="31115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858000" y="3111500"/>
            <a:ext cx="762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30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747000" y="32385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受控的公共接口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仅通过 deposit(存款) 和 withdraw(取款) 等公共方法暴露功能，在方法内部加入逻辑校验，确保操作符合业务规则（如取款金额不能为负）。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858000" y="45720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58000" y="457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476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747000" y="4699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安全性与可维护性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封装让代码逻辑更集中，便于后续维护和扩展。同时提供 get_balance 等只读接口，既开放必要信息，又严格限制了修改权限。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 (Inheritance)：概念与目的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继承是面向对象编程中创建新类的核心方式。新类（派生类/子类）可以自动获取一个或多个已有类（基类/父类）的属性和方法，从而在已有代码基础上进行扩展和定制。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22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184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主要目的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175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01. 代码复用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提取通用属性和方法到基类，避免在多个子类中重复编写相同逻辑，减少冗余。</a:t>
            </a:r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443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4635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02. 建立层次关系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描述现实中的“is-a”关系，如“狗”是一种“动物”，构建清晰的类层级结构。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001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222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63000" y="2184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C++ 语法示例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55000" y="3175000"/>
            <a:ext cx="2921000" cy="1524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82000" y="330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8D1CC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300" b="0" i="0" u="none" strike="no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Derived :</a:t>
            </a:r>
            <a:r>
              <a:rPr lang="en-US" sz="1300" b="0" i="0" u="none" strike="noStrike">
                <a:solidFill>
                  <a:srgbClr val="D9534F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300" b="0" i="0" u="none" strike="no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Base {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808080"/>
                </a:solidFill>
                <a:latin typeface="Roboto Mono"/>
                <a:ea typeface="Roboto Mono"/>
                <a:cs typeface="Roboto Mono"/>
                <a:sym typeface="Roboto Mono"/>
              </a:rPr>
              <a:t>// 新增成员或重写方法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255000" y="4889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其中</a:t>
            </a:r>
            <a:r>
              <a:rPr lang="en-US" sz="1300" b="0" i="0" u="none" strike="no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access-specifier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可以是 public、protected 或 private，决定了基类成员的访问权限。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继承不仅是代码的复用工具，更是构建复杂系统、实现抽象与多态的基础，是面向对象编程的三大支柱之一。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继承：三种继承方式的区别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public 公有继承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048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基类的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public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成员在派生类中仍为 public，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protected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成员仍为 protected。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18000"/>
            <a:ext cx="3048000" cy="825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4196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最常用的继承方式，体现严格的“is-a”关系，基类的公有接口直接成为派生类接口的一部分。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905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22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2184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protected 保护继承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048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基类的</a:t>
            </a:r>
            <a:r>
              <a:rPr lang="en-US" sz="14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public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protected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成员在派生类中统一变为 protected 成员。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4318000"/>
            <a:ext cx="3048000" cy="825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99000" y="44196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隐藏基类接口，仅允许派生类的子类访问，适用于需进一步派生但不向外部暴露基类功能的场景。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1905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222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63000" y="2184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private 私有继承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946">
            <a:off x="8255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91500" y="3048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基类的</a:t>
            </a:r>
            <a:r>
              <a:rPr lang="en-US" sz="1400" b="1" i="0" u="none" strike="noStrike">
                <a:solidFill>
                  <a:srgbClr val="48D1CC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public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48D1CC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protected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成员在派生类中全部变为 private 成员。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318000"/>
            <a:ext cx="3048000" cy="825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318500" y="44196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本质是“实现继承”，仅为代码复用，不体现“is-a”关系，基类接口完全被隐藏，不可进一步派生。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16000" y="5816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核心区别总结：继承方式决定了基类成员在派生类中的访问属性，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public继承是接口的复用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，而protected和private更多是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实现的复用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继承：构造与析构的调用顺序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30400"/>
            <a:ext cx="425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01. 构造函数调用顺序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30500"/>
            <a:ext cx="4762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从顶层基类开始，层层向下：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 首先调用基类构造函数，完成基类部分的初始化；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 按成员对象在类中声明的顺序，依次调用其构造函数；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 最后调用派生类自身的构造函数。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930400"/>
            <a:ext cx="425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02. 析构函数调用顺序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413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2730500"/>
            <a:ext cx="4762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与构造顺序完全相反，层层向上：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 首先调用派生类的析构函数，清理派生类特有资源；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 按成员对象构造的逆序，依次调用其析构函数；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 最后调用基类的析构函数，完成基类资源的清理。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5435600"/>
            <a:ext cx="431800" cy="431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207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核心原则：基类析构函数必须声明为 virtual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当通过基类指针删除派生类对象时，若基类析构函数非虚函数，将只会调用基类析构函数，导致派生类及成员对象的资源无法被正确释放，从而引发严重的内存泄漏问题。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继承：虚析构函数代码示例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715000" cy="3810000"/>
          </a:xfrm>
          <a:prstGeom prst="roundRect">
            <a:avLst>
              <a:gd name="adj" fmla="val 0"/>
            </a:avLst>
          </a:prstGeom>
          <a:solidFill>
            <a:srgbClr val="F5F7FA">
              <a:alpha val="95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5334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#include &lt;iostream&gt;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class Base { public: Base() { std::cout &lt;&lt; "Base Ctor\n"; }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C0392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virtual ~Base() { std::cout &lt;&lt; "Base Dtor\n"; }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}; // 关键：声明为虚析构函数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class Derived : public Base { public: Derived() { std::cout &lt;&lt; "Derived Ctor\n"; } ~Derived() { std::cout &lt;&lt; "Derived Dtor\n"; } };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main() { Base* p = new Derived(); delete p; return 0; }</a:t>
            </a:r>
          </a:p>
        </p:txBody>
      </p:sp>
      <p:sp>
        <p:nvSpPr>
          <p:cNvPr id="6" name="AutoShape 6"/>
          <p:cNvSpPr/>
          <p:nvPr/>
        </p:nvSpPr>
        <p:spPr>
          <a:xfrm>
            <a:off x="6858000" y="1651000"/>
            <a:ext cx="45720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12700" cap="flat" cmpd="sng">
            <a:solidFill>
              <a:srgbClr val="48D1C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1841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556500" y="1803400"/>
            <a:ext cx="374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核心原理：多态与资源释放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0417">
            <a:off x="7048510" y="2343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048500" y="2476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当基类析构函数声明为</a:t>
            </a:r>
            <a:r>
              <a:rPr lang="en-US" sz="1400" b="0" i="0" u="none" strike="noStrike">
                <a:solidFill>
                  <a:srgbClr val="C0392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virtual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时，通过基类指针删除派生类对象，编译器会根据对象的实际类型调用正确的析构函数，确保派生类资源被完全释放。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3810000"/>
            <a:ext cx="4572000" cy="2095500"/>
          </a:xfrm>
          <a:prstGeom prst="roundRect">
            <a:avLst>
              <a:gd name="adj" fmla="val 0"/>
            </a:avLst>
          </a:prstGeom>
          <a:solidFill>
            <a:srgbClr val="F5F7FA">
              <a:alpha val="95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8500" y="400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556500" y="3962400"/>
            <a:ext cx="374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正确执行流程输出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417">
            <a:off x="7048510" y="4502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048500" y="4635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Base Constructor → Derived Constructor → Derived Destructor → Base Destructor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注：若析构非虚函数，将只输出 "Base Destructor"，导致 Derived 部分资源泄漏。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8D1C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695C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总结：只要类有虚函数（或作为基类被继承），就应该将其析构函数声明为虚函数。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继承：菱形继承问题 (Diamond Problem)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304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65200" y="1727200"/>
            <a:ext cx="487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核心问题：多重继承的数据冗余与歧义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4">
            <a:off x="762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540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当派生类(D)同时继承自两个类(B, C)，而这两个类又共同继承自同一个基类(A)时，D中会包含两份A的成员副本。这不仅造成了内存数据的冗余浪费，更导致了对基类成员访问时的二义性，编译器无法确定应该调用哪一个版本的成员。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080000" cy="1524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4318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A (基类)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/ \ （继承）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 C （中间类） ➜ D类拥有两个A的子对象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\ /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D (最终派生类)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4064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1778000"/>
            <a:ext cx="76200" cy="304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80200" y="1727200"/>
            <a:ext cx="487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代码示例：编译错误与解决方案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594">
            <a:off x="6477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540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2667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Animal {</a:t>
            </a: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200" b="0" i="0" u="none" strike="noStrike">
                <a:solidFill>
                  <a:srgbClr val="48D1CC"/>
                </a:solidFill>
                <a:latin typeface="Roboto Mono"/>
                <a:ea typeface="Roboto Mono"/>
                <a:cs typeface="Roboto Mono"/>
                <a:sym typeface="Roboto Mono"/>
              </a:rPr>
              <a:t>eat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(); };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Mammal :</a:t>
            </a: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Animal { };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Bird :</a:t>
            </a: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Animal { };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Platypus :</a:t>
            </a: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Mammal,</a:t>
            </a:r>
            <a:r>
              <a:rPr lang="en-US" sz="12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Bird { };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9C9C9C"/>
                </a:solidFill>
                <a:latin typeface="Roboto Mono"/>
                <a:ea typeface="Roboto Mono"/>
                <a:cs typeface="Roboto Mono"/>
                <a:sym typeface="Roboto Mono"/>
              </a:rPr>
              <a:t>// p.eat(); // 编译错误：歧义！</a:t>
            </a:r>
            <a:br>
              <a:rPr lang="en-US" sz="12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p.Mammal::eat();</a:t>
            </a:r>
            <a:r>
              <a:rPr lang="en-US" sz="1200" b="0" i="0" u="none" strike="noStrike">
                <a:solidFill>
                  <a:srgbClr val="9C9C9C"/>
                </a:solidFill>
                <a:latin typeface="Roboto Mono"/>
                <a:ea typeface="Roboto Mono"/>
                <a:cs typeface="Roboto Mono"/>
                <a:sym typeface="Roboto Mono"/>
              </a:rPr>
              <a:t>// 必须显式指定作用域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5334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546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5397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直接调用基类方法会导致编译失败。为了消除歧义，必须显式指定继承路径（如 Mammal::eat），这让代码变得冗长且难以维护，违背了多态的初衷。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继承：虚继承 (Virtual Inheritance)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核心解决方案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通过在继承声明中使用</a:t>
            </a:r>
            <a:r>
              <a:rPr lang="en-US" sz="1400" b="1" i="0" u="none" strike="noStrike">
                <a:solidFill>
                  <a:srgbClr val="DC3545"/>
                </a:solidFill>
                <a:latin typeface="Consolas"/>
                <a:ea typeface="Consolas"/>
                <a:cs typeface="Consolas"/>
                <a:sym typeface="Consolas"/>
              </a:rPr>
              <a:t>virtual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关键字，强制编译器让最终派生类中只保留共享基类的唯一实例，彻底消除菱形继承带来的成员二义性问题。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8D1CC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403600"/>
            <a:ext cx="482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关键语法格式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class Derived : virtual public Base { ... };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实现原理机制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编译器会为派生类对象插入“虚基类指针 (vbase ptr)”，指向“虚基类表 (vbtable)”。通过该表间接访问共享的基类子对象，保证了无论继承路径多少，基类实例始终唯一。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000" y="1651000"/>
            <a:ext cx="4953000" cy="4445000"/>
          </a:xfrm>
          <a:prstGeom prst="roundRect">
            <a:avLst>
              <a:gd name="adj" fmla="val 0"/>
            </a:avLst>
          </a:prstGeom>
          <a:solidFill>
            <a:srgbClr val="282C3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651000"/>
            <a:ext cx="4953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7526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1727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代码实战：解决“鸭嘴兽”菱形继承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814">
            <a:off x="6477008" y="21018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67500" y="2286000"/>
            <a:ext cx="4572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eat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(); };</a:t>
            </a:r>
            <a:r>
              <a:rPr lang="en-US" sz="13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顶层基类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中间层：使用 virtual 关键字继承 Animal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Mammal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300" b="0" i="0" u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virtual public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{ };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Bird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300" b="0" i="0" u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virtual public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{ };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Platypus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Mammal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3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Bird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{ };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最终派生类 Platypus 中仅有一个 Animal 实例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 Platypus p; p.eat();</a:t>
            </a: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多态 (Polymorphism)：静态 vs 动态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336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 静态多态（编译时多态）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在程序编译期间，编译器根据参数的类型、个数等信息，确定函数调用的具体地址，绑定关系在编译阶段就已确定。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064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实现方式：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主要通过函数重载、运算符重载以及函数模板来实现，是编译器层面的行为。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解析速度快，执行效率高，但缺乏灵活性，无法在运行时根据对象状态改变行为。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1336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动态多态（运行时多态）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048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在程序运行期间，根据对象的实际类型（而非指针或引用的类型）来确定要调用的函数，绑定关系在运行阶段才确定。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064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实现方式：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基于继承关系，通过基类指针或引用指向派生类对象，并结合虚函数（Virtual Function）机制实现。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08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支持“一个接口，多种实现”，灵活性极强，能适应复杂的业务逻辑，但会带来微小的运行时开销。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762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943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核心差异总结：静态多态关注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编译期的效率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，是“早绑定”；动态多态关注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运行期的灵活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，是“晚绑定”，二者结合构成了面向对象编程的核心灵活性。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动态多态：虚函数与抽象基类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0320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虚函数 (Virtual Function)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在基类中使用</a:t>
            </a: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virtual</a:t>
            </a:r>
            <a:r>
              <a:rPr lang="en-US" sz="15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关键字声明的函数，允许在派生类中进行重写（override），是实现动态多态的核心机制。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72000"/>
            <a:ext cx="46990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4699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运行时绑定：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当通过基类指针或引用调用虚函数时，程序会在运行时根据实际指向的对象类型，决定调用基类还是派生类的函数版本。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0320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纯虚函数与抽象基类 (ABC)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921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纯虚函数是只有声明（</a:t>
            </a:r>
            <a:r>
              <a:rPr lang="en-US" sz="15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virtual void func() = 0;</a:t>
            </a:r>
            <a:r>
              <a:rPr lang="en-US" sz="15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）而没有实现的函数。包含纯虚函数的类即为抽象基类。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318000"/>
            <a:ext cx="2286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4445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不可实例化：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抽象基类不能直接创建对象，只能作为接口规范被其他类继承。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90000" y="4318000"/>
            <a:ext cx="22860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017000" y="4445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强制重写：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派生类必须重写基类的所有纯虚函数，否则该派生类也将成为抽象类。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动态多态：代码示例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842000" cy="4064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842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31900" y="17780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511300" y="17780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2286000"/>
            <a:ext cx="5461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Shape {</a:t>
            </a:r>
            <a:r>
              <a:rPr lang="en-US" sz="12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抽象基类，定义统一接口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virtual</a:t>
            </a:r>
            <a:r>
              <a:rPr lang="en-US" sz="1200" b="0" i="0" u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200" b="0" i="0" u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area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0;</a:t>
            </a:r>
            <a:r>
              <a:rPr lang="en-US" sz="12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纯虚函数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virtual</a:t>
            </a:r>
            <a:r>
              <a:rPr lang="en-US" sz="1200" b="0" i="0" u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0" b="0" i="0" u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0;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virtual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~Shape() =</a:t>
            </a: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派生类实现具体功能，统一接口printArea自动适配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0" b="0" i="0" u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printArea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 b="0" i="0" u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Shape&amp; s) { s.draw(); cout &lt;&lt; s.area(); 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985000" y="1651000"/>
            <a:ext cx="44450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5500" y="1841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83500" y="17780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抽象基类与纯虚函数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定义抽象的 Shape 类作为接口规范，通过纯虚函数强制派生类（Circle/Square）实现具体的 area 和 draw 方法，确立统一行为标准。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985000" y="3111500"/>
            <a:ext cx="44450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5500" y="330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83500" y="32385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运行时绑定（Late Binding）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printArea 函数接收基类引用，程序在运行时根据对象的实际类型，动态调用对应派生类的重写方法，实现“接口不变，实现多样”。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985000" y="4572000"/>
            <a:ext cx="4445000" cy="1206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5500" y="4762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683500" y="4699000"/>
            <a:ext cx="361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扩展性与可维护性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新增三角形、矩形等形状时，无需修改 printArea 核心逻辑，仅需添加新的派生类即可，极大降低了系统的耦合度与维护成本。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8D1C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60452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多态的本质是“一个接口，多种实现”，让代码能够根据对象的实际类型动态调整行为，是面向对象编程灵活性的关键。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8D1CC">
                    <a:alpha val="2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熟练运用标准模板库（STL）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33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Containers · Iterators · Algorithms —— C++ 开发效率的核心引擎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STL容器 (Containers)：分类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8D1C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11400"/>
            <a:ext cx="254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序列式容器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238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元素按线性顺序排列，支持通过索引直接访问，强调元素的位置顺序，是最基础的容器类型。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2921000" cy="635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43000" y="4800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常用：vector, list, deque, array, forward_list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34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43500" y="2311400"/>
            <a:ext cx="254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关联式容器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35500" y="3238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元素按关键字进行排序存储，通常基于平衡二叉搜索树（红黑树）实现，便于快速查找和有序遍历。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4699000"/>
            <a:ext cx="2921000" cy="635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762500" y="4800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常用：map, set, multimap, multiset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349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763000" y="2311400"/>
            <a:ext cx="254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无序关联式容器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255000" y="3238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基于哈希表（Hash Table）实现，元素无特定顺序，插入和访问的平均时间复杂度为常数级 O(1)。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4699000"/>
            <a:ext cx="2921000" cy="635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382000" y="4800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常用：unordered_map, unordered_set (及multi版本)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842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16000" y="5943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不同容器在数据存储结构、访问速度、内存开销上各有优劣，开发时需根据实际场景（如是否需要排序、查找频率、插入位置等）进行合理选择。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STL容器：常用容器对比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0955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vector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566">
            <a:off x="9525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921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基于动态数组实现，内存空间连续，是C++中最常用的序列式容器。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2997200" cy="952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4038600"/>
            <a:ext cx="274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随机访问速度极快(O(1))，内存连续性带来优秀的缓存命中率。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5080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局限：除尾部外的插入/删除效率低(O(n))，扩容时可能发生内存重分配，导致迭代器失效。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942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84700" y="20955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list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566">
            <a:off x="45847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84700" y="2921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基于双向循环链表实现，元素在内存中分散存储，通过指针链接。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84700" y="3937000"/>
            <a:ext cx="2997200" cy="952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711700" y="4038600"/>
            <a:ext cx="274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任意位置插入/删除效率高(O(1))，元素操作不会导致其他迭代器失效。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84700" y="5080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局限：不支持随机访问，访问元素需遍历(O(n))；额外的指针开销增加了内存占用。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264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264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16900" y="20955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deque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566">
            <a:off x="8216913" y="2724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16900" y="2921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双端队列，采用分段动态数组结构，由多个连续的内存块组成。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16900" y="3937000"/>
            <a:ext cx="2997200" cy="952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343900" y="4038600"/>
            <a:ext cx="274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首尾两端的插入与删除操作效率极高(O(1))，同时支持随机访问。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16900" y="5080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局限：中间位置插入/删除慢(O(n))；分段内存导致缓存局部性比vector差。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842000"/>
            <a:ext cx="10642600" cy="635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9055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总结：若侧重随机访问选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vector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；若频繁任意位置增删选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list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；若侧重两端操作选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deque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STL容器：常用容器对比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8D1C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map：有序键值对容器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4130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实现与特性：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基于红黑树实现，元素始终按键有序排列。查找、插入、删除操作的时间复杂度稳定为 O(log n)。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EB5757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相比哈希表，查询速度略慢；红黑树节点结构复杂，内存开销相对较大。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159500" y="1651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1595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135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unordered_map：哈希表键值对容器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4135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13500" y="24130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实现与特性：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基于哈希表实现，元素无序。平均情况下，查找、插入、删除的时间复杂度可达 O(1)，效率极高。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EB5757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元素无序，无法进行范围遍历；哈希冲突会导致最坏情况性能退化至 O(n)；内存分布可能不连续。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572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4572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适用场景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9098">
            <a:off x="8890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9000" y="520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需要频繁的随机访问元素，且数据操作以尾部增删为主的场景，如简单的数据缓存或存储列表。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925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4572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000500" y="4572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list 适用场景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9098">
            <a:off x="36195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619500" y="520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需要在容器的任意位置频繁进行插入或删除操作，且对随机访问要求不高的场景。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595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0" y="4572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667500" y="4572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map 适用场景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9098">
            <a:off x="62865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286500" y="520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需要按键值快速查找，且要求数据始终保持有序，或需要进行范围查询的场景。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8265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53500" y="4572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334500" y="4572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unordered_map 适用场景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9098">
            <a:off x="8953518" y="507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953500" y="520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对查找速度有极致要求，且不关心元素顺序，数据量较大的高频查询场景。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STL迭代器 (Iterators)：概念与作用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3302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核心概念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346">
            <a:off x="1092214" y="29146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迭代器本质上是一个对象，它提供了类似指针的接口（如 operator*、operator-&gt;、operator++ 等），用于遍历并访问容器中的元素，是访问容器内部数据的通用工具。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76200" cy="3302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17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705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关键作用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346">
            <a:off x="4711714" y="29146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7117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实现了算法与容器的解耦。算法通过迭代器访问和操作元素，无需关心容器的具体类型（如vector、list或deque），让同一套算法逻辑可以复用在不同的数据结构上。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76200" cy="3302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200" y="2286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核心本质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346">
            <a:off x="8331214" y="29146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312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迭代器是连接“STL容器”与“STL算法”的桥梁。它屏蔽了底层容器的差异，为上层算法提供了统一的访问接口，是泛型编程思想在STL中的具体体现。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5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迭代器赋予了STL强大的灵活性，让代码更通用、更易维护，是C++标准库中泛型编程的基石。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STL迭代器：分类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67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968500"/>
            <a:ext cx="321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01. 输入迭代器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587">
            <a:off x="889013" y="240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540000"/>
            <a:ext cx="3213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功能：只读访问，支持单遍扫描，数据只能读取一次。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操作：支持 ++, *, ==, !=；典型容器：istream_iterator。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467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94200" y="177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21200" y="1968500"/>
            <a:ext cx="321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02. 输出迭代器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3587">
            <a:off x="4521213" y="240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21200" y="2540000"/>
            <a:ext cx="3213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功能：只写访问，支持单遍扫描，数据只能写入一次。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操作：支持 ++, *；典型容器：ostream_iterator。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467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26400" y="177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53400" y="1968500"/>
            <a:ext cx="3213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03. 前向迭代器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587">
            <a:off x="8153413" y="240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53400" y="2540000"/>
            <a:ext cx="3213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功能：可读可写，支持多遍扫描，可保存迭代器重新遍历。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操作：包含输入/输出迭代器所有操作；典型容器：forward_list。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43815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04. 双向迭代器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703">
            <a:off x="889008" y="4819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89000" y="4953000"/>
            <a:ext cx="501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功能：在“前向迭代器”基础上，支持双向移动（可前进也可后退），功能更强，适用场景更广泛。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操作：支持前向迭代器所有操作 + `--`；典型容器：list, map, set, multimap, multiset。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230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43815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05. 随机访问迭代器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703">
            <a:off x="6350008" y="4819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350000" y="4953000"/>
            <a:ext cx="501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功能：功能最强的迭代器，支持在常量时间内跳转到容器中的任意位置，与原生指针的行为最接近。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操作：支持双向迭代器所有操作 + `+=`, `-=`, `[]`, 关系运算符；典型容器：vector, deque, array。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STL算法 (Algorithms)：简介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STL算法是一系列通用的函数模板，封装了查找、排序、变换等经典逻辑，通过统一的接口处理容器中的数据，是C++标准库中复用性最高、效率最优化的组件之一。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794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核心头文件：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基础算法需包含 &lt;algorithm&gt;，数值类算法（如求和、内积）则定义在 &lt;numeric&gt; 头文件中。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00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400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基于迭代器抽象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566">
            <a:off x="952513" y="4565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635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算法不直接操作容器，而是通过迭代器访问元素，实现了数据存储与数据操作的彻底分离。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3810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400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05400" y="400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高度通用的逻辑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566">
            <a:off x="4597413" y="4565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97400" y="4635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同一算法可作用于vector、list、deque等不同容器，甚至是普通数组，大幅减少重复代码。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3810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42300" y="400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50300" y="400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工业级效率优化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566">
            <a:off x="8242313" y="4565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42300" y="4635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由专家编写和优化，采用了如快速排序、堆排序等高效算法，性能优于手写的常规实现。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5689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非修改序列操作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不改变元素内容，如查找(find)、遍历(for_each)、计数(count)等。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3467100" y="5588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3594100" y="5689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修改序列操作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改变元素值或位置，如复制(copy)、替换(replace)、反转(reverse)等。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172200" y="5588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99200" y="5689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排序与搜索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包含排序(sort)、二分查找(binary_search)、集合交并差等经典算法。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877300" y="5588000"/>
            <a:ext cx="2540000" cy="10795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004300" y="5689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B8B"/>
                </a:solidFill>
                <a:latin typeface="Noto Sans SC"/>
                <a:ea typeface="Noto Sans SC"/>
                <a:cs typeface="Noto Sans SC"/>
                <a:sym typeface="Noto Sans SC"/>
              </a:rPr>
              <a:t>数值算法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专注数值计算，如累加(accumulate)、求内积(inner_product)等。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STL算法：常用算法示例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93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std::sort — 排序算法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18">
            <a:off x="1079509" y="253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6670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对容器内元素进行排序，默认升序排列。代码示例：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std::sort(nums.begin(), nums.end());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执行后序列变为有序的 {1, 1, 3, 4, 5, 9}。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193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std::find — 元素查找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18">
            <a:off x="6540509" y="253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26670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在指定范围内查找首个匹配的元素，返回迭代器。代码示例：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auto it = std::find(nums.begin(), nums.end(), 5);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执行后，迭代器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it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将指向数值 5 的位置。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381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4343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std::transform — 元素转换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18">
            <a:off x="1079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0800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对范围内每个元素应用函数进行转换，并将结果存入目标容器。常用于映射、修改数据。示例中对每个数求平方，得到新序列 {1, 1, 9, 16, 25, 81}。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381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4343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std::accumulate — 区间累加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18">
            <a:off x="6540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0800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计算容器内元素的累加和，需指定初始值。代码示例：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int sum = std::accumulate(nums.begin(), nums.end(), 0);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执行后得到序列总和为 23。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理解并正确使用智能指针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5555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Smart Pointers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智能指针：裸指针的困境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095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0574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内存泄漏 (Memory Leak)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794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new 分配动态内存后，因逻辑错误或流程提前退出，忘记调用 delete 释放内存，导致这部分内存永远无法被系统回收，长期运行会耗尽资源。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2095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9500" y="20574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悬空指针 (Dangling Pointer)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731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2794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指针指向的内存空间已经被释放（delete），但指针本身未被置空或重新赋值。后续对该指针的解引用操作会导致程序出现未定义行为，难以排查。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381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3434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重复释放 (Double Free)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080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同一块动态分配的内存被多次调用 delete 操作。这会破坏内存堆的完整性，通常会直接导致程序崩溃，是C++中非常危险的错误类型之一。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135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4381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29500" y="43434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所有权混乱 (Ownership Chaos)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731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731000" y="5080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多个裸指针指向同一块内存区域时，代码逻辑中难以明确界定“谁是这块内存的所有者”以及“谁应该负责释放”，导致协作开发时边界模糊，Bug频发。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智能指针的基石：RAII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RAII？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40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RAII (Resource Acquisition Is Initialization)，即“资源获取即初始化”。它是C++管理资源、避免内存泄漏的核心机制，利用对象的生命周期来控制程序资源。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778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1905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核心思想：生命周期绑定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540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将资源（如堆内存、文件句柄、网络连接、互斥锁等）的获取与对象的创建绑定，资源的释放与对象的销毁绑定，从而确保资源始终能被正确释放，杜绝资源泄漏。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76200" cy="215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064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标准化的执行流程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1016008" y="4565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6990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对象构造时，通过构造函数获取并初始化所需资源。</a:t>
            </a:r>
          </a:p>
        </p:txBody>
      </p:sp>
      <p:cxnSp>
        <p:nvCxnSpPr>
          <p:cNvPr id="19" name="Connector 19"/>
          <p:cNvCxnSpPr/>
          <p:nvPr/>
        </p:nvCxnSpPr>
        <p:spPr>
          <a:xfrm rot="5357030">
            <a:off x="2095500" y="5327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730500" y="46990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在对象的整个生命周期内，安全地使用已获取的资源。</a:t>
            </a:r>
          </a:p>
        </p:txBody>
      </p:sp>
      <p:cxnSp>
        <p:nvCxnSpPr>
          <p:cNvPr id="21" name="Connector 21"/>
          <p:cNvCxnSpPr/>
          <p:nvPr/>
        </p:nvCxnSpPr>
        <p:spPr>
          <a:xfrm rot="5357030">
            <a:off x="3746500" y="5327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4318000" y="46990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对象销毁时，析构函数自动被调用，资源随之释放。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86500" y="3937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86500" y="3937000"/>
            <a:ext cx="76200" cy="2159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540500" y="4064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典型实践：智能指针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540508" y="4565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4699000"/>
            <a:ext cx="476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智能指针（如 std::unique_ptr、std::shared_ptr）是 RAII 思想最经典的应用。它将裸指针封装在栈对象中，当栈对象离开作用域时，其析构函数会自动调用 delete 释放指向的堆内存，彻底避免了手动管理内存的繁琐与风险。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std::unique_ptr：独占语义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49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11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3020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对指向对象拥有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独占所有权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，同一时间仅允许一个</a:t>
            </a:r>
            <a:r>
              <a:rPr lang="en-US" sz="1400" b="0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unique_ptr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管理该资源。禁止直接拷贝赋值，但可通过</a:t>
            </a:r>
            <a:r>
              <a:rPr lang="en-US" sz="1400" b="0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std::move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安全转移所有权。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2349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83200" y="2311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84700" y="33020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实现零额外开销，性能几乎等同于裸指针；语义极其清晰，代码中使用</a:t>
            </a:r>
            <a:r>
              <a:rPr lang="en-US" sz="1400" b="0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unique_ptr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能直接传达“唯一拥有权”的设计意图，提升可读性。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2349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15400" y="2311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最佳实践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16900" y="33020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优先使用 C++14 引入的</a:t>
            </a:r>
            <a:r>
              <a:rPr lang="en-US" sz="1400" b="0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std::make_unique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创建对象，而非直接使用 new 关键字。这不仅写法更简洁，还能避免内存泄漏，保证异常安全。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总结：离开作用域时自动释放资源，是管理动态内存默认的、首选的智能指针类型。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std::unique_ptr：代码示例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048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3048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300" b="0" i="0" u="none" strike="noStrike">
                <a:solidFill>
                  <a:srgbClr val="E5C07B"/>
                </a:solidFill>
                <a:latin typeface="Roboto Mono"/>
                <a:ea typeface="Roboto Mono"/>
                <a:cs typeface="Roboto Mono"/>
                <a:sym typeface="Roboto Mono"/>
              </a:rPr>
              <a:t>&lt;memory&gt;</a:t>
            </a: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// 包含智能指针头文件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300" b="0" i="0" u="none" strike="noStrike">
                <a:solidFill>
                  <a:srgbClr val="E5C07B"/>
                </a:solidFill>
                <a:latin typeface="Roboto Mono"/>
                <a:ea typeface="Roboto Mono"/>
                <a:cs typeface="Roboto Mono"/>
                <a:sym typeface="Roboto Mono"/>
              </a:rPr>
              <a:t>MyClass</a:t>
            </a: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{ /* ... */ };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300" b="0" i="0" u="none" strike="noStrike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// 1. 创建 unique_ptr，推荐使用 make_unique 初始化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std::unique_ptr&lt;MyClass&gt; up1 = std::make_unique&lt;MyClass&gt;();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// 2. 尝试拷贝会编译错误；必须用 std::move 转移所有权，转移后 up1 为空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std::unique_ptr&lt;MyClass&gt; up2 = std::move(up1);</a:t>
            </a:r>
            <a:r>
              <a:rPr lang="en-US" sz="1300" b="0" i="0" u="none" strike="noStrike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if (!up1) { /* up1 is null */ }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// 3. 离开作用域，up2 自动析构，其管理的对象内存被自动释放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300" b="0" i="0" u="none" strike="noStrike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5080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5232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唯一所有权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715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同一时间只能有一个 unique_ptr 持有对象，禁止拷贝构造和拷贝赋值，从根源避免野指针。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5080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527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5232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显式所有权转移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5715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必须使用 std::move 语义显式转移对象所有权，转移后原指针置空，避免了隐式的资源共享。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5080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5270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5232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作用域自动释放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57150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当 unique_ptr 离开其作用域时，析构函数会自动调用 delete 释放所管理的对象，无需手动干预。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std::shared_ptr：共享语义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590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核心：共享所有权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允许多个 std::shared_ptr 实例同时持有并管理同一个堆内存对象的所有权。这解决了独占指针无法共享资源的问题，是实现复杂对象生命周期管理的基础。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15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1590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机制：引用计数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17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内部维护一个计数器记录所有者数量。拷贝指针时计数加1；指针销毁或重置时计数减1。当计数降至0时，自动释放管理的内存资源，彻底避免内存泄漏。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159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21590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实践：make_shared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17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优先使用 std::make_shared 创建智能指针。它将对象内存与控制块内存一次性分配，效率更高；同时能有效避免在构造对象过程中抛出异常导致的内存泄漏风险。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76200" cy="825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6896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总结：std::shared_ptr 是C++中最常用的智能指针，通过引用计数实现了资源的安全共享，是构建复杂对象图和资源管理的首选工具。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std::shared_ptr：代码示例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921000"/>
          </a:xfrm>
          <a:prstGeom prst="roundRect">
            <a:avLst>
              <a:gd name="adj" fmla="val 0"/>
            </a:avLst>
          </a:prstGeom>
          <a:solidFill>
            <a:srgbClr val="1A202C">
              <a:alpha val="85000"/>
            </a:srgbClr>
          </a:solidFill>
          <a:ln w="25400" cap="flat" cmpd="sng">
            <a:solidFill>
              <a:srgbClr val="48D1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&lt;memory&gt; // 包含智能指针头文件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300" b="0" i="0" u="none" strike="noStrike">
                <a:solidFill>
                  <a:srgbClr val="F78C6C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(std::shared_ptr&lt;int&gt; sp) { ... }</a:t>
            </a: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函数参数值传递，引用计数+1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300" b="0" i="0" u="none" strike="noStrike">
                <a:solidFill>
                  <a:srgbClr val="F78C6C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std::shared_ptr&lt;int&gt; sp1 = std::make_shared&lt;int&gt;(42);</a:t>
            </a: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创建，计数 = 1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std::shared_ptr&lt;int&gt; sp2 = sp1;</a:t>
            </a: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拷贝赋值，计数 = 2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func(sp1); sp2.reset();</a:t>
            </a: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函数调用后回到2，reset后计数 = 1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0;</a:t>
            </a:r>
            <a:r>
              <a:rPr lang="en-US" sz="1300" b="0" i="0" u="none" strike="noStrik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sp1析构，计数 = 0，内存自动释放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4826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497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初始化与拷贝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524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make_shared 创建对象时引用计数为1；拷贝赋值给 sp2 后，计数增加为2，多个智能指针共享同一块内存。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4826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4826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92700" y="497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传递与作用域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48200" y="5524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以值传递方式传入函数会增加计数；函数执行结束后局部对象销毁，计数随之减1，保证资源不会提前释放。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4826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4826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5016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24900" y="497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重置与自动释放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80400" y="5524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reset 会让 sp2 放弃所有权，计数减为1；最后 sp1 离开作用域时计数变为0，系统自动调用 delete 释放内存。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std::weak_ptr：解决循环引用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33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循环引用的陷阱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当两个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shared_ptr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互相指向对方时，双方的引用计数会始终保持为 1，导致对象无法被析构，最终造成堆内存泄漏。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典型场景：A &lt;--shared_ptr--&gt; B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133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弱引用的本质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048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weak_ptr 是一种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“弱引用”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，它指向 shared_ptr 管理的对象，但不会增加引用计数。它就像一个旁观者，静静观察对象的生命周期。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核心作用：安全打破循环引用，避免内存泄漏。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133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lock() 安全访问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048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weak_ptr 不拥有对象所有权，因此不能直接访问对象。必须通过</a:t>
            </a:r>
            <a:r>
              <a:rPr lang="en-US" sz="14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lock()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方法将其提升为 shared_ptr。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lock() 会原子性地检查对象是否存活，存活则返回有效 shared_ptr，否则返回空指针。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8801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5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weak_ptr 是 shared_ptr 的“最佳拍档”，它不参与引用计数，专为解决循环引用而生，让智能指针的内存管理更加完善。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智能指针：实战原则与常见陷阱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8D1C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核心最佳实践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优先使用 unique_ptr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当对象所有权唯一时，它是开销最小、语义最清晰的选择，避免不必要的引用计数。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683000" y="2413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683000" y="2413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873500" y="2540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make 系列函数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总是用 make_shared 和 make_unique 创建智能指针，更安全且避免内存泄漏，make_shared 还能提升内存分配效率。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318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严守内存管理边界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严禁用智能指针管理栈上对象，且避免裸指针与智能指针混用，否则会导致所有权混乱和重复释放。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683000" y="4191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683000" y="4191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873500" y="4318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规避循环引用风险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shared_ptr 时警惕循环引用，需适时搭配 weak_ptr。调用 weak_ptr.lock() 后，必须检查返回的 shared_ptr 是否为空。</a:t>
            </a:r>
          </a:p>
        </p:txBody>
      </p:sp>
      <p:cxnSp>
        <p:nvCxnSpPr>
          <p:cNvPr id="18" name="Connector 18"/>
          <p:cNvCxnSpPr/>
          <p:nvPr/>
        </p:nvCxnSpPr>
        <p:spPr>
          <a:xfrm rot="5389257">
            <a:off x="4699000" y="3803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985000" y="165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B5757"/>
                </a:solidFill>
                <a:latin typeface="Noto Sans SC"/>
                <a:ea typeface="Noto Sans SC"/>
                <a:cs typeface="Noto Sans SC"/>
                <a:sym typeface="Noto Sans SC"/>
              </a:rPr>
              <a:t>02 / 避坑指南：常见错误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2413000"/>
            <a:ext cx="4445000" cy="952500"/>
          </a:xfrm>
          <a:prstGeom prst="roundRect">
            <a:avLst>
              <a:gd name="adj" fmla="val 0"/>
            </a:avLst>
          </a:prstGeom>
          <a:solidFill>
            <a:srgbClr val="EB575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0" y="260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20000" y="24765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 shared_ptr 绑定同一裸指针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这会导致多个控制块管理同一块内存，最终造成重复释放，引发未定义行为。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985000" y="3683000"/>
            <a:ext cx="4445000" cy="952500"/>
          </a:xfrm>
          <a:prstGeom prst="roundRect">
            <a:avLst>
              <a:gd name="adj" fmla="val 0"/>
            </a:avLst>
          </a:prstGeom>
          <a:solidFill>
            <a:srgbClr val="EB575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3873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37465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构造函数中泄露 this 指针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对象尚未完全构造时，就将 this 交给智能指针管理，此时对象状态不完全，极易引发异常。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985000" y="5080000"/>
            <a:ext cx="4445000" cy="952500"/>
          </a:xfrm>
          <a:prstGeom prst="roundRect">
            <a:avLst>
              <a:gd name="adj" fmla="val 0"/>
            </a:avLst>
          </a:prstGeom>
          <a:solidFill>
            <a:srgbClr val="EB575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5270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620000" y="51435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管理数组时未指定删除器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shared_ptr 默认使用 delete 而非 delete[]，管理动态数组时必须显式指定数组删除器，防止内存泄漏。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掌握CMake跨平台构建工具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323">
            <a:off x="4572013" y="520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D1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558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Cross-Platform Build System | 构建专业、高效且可移植的C++项目的关键技术栈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CMake：基本概念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052" r="1052"/>
          <a:stretch>
            <a:fillRect/>
          </a:stretch>
        </p:blipFill>
        <p:spPr>
          <a:xfrm>
            <a:off x="762000" y="1905000"/>
            <a:ext cx="3302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“Write once, build everywhere.” 编写一次平台无关的配置文件，即可在任意平台生成原生构建文件。</a:t>
            </a:r>
          </a:p>
        </p:txBody>
      </p:sp>
      <p:cxnSp>
        <p:nvCxnSpPr>
          <p:cNvPr id="8" name="Connector 8"/>
          <p:cNvCxnSpPr/>
          <p:nvPr/>
        </p:nvCxnSpPr>
        <p:spPr>
          <a:xfrm rot="5389889">
            <a:off x="2413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953000" y="1905000"/>
            <a:ext cx="647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2095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715000" y="2057400"/>
            <a:ext cx="546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 是什么？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7314">
            <a:off x="5207007" y="25971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207000" y="2730500"/>
            <a:ext cx="596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它是一个跨平台的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构建系统生成器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，不直接构建软件，而是根据开发者编写的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CMakeLists.txt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配置文件，自动生成适用于 Unix Makefiles、Ninja、Visual Studio、Xcode 等不同平台的原生构建文件。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0" y="4191000"/>
            <a:ext cx="311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0" y="438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43434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Makefile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989">
            <a:off x="5143515" y="48831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143500" y="501650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特定于 make 工具的构建脚本，语法复杂且对新手不友好，跨平台移植性极差，维护成本高。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4191000"/>
            <a:ext cx="3111500" cy="1905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000" y="438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953500" y="43434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CMakeLists.txt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989">
            <a:off x="8509015" y="48831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509000" y="501650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CMake 的配置文件，语法相对简单直观。由 CMake 负责将其转换为各平台原生构建文件，实现“一次编写，到处构建”。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CMake：核心语法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16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cmake_minimum_required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540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指定构建项目所需的 CMake 最低版本要求，确保后续指令的兼容性。语法：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cmake_minimum_required(VERSION &lt;version&gt;)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27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102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1016008" y="4629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82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定义项目名称，并可指定项目使用的编程语言（如 CXX, C 等）。语法：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project(&lt;project_name&gt; [LANGUAGES &lt;lang&gt;...])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177">
            <a:off x="4127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1651000"/>
            <a:ext cx="5016500" cy="1270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1803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1803400"/>
            <a:ext cx="425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核心构建目标指令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94500" y="22225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add_executable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创建可执行文件，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add_library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创建静态或动态库，是定义项目产出物的关键。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3302000"/>
            <a:ext cx="5016500" cy="2476500"/>
          </a:xfrm>
          <a:prstGeom prst="roundRect">
            <a:avLst>
              <a:gd name="adj" fmla="val 0"/>
            </a:avLst>
          </a:prstGeom>
          <a:solidFill>
            <a:srgbClr val="282C3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31000" y="3429000"/>
            <a:ext cx="47625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cmake_minimum_required</a:t>
            </a: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(VERSION 3.16)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project</a:t>
            </a: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(MyApp LANGUAGES CXX)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808080"/>
                </a:solidFill>
                <a:latin typeface="Roboto Mono"/>
                <a:ea typeface="Roboto Mono"/>
                <a:cs typeface="Roboto Mono"/>
                <a:sym typeface="Roboto Mono"/>
              </a:rPr>
              <a:t># 设置C++17标准为项目默认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(CMAKE_CXX_STANDARD 17)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(CMAKE_CXX_STANDARD_REQUIRED ON)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add_executable</a:t>
            </a: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(my_app main.cpp)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CMake：核心语法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222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链接依赖库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238500"/>
            <a:ext cx="29210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3302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006969"/>
                </a:solidFill>
                <a:latin typeface="Roboto Mono"/>
                <a:ea typeface="Roboto Mono"/>
                <a:cs typeface="Roboto Mono"/>
                <a:sym typeface="Roboto Mono"/>
              </a:rPr>
              <a:t>target_link_libraries(&lt;target&gt; &lt;dep&gt;...)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为指定的构建目标链接所需的依赖库，是实现模块化开发和库复用的核心指令。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905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222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70500" y="2222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配置头文件路径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3238500"/>
            <a:ext cx="29210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762500" y="3302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006969"/>
                </a:solidFill>
                <a:latin typeface="Roboto Mono"/>
                <a:ea typeface="Roboto Mono"/>
                <a:cs typeface="Roboto Mono"/>
                <a:sym typeface="Roboto Mono"/>
              </a:rPr>
              <a:t>target_include_directories(&lt;target&gt; &lt;scope&gt; &lt;dir&gt;...)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4445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指定目标的头文件搜索目录。使用</a:t>
            </a:r>
            <a:r>
              <a:rPr lang="en-US" sz="1400" b="0" i="0" u="none" strike="noStrike">
                <a:solidFill>
                  <a:srgbClr val="006969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关键字时，该路径会自动传递给依赖此目标的其他目标，简化依赖管理。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1905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2225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90000" y="2222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组织项目结构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946">
            <a:off x="82550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55000" y="3238500"/>
            <a:ext cx="2921000" cy="889000"/>
          </a:xfrm>
          <a:prstGeom prst="roundRect">
            <a:avLst>
              <a:gd name="adj" fmla="val 0"/>
            </a:avLst>
          </a:prstGeom>
          <a:solidFill>
            <a:srgbClr val="48D1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382000" y="3302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006969"/>
                </a:solidFill>
                <a:latin typeface="Roboto Mono"/>
                <a:ea typeface="Roboto Mono"/>
                <a:cs typeface="Roboto Mono"/>
                <a:sym typeface="Roboto Mono"/>
              </a:rPr>
              <a:t>add_subdirectory(&lt;subdir&gt;)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4445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将子目录加入构建流程，每个子目录需包含独立的</a:t>
            </a:r>
            <a:r>
              <a:rPr lang="en-US" sz="1400" b="0" i="0" u="none" strike="noStrike">
                <a:solidFill>
                  <a:srgbClr val="006969"/>
                </a:solidFill>
                <a:latin typeface="Roboto Mono"/>
                <a:ea typeface="Roboto Mono"/>
                <a:cs typeface="Roboto Mono"/>
                <a:sym typeface="Roboto Mono"/>
              </a:rPr>
              <a:t>CMakeLists.txt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。这是拆分和管理大型复杂项目代码的标准做法。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CMake：一个现代的项目结构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一个清晰、模块化的项目结构不仅能提升代码的可维护性，还能降低团队协作与后续功能扩展的成本。采用标准化的目录组织，是现代 C++ 工程开发的最佳实践。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8D1CC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3302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/include 公共接口层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93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127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存放项目对外暴露的公共头文件（如 core.h、utils.h），通常包含命名空间子目录，明确模块边界，供外部调用者引用。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048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330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3302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/src 核心实现层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93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4127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存放项目的私有源文件（.cpp），包含核心逻辑与功能实现。该目录下也配有专属 CMakeLists.txt，负责编译生成静态或动态链接库。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048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3302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26500" y="3302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/examples 示例应用层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93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4127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存放项目的示例代码与演示程序，帮助用户快速理解库的使用方法。独立的示例目录避免了与核心代码的耦合，便于维护和展示。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943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905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根目录配置：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根目录下的 CMakeLists.txt 作为项目入口，统一管理 include、src 和 examples 三个子模块，实现编译流程的自动化与标准化。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CMake：项目结构的CMake配置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209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01. 根目录全局配置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750">
            <a:off x="889013" y="259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794000"/>
            <a:ext cx="3175000" cy="2413000"/>
          </a:xfrm>
          <a:prstGeom prst="roundRect">
            <a:avLst>
              <a:gd name="adj" fmla="val 0"/>
            </a:avLst>
          </a:prstGeom>
          <a:solidFill>
            <a:srgbClr val="282C3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cmake_minimum_required(VERSION 3.16)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project(my_project LANGUAGES CXX)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set(CMAKE_CXX_STANDARD 17)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add_subdirectory(src)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add_subdirectory(examples)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08500" y="209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核心库构建 (src)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750">
            <a:off x="4508513" y="259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508500" y="2794000"/>
            <a:ext cx="3175000" cy="2413000"/>
          </a:xfrm>
          <a:prstGeom prst="roundRect">
            <a:avLst>
              <a:gd name="adj" fmla="val 0"/>
            </a:avLst>
          </a:prstGeom>
          <a:solidFill>
            <a:srgbClr val="282C3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35500" y="292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add_library(my_project_lib STATIC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core.cpp utils.cpp)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target_include_directories(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my_project_lib PUBLIC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${PROJECT_SOURCE_DIR}/include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209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03. 示例程序链接 (examples)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750">
            <a:off x="8128013" y="259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128000" y="2794000"/>
            <a:ext cx="3175000" cy="2413000"/>
          </a:xfrm>
          <a:prstGeom prst="roundRect">
            <a:avLst>
              <a:gd name="adj" fmla="val 0"/>
            </a:avLst>
          </a:prstGeom>
          <a:solidFill>
            <a:srgbClr val="282C3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0" y="292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add_executable(demo demo.cpp)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target_link_libraries(demo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PRIVATE my_project_lib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# 链接项目静态库，复用核心逻辑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8D1C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6007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9055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通过分层配置，实现了核心代码库与示例程序的解耦，既保证了库的可复用性，也让示例工程的构建更加简洁清晰。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CMake：管理外部依赖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762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8D1CC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核心指令：find_package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78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`find_package(&lt;PackageName&gt;)` 是 CMake 查找并配置外部库的标准方式。CMake 会在系统路径中搜索名为 `&lt;PackageName&gt;Config.cmake` 或 `Find&lt;PackageName&gt;.cmake` 的配置文件。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若成功找到，CMake 将自动定义关键变量（如 `&lt;PackageName&gt;_FOUND`, `&lt;PackageName&gt;_INCLUDE_DIRS`），并提供目标供后续直接链接，极大简化了第三方库的集成流程。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1778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382000" y="18415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示例：集成 Boost 库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Boost 是功能强大的 C++ 库集合，通过 CMake 的 find_package 可快速定位其组件（如 program_options），并无缝链接到目标程序中。</a:t>
            </a:r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604008" y="367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3937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282C3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94500" y="40640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# 查找 Boost 库的 program_options 组件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8D1CC"/>
                </a:solidFill>
                <a:latin typeface="Roboto Mono"/>
                <a:ea typeface="Roboto Mono"/>
                <a:cs typeface="Roboto Mono"/>
                <a:sym typeface="Roboto Mono"/>
              </a:rPr>
              <a:t>find_package</a:t>
            </a: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(Boost REQUIRED COMPONENTS program_options)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if(Boost_FOUND) add_executable(app main.cpp)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target_link_libraries(app PRIVATE Boost::program_options)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Roboto Mono"/>
                <a:ea typeface="Roboto Mono"/>
                <a:cs typeface="Roboto Mono"/>
                <a:sym typeface="Roboto Mono"/>
              </a:rPr>
              <a:t>endif()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" y="1968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面向对象编程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316">
            <a:off x="1092209" y="2660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2794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深入理解封装、继承（含虚继承）、多态（含vtable原理）的底层机制，构建高内聚、低耦合的模块化程序结构。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6700" y="1968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标准模板库 (STL)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316">
            <a:off x="6616709" y="2660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16700" y="2794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熟练掌握常用容器特性与适用场景，理解迭代器的核心作用，并能灵活运用STL算法高效处理数据，提升开发效率。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2200" y="4381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38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智能指针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316">
            <a:off x="1092209" y="5073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92200" y="520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透彻掌握 unique_ptr、shared_ptr、weak_ptr 的原理与使用场景，有效避免内存泄漏，实现动态内存的安全自动化管理。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8D1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6700" y="4381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438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CMake 跨平台构建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316">
            <a:off x="6616709" y="5073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D1CC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16700" y="520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掌握CMake的核心语法与构建流程，能够高效管理项目内部代码结构和外部依赖库，实现项目在不同操作系统下的无缝编译。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8D1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4826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感谢聆听，希望本次分享能为你打开C++核心机制的新视角。</a:t>
            </a:r>
            <a:b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欢迎提出疑问与想法，让我们在交流中共同进步。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4628</Words>
  <Application>Microsoft Office PowerPoint</Application>
  <PresentationFormat>宽屏</PresentationFormat>
  <Paragraphs>561</Paragraphs>
  <Slides>41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Noto Sans SC</vt:lpstr>
      <vt:lpstr>Roboto Mono</vt:lpstr>
      <vt:lpstr>Arial</vt:lpstr>
      <vt:lpstr>Consolas</vt:lpstr>
      <vt:lpstr>Courier New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***</cp:lastModifiedBy>
  <cp:revision>1</cp:revision>
  <dcterms:modified xsi:type="dcterms:W3CDTF">2026-07-01T00:06:04Z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{"Label":"1","ContentProducer":"001191110102MACQD9K64010000","ProduceID":"7657343242039889120","ReservedCode1":"","ContentPropagator":"","PropagateID":"","ReservedCode2":""}</vt:lpwstr>
  </property>
</Properties>
</file>