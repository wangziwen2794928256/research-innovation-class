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本项目围绕MITK平台扩展AI医学影像分割能力。</a:t>
            </a:r>
          </a:p>
          <a:p>
            <a:r>
              <a:t>汇报重点是系统架构、插件设计、源码流程、结果与量化分析。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先说明为什么需要分割：它把像素变成器官级结构。</a:t>
            </a:r>
          </a:p>
          <a:p>
            <a:r>
              <a:t>本项目并不止于生成Mask，还要在MITK里展示并完成量化。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架构核心是解耦：MITK负责交互，Python负责调用模型。</a:t>
            </a:r>
          </a:p>
          <a:p>
            <a:r>
              <a:t>双方通过文件路径与NIfTI结果交换数据，便于调试和替换模型。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这里强调版本不是清单，而是复现条件。</a:t>
            </a:r>
          </a:p>
          <a:p>
            <a:r>
              <a:t>尤其要关注Qt的MSVC套件和MITK编译环境一致。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MITK不是单一图像查看器，而是由Qt、ITK、VTK和BlueBerry组成的平台。</a:t>
            </a:r>
          </a:p>
          <a:p>
            <a:r>
              <a:t>因此AI能力可以作为独立插件加入，无需侵入核心。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CMake负责发现依赖、生成Visual Studio工程并管理插件编译关系。</a:t>
            </a:r>
          </a:p>
          <a:p>
            <a:r>
              <a:t>SuperBuild让第三方库与MITK核心保持一致。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这是汇报重点：插件结构模仿MITK原生插件，降低后续维护成本。</a:t>
            </a:r>
          </a:p>
          <a:p>
            <a:r>
              <a:t>PythonBridge是边界层，隔离C++界面与Python模型环境。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UI尽量简洁，让一次推理任务从选择、启动、反馈到显示闭环。</a:t>
            </a:r>
          </a:p>
          <a:p>
            <a:r>
              <a:t>界面状态必须让用户知道当前处于加载、推理还是完成阶段。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TotalSegmentator负责更上层的模型调度，核心分割能力来自nnUNet。</a:t>
            </a:r>
          </a:p>
          <a:p>
            <a:r>
              <a:t>项目强调源码流程分析和运行验证，而不是把命令行当作黑盒。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nnUNet的特点是自动配置，不只是一种固定网络。</a:t>
            </a:r>
          </a:p>
          <a:p>
            <a:r>
              <a:t>它从数据特征出发规划预处理、网络和训练策略。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展示实际源码与环境，说明我们复现了公开训练流程。</a:t>
            </a:r>
          </a:p>
          <a:p>
            <a:r>
              <a:t>checkpoint、plans和dataset描述共同支撑后续推理。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predict.py是稳定接口层，把复杂环境和模型调用隐藏在统一入口之后。</a:t>
            </a:r>
          </a:p>
          <a:p>
            <a:r>
              <a:t>这也方便MITK通过进程和路径进行调用。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左侧是原始CT，右侧是分割Mask叠加后的MITK视图。</a:t>
            </a:r>
          </a:p>
          <a:p>
            <a:r>
              <a:t>多平面视图可用于快速检查分割区域与解剖结构是否一致。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面积曲线刻画不同切片上的横截面积，体积曲线展示逐层累积。</a:t>
            </a:r>
          </a:p>
          <a:p>
            <a:r>
              <a:t>定量计算基于Mask体素数和影像空间分辨率。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项目完成了从输入、分割到显示和分析的完整链路。</a:t>
            </a:r>
          </a:p>
          <a:p>
            <a:r>
              <a:t>后续将从三维可视化、模型优化和智能分析三个方向继续拓展。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19C7D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960235" y="0"/>
            <a:ext cx="5334000" cy="6858000"/>
          </a:xfrm>
          <a:prstGeom prst="rect">
            <a:avLst/>
          </a:prstGeom>
          <a:solidFill>
            <a:srgbClr val="0B2C4D"/>
          </a:solidFill>
          <a:ln w="0">
            <a:noFill/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7086600" y="514350"/>
            <a:ext cx="4762500" cy="5829300"/>
          </a:xfrm>
          <a:prstGeom prst="roundRect">
            <a:avLst>
              <a:gd name="adj" fmla="val 4800"/>
            </a:avLst>
          </a:prstGeom>
          <a:noFill/>
          <a:ln w="19050">
            <a:solidFill>
              <a:srgbClr val="2BCBD6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7048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1">
                <a:solidFill>
                  <a:srgbClr val="7BDC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7BDC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科研项目结项汇报</a:t>
            </a:r>
            <a:endParaRPr sz="1275" b="1">
              <a:solidFill>
                <a:srgbClr val="7BDCE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1381125"/>
            <a:ext cx="5619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222"/>
          </a:bodyPr>
          <a:lstStyle/>
          <a:p>
            <a:pPr algn="l">
              <a:defRPr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基于MITK平台的</a:t>
            </a:r>
            <a:endParaRPr sz="4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AI医学影像智能</a:t>
            </a:r>
            <a:endParaRPr sz="4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分割系统</a:t>
            </a:r>
            <a:endParaRPr sz="4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350520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9DEC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9DEC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设计与实现</a:t>
            </a:r>
            <a:endParaRPr sz="2550" b="1">
              <a:solidFill>
                <a:srgbClr val="9DEC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4391025"/>
            <a:ext cx="1047750" cy="38100"/>
          </a:xfrm>
          <a:prstGeom prst="rect">
            <a:avLst/>
          </a:prstGeom>
          <a:solidFill>
            <a:srgbClr val="19C7D4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4667250"/>
            <a:ext cx="561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0">
                <a:solidFill>
                  <a:srgbClr val="C6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C6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MITK插件化集成  ·  TotalSegmentator源码分析</a:t>
            </a:r>
            <a:endParaRPr sz="1650" b="0">
              <a:solidFill>
                <a:srgbClr val="C6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650" b="0">
                <a:solidFill>
                  <a:srgbClr val="C6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C6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NNUNet流程复现  ·  分割结果分析</a:t>
            </a:r>
            <a:endParaRPr sz="1650" b="0">
              <a:solidFill>
                <a:srgbClr val="C6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59245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汇报人：***、***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 r="40479"/>
          <a:stretch>
            <a:fillRect/>
          </a:stretch>
        </p:blipFill>
        <p:spPr>
          <a:xfrm>
            <a:off x="7085965" y="492125"/>
            <a:ext cx="4763135" cy="58508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285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MITK · AI SEGMENTATION</a:t>
            </a:r>
            <a:endParaRPr sz="1050" b="1">
              <a:solidFill>
                <a:srgbClr val="16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552450"/>
            <a:ext cx="851408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6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智能分割把医学影像转化为可计算结构</a:t>
            </a:r>
            <a:endParaRPr sz="360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00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209675"/>
            <a:ext cx="10972800" cy="19050"/>
          </a:xfrm>
          <a:prstGeom prst="rect">
            <a:avLst/>
          </a:prstGeom>
          <a:solidFill>
            <a:srgbClr val="C9DCE6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832215" y="141287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临床影像</a:t>
            </a:r>
            <a:endParaRPr sz="1800" b="1">
              <a:solidFill>
                <a:srgbClr val="16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832850" y="1845310"/>
            <a:ext cx="3034030" cy="422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74203"/>
          </a:bodyPr>
          <a:lstStyle/>
          <a:p>
            <a:pPr algn="l">
              <a:defRPr sz="1725" b="0">
                <a:solidFill>
                  <a:srgbClr val="1024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024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 / MRI 数据量大、结构复杂，人工勾画耗时且一致性受经验影响。</a:t>
            </a:r>
            <a:endParaRPr sz="1725" b="0">
              <a:solidFill>
                <a:srgbClr val="1024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 flipV="1">
            <a:off x="8832850" y="2374265"/>
            <a:ext cx="2686685" cy="76200"/>
          </a:xfrm>
          <a:prstGeom prst="rect">
            <a:avLst/>
          </a:prstGeom>
          <a:solidFill>
            <a:srgbClr val="C9DCE6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832850" y="2565400"/>
            <a:ext cx="2834640" cy="1059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0000"/>
          </a:bodyPr>
          <a:lstStyle/>
          <a:p>
            <a:pPr algn="l">
              <a:lnSpc>
                <a:spcPct val="112000"/>
              </a:lnSpc>
              <a:buNone/>
              <a:defRPr sz="1725">
                <a:solidFill>
                  <a:srgbClr val="1024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024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自动提取</a:t>
            </a:r>
            <a:r>
              <a:rPr sz="1725">
                <a:solidFill>
                  <a:srgbClr val="1024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器官与组织边界</a:t>
            </a:r>
            <a:endParaRPr sz="1725">
              <a:solidFill>
                <a:srgbClr val="1024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725">
                <a:solidFill>
                  <a:srgbClr val="1024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024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支撑决策</a:t>
            </a:r>
            <a:r>
              <a:rPr sz="1725">
                <a:solidFill>
                  <a:srgbClr val="1024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辅助诊断与术前规划</a:t>
            </a:r>
            <a:endParaRPr sz="1725">
              <a:solidFill>
                <a:srgbClr val="1024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725">
                <a:solidFill>
                  <a:srgbClr val="1024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024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形成指标</a:t>
            </a:r>
            <a:r>
              <a:rPr sz="1725">
                <a:solidFill>
                  <a:srgbClr val="1024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面积、体积及变化趋势</a:t>
            </a:r>
            <a:endParaRPr sz="1725">
              <a:solidFill>
                <a:srgbClr val="1024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832215" y="3689350"/>
            <a:ext cx="3004820" cy="273050"/>
          </a:xfrm>
          <a:prstGeom prst="roundRect">
            <a:avLst>
              <a:gd name="adj" fmla="val 50000"/>
            </a:avLst>
          </a:prstGeom>
          <a:solidFill>
            <a:srgbClr val="071B33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896985" y="3739515"/>
            <a:ext cx="2770505" cy="168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7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在MITK中形成“输入—分割—显示—分析”闭环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525000" y="6543675"/>
            <a:ext cx="205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0">
                <a:solidFill>
                  <a:srgbClr val="789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89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*** · ***</a:t>
            </a:r>
            <a:endParaRPr sz="825" b="0">
              <a:solidFill>
                <a:srgbClr val="7890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图片 20" descr="mitk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6670" y="-1905"/>
            <a:ext cx="12236450" cy="68878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285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7BDC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7BDC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MITK · AI SEGMENTATION</a:t>
            </a:r>
            <a:endParaRPr sz="1050" b="1">
              <a:solidFill>
                <a:srgbClr val="7BDCE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5524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五层架构把桌面交互与AI推理</a:t>
            </a:r>
            <a:r>
              <a:rPr lang="zh-CN"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</a:t>
            </a:r>
            <a:endParaRPr lang="zh-CN"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00" b="1">
                <a:solidFill>
                  <a:srgbClr val="7F9B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7F9B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1">
              <a:solidFill>
                <a:srgbClr val="7F9B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209675"/>
            <a:ext cx="10972800" cy="19050"/>
          </a:xfrm>
          <a:prstGeom prst="rect">
            <a:avLst/>
          </a:prstGeom>
          <a:solidFill>
            <a:srgbClr val="214362"/>
          </a:solidFill>
          <a:ln w="0">
            <a:noFill/>
            <a:prstDash val="solid"/>
          </a:ln>
        </p:spPr>
      </p:sp>
      <p:sp>
        <p:nvSpPr>
          <p:cNvPr id="6" name="右箭头 5"/>
          <p:cNvSpPr>
            <a:spLocks noGrp="1"/>
          </p:cNvSpPr>
          <p:nvPr/>
        </p:nvSpPr>
        <p:spPr>
          <a:xfrm>
            <a:off x="2324100" y="2971800"/>
            <a:ext cx="438150" cy="209550"/>
          </a:xfrm>
          <a:prstGeom prst="rightArrow">
            <a:avLst/>
          </a:prstGeom>
          <a:solidFill>
            <a:srgbClr val="25CDD7"/>
          </a:solidFill>
          <a:ln w="0">
            <a:solidFill>
              <a:srgbClr val="25CDD7"/>
            </a:solidFill>
            <a:prstDash val="solid"/>
          </a:ln>
        </p:spPr>
      </p:sp>
      <p:sp>
        <p:nvSpPr>
          <p:cNvPr id="7" name="右箭头 6"/>
          <p:cNvSpPr>
            <a:spLocks noGrp="1"/>
          </p:cNvSpPr>
          <p:nvPr/>
        </p:nvSpPr>
        <p:spPr>
          <a:xfrm>
            <a:off x="4552950" y="2971800"/>
            <a:ext cx="438150" cy="209550"/>
          </a:xfrm>
          <a:prstGeom prst="rightArrow">
            <a:avLst/>
          </a:prstGeom>
          <a:solidFill>
            <a:srgbClr val="25CDD7"/>
          </a:solidFill>
          <a:ln w="0">
            <a:solidFill>
              <a:srgbClr val="25CDD7"/>
            </a:solidFill>
            <a:prstDash val="solid"/>
          </a:ln>
        </p:spPr>
      </p:sp>
      <p:sp>
        <p:nvSpPr>
          <p:cNvPr id="8" name="右箭头 7"/>
          <p:cNvSpPr>
            <a:spLocks noGrp="1"/>
          </p:cNvSpPr>
          <p:nvPr/>
        </p:nvSpPr>
        <p:spPr>
          <a:xfrm>
            <a:off x="6781800" y="2971800"/>
            <a:ext cx="438150" cy="209550"/>
          </a:xfrm>
          <a:prstGeom prst="rightArrow">
            <a:avLst/>
          </a:prstGeom>
          <a:solidFill>
            <a:srgbClr val="25CDD7"/>
          </a:solidFill>
          <a:ln w="0">
            <a:solidFill>
              <a:srgbClr val="25CDD7"/>
            </a:solidFill>
            <a:prstDash val="solid"/>
          </a:ln>
        </p:spPr>
      </p:sp>
      <p:sp>
        <p:nvSpPr>
          <p:cNvPr id="9" name="右箭头 8"/>
          <p:cNvSpPr>
            <a:spLocks noGrp="1"/>
          </p:cNvSpPr>
          <p:nvPr/>
        </p:nvSpPr>
        <p:spPr>
          <a:xfrm>
            <a:off x="9010650" y="2971800"/>
            <a:ext cx="438150" cy="209550"/>
          </a:xfrm>
          <a:prstGeom prst="rightArrow">
            <a:avLst/>
          </a:prstGeom>
          <a:solidFill>
            <a:srgbClr val="25CDD7"/>
          </a:solidFill>
          <a:ln w="0">
            <a:solidFill>
              <a:srgbClr val="25CDD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628650" y="2667000"/>
            <a:ext cx="1695450" cy="800100"/>
          </a:xfrm>
          <a:prstGeom prst="roundRect">
            <a:avLst>
              <a:gd name="adj" fmla="val 16667"/>
            </a:avLst>
          </a:prstGeom>
          <a:solidFill>
            <a:srgbClr val="123C61"/>
          </a:solidFill>
          <a:ln w="9525">
            <a:solidFill>
              <a:srgbClr val="123C61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2743200"/>
            <a:ext cx="1466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MITK交互层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3086100"/>
            <a:ext cx="1466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影像加载与显示</a:t>
            </a:r>
            <a:endParaRPr sz="97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2857500" y="2667000"/>
            <a:ext cx="1695450" cy="800100"/>
          </a:xfrm>
          <a:prstGeom prst="roundRect">
            <a:avLst>
              <a:gd name="adj" fmla="val 16667"/>
            </a:avLst>
          </a:prstGeom>
          <a:solidFill>
            <a:srgbClr val="15527B"/>
          </a:solidFill>
          <a:ln w="9525">
            <a:solidFill>
              <a:srgbClr val="15527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971800" y="2743200"/>
            <a:ext cx="1466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AI插件层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971800" y="3086100"/>
            <a:ext cx="1466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命令与状态管理</a:t>
            </a:r>
            <a:endParaRPr sz="97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5086350" y="2667000"/>
            <a:ext cx="1695450" cy="800100"/>
          </a:xfrm>
          <a:prstGeom prst="roundRect">
            <a:avLst>
              <a:gd name="adj" fmla="val 16667"/>
            </a:avLst>
          </a:prstGeom>
          <a:solidFill>
            <a:srgbClr val="176A89"/>
          </a:solidFill>
          <a:ln w="9525">
            <a:solidFill>
              <a:srgbClr val="176A89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200650" y="2743200"/>
            <a:ext cx="1466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Python接口层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200650" y="3086100"/>
            <a:ext cx="1466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路径与进程桥接</a:t>
            </a:r>
            <a:endParaRPr sz="97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315200" y="2667000"/>
            <a:ext cx="1695450" cy="800100"/>
          </a:xfrm>
          <a:prstGeom prst="roundRect">
            <a:avLst>
              <a:gd name="adj" fmla="val 16667"/>
            </a:avLst>
          </a:prstGeom>
          <a:solidFill>
            <a:srgbClr val="148A9A"/>
          </a:solidFill>
          <a:ln w="9525">
            <a:solidFill>
              <a:srgbClr val="148A9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429500" y="2743200"/>
            <a:ext cx="1466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模型推理层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29500" y="3086100"/>
            <a:ext cx="1466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358"/>
          </a:bodyPr>
          <a:lstStyle/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TotalSegmentator / nnUNet</a:t>
            </a:r>
            <a:endParaRPr sz="97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9544050" y="2667000"/>
            <a:ext cx="1695450" cy="800100"/>
          </a:xfrm>
          <a:prstGeom prst="roundRect">
            <a:avLst>
              <a:gd name="adj" fmla="val 16667"/>
            </a:avLst>
          </a:prstGeom>
          <a:solidFill>
            <a:srgbClr val="16A6A5"/>
          </a:solidFill>
          <a:ln w="9525">
            <a:solidFill>
              <a:srgbClr val="16A6A5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658350" y="2743200"/>
            <a:ext cx="1466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结果分析层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658350" y="3086100"/>
            <a:ext cx="1466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Mask显示与定量</a:t>
            </a:r>
            <a:endParaRPr sz="97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8650" y="2000250"/>
            <a:ext cx="169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8BA7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8BA7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 / MRI</a:t>
            </a:r>
            <a:endParaRPr sz="1350" b="1">
              <a:solidFill>
                <a:srgbClr val="8BA7B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544050" y="3752850"/>
            <a:ext cx="169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8FE5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8FE5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器官Mask</a:t>
            </a:r>
            <a:endParaRPr sz="1350" b="1">
              <a:solidFill>
                <a:srgbClr val="8FE5E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1600200" y="4667250"/>
            <a:ext cx="8991600" cy="876300"/>
          </a:xfrm>
          <a:prstGeom prst="roundRect">
            <a:avLst>
              <a:gd name="adj" fmla="val 19565"/>
            </a:avLst>
          </a:prstGeom>
          <a:solidFill>
            <a:srgbClr val="0D2A45"/>
          </a:solidFill>
          <a:ln w="9525">
            <a:solidFill>
              <a:srgbClr val="264D6D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866900" y="4810125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1">
                <a:solidFill>
                  <a:srgbClr val="75D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75D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核心数据契约</a:t>
            </a:r>
            <a:endParaRPr sz="1275" b="1">
              <a:solidFill>
                <a:srgbClr val="75DD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866900" y="5086350"/>
            <a:ext cx="836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输入：医学影像路径    →    输出：NIfTI器官Mask    →    MITK重新载入并叠加显示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525000" y="6543675"/>
            <a:ext cx="205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0">
                <a:solidFill>
                  <a:srgbClr val="7792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792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*** · ***</a:t>
            </a:r>
            <a:endParaRPr sz="825" b="0">
              <a:solidFill>
                <a:srgbClr val="7792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285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MITK · AI SEGMENTATION</a:t>
            </a:r>
            <a:endParaRPr sz="1050" b="1">
              <a:solidFill>
                <a:srgbClr val="16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5524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6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统一工具链锁定可复现的开发环境</a:t>
            </a:r>
            <a:endParaRPr sz="360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00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1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209675"/>
            <a:ext cx="10972800" cy="19050"/>
          </a:xfrm>
          <a:prstGeom prst="rect">
            <a:avLst/>
          </a:prstGeom>
          <a:solidFill>
            <a:srgbClr val="C9DCE6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145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00" b="1">
              <a:solidFill>
                <a:srgbClr val="19C7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20383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操作系统</a:t>
            </a:r>
            <a:endParaRPr sz="1575" b="1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2400300"/>
            <a:ext cx="2362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Windows 11</a:t>
            </a:r>
            <a:endParaRPr sz="195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3009900"/>
            <a:ext cx="2343150" cy="19050"/>
          </a:xfrm>
          <a:prstGeom prst="rect">
            <a:avLst/>
          </a:prstGeom>
          <a:solidFill>
            <a:srgbClr val="16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333750" y="17145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>
              <a:solidFill>
                <a:srgbClr val="19C7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333750" y="20383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IDE</a:t>
            </a:r>
            <a:endParaRPr sz="1575" b="1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333750" y="2400300"/>
            <a:ext cx="2362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Visual Studio 2022</a:t>
            </a:r>
            <a:endParaRPr sz="195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33750" y="3009900"/>
            <a:ext cx="2343150" cy="19050"/>
          </a:xfrm>
          <a:prstGeom prst="rect">
            <a:avLst/>
          </a:prstGeom>
          <a:solidFill>
            <a:srgbClr val="16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057900" y="17145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1">
              <a:solidFill>
                <a:srgbClr val="19C7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57900" y="20383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界面框架</a:t>
            </a:r>
            <a:endParaRPr sz="1575" b="1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57900" y="2400300"/>
            <a:ext cx="2362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821"/>
          </a:bodyPr>
          <a:lstStyle/>
          <a:p>
            <a:pPr algn="l">
              <a:defRPr sz="19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Qt 6.8.3 / MSVC2022</a:t>
            </a:r>
            <a:endParaRPr sz="195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57900" y="3009900"/>
            <a:ext cx="2343150" cy="19050"/>
          </a:xfrm>
          <a:prstGeom prst="rect">
            <a:avLst/>
          </a:prstGeom>
          <a:solidFill>
            <a:srgbClr val="168DFF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82050" y="171450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1">
              <a:solidFill>
                <a:srgbClr val="19C7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82050" y="20383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医学平台</a:t>
            </a:r>
            <a:endParaRPr sz="1575" b="1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782050" y="2400300"/>
            <a:ext cx="2362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MITK 2024.12</a:t>
            </a:r>
            <a:endParaRPr sz="195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782050" y="3009900"/>
            <a:ext cx="2343150" cy="19050"/>
          </a:xfrm>
          <a:prstGeom prst="rect">
            <a:avLst/>
          </a:prstGeom>
          <a:solidFill>
            <a:srgbClr val="168DFF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4099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00" b="1">
              <a:solidFill>
                <a:srgbClr val="19C7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9600" y="37338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构建工具</a:t>
            </a:r>
            <a:endParaRPr sz="1575" b="1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09600" y="4095750"/>
            <a:ext cx="2362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CMake 3.19</a:t>
            </a:r>
            <a:endParaRPr sz="195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09600" y="4705350"/>
            <a:ext cx="2343150" cy="19050"/>
          </a:xfrm>
          <a:prstGeom prst="rect">
            <a:avLst/>
          </a:prstGeom>
          <a:solidFill>
            <a:srgbClr val="19C7D4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3333750" y="34099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200" b="1">
              <a:solidFill>
                <a:srgbClr val="19C7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333750" y="37338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运行环境</a:t>
            </a:r>
            <a:endParaRPr sz="1575" b="1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333750" y="4095750"/>
            <a:ext cx="2362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4617"/>
          </a:bodyPr>
          <a:lstStyle/>
          <a:p>
            <a:pPr algn="l">
              <a:defRPr sz="19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3.10 / Anaconda</a:t>
            </a:r>
            <a:endParaRPr sz="195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333750" y="4705350"/>
            <a:ext cx="2343150" cy="19050"/>
          </a:xfrm>
          <a:prstGeom prst="rect">
            <a:avLst/>
          </a:prstGeom>
          <a:solidFill>
            <a:srgbClr val="19C7D4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057900" y="34099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200" b="1">
              <a:solidFill>
                <a:srgbClr val="19C7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057900" y="37338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GPU栈</a:t>
            </a:r>
            <a:endParaRPr sz="1575" b="1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057900" y="4095750"/>
            <a:ext cx="2362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CUDA 12.1</a:t>
            </a:r>
            <a:endParaRPr sz="195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057900" y="4705350"/>
            <a:ext cx="2343150" cy="19050"/>
          </a:xfrm>
          <a:prstGeom prst="rect">
            <a:avLst/>
          </a:prstGeom>
          <a:solidFill>
            <a:srgbClr val="19C7D4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782050" y="34099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200" b="1">
              <a:solidFill>
                <a:srgbClr val="19C7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782050" y="37338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深度学习</a:t>
            </a:r>
            <a:endParaRPr sz="1575" b="1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782050" y="4095750"/>
            <a:ext cx="2362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8137"/>
          </a:bodyPr>
          <a:lstStyle/>
          <a:p>
            <a:pPr algn="l">
              <a:defRPr sz="19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PyTorch · CUDA版本</a:t>
            </a:r>
            <a:endParaRPr sz="195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782050" y="4705350"/>
            <a:ext cx="2343150" cy="19050"/>
          </a:xfrm>
          <a:prstGeom prst="rect">
            <a:avLst/>
          </a:prstGeom>
          <a:solidFill>
            <a:srgbClr val="19C7D4"/>
          </a:solidFill>
          <a:ln w="0">
            <a:noFill/>
            <a:prstDash val="solid"/>
          </a:ln>
        </p:spPr>
      </p:sp>
      <p:sp>
        <p:nvSpPr>
          <p:cNvPr id="38" name="圆角矩形 37"/>
          <p:cNvSpPr>
            <a:spLocks noGrp="1"/>
          </p:cNvSpPr>
          <p:nvPr/>
        </p:nvSpPr>
        <p:spPr>
          <a:xfrm>
            <a:off x="609600" y="5162550"/>
            <a:ext cx="10972800" cy="742950"/>
          </a:xfrm>
          <a:prstGeom prst="roundRect">
            <a:avLst>
              <a:gd name="adj" fmla="val 17949"/>
            </a:avLst>
          </a:prstGeom>
          <a:solidFill>
            <a:srgbClr val="EAF6FB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38200" y="53149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版本协同原则</a:t>
            </a:r>
            <a:endParaRPr sz="1350" b="1">
              <a:solidFill>
                <a:srgbClr val="16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2647950" y="525780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1024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4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Qt编译器套件、MITK构建配置与Python/CUDA依赖必须保持一致，避免ABI与模型运行时冲突。</a:t>
            </a:r>
            <a:endParaRPr sz="1575" b="1">
              <a:solidFill>
                <a:srgbClr val="1024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9525000" y="6543675"/>
            <a:ext cx="205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0">
                <a:solidFill>
                  <a:srgbClr val="789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89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*** · ***</a:t>
            </a:r>
            <a:endParaRPr sz="825" b="0">
              <a:solidFill>
                <a:srgbClr val="7890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285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MITK · AI SEGMENTATION</a:t>
            </a:r>
            <a:endParaRPr sz="1050" b="1">
              <a:solidFill>
                <a:srgbClr val="16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5524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6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MITK提供医学影像插件的完整运行底座</a:t>
            </a:r>
            <a:endParaRPr sz="360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00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00" b="1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209675"/>
            <a:ext cx="10972800" cy="19050"/>
          </a:xfrm>
          <a:prstGeom prst="rect">
            <a:avLst/>
          </a:prstGeom>
          <a:solidFill>
            <a:srgbClr val="C9DCE6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52450" y="1600200"/>
            <a:ext cx="5505450" cy="3752850"/>
          </a:xfrm>
          <a:prstGeom prst="roundRect">
            <a:avLst>
              <a:gd name="adj" fmla="val 5584"/>
            </a:avLst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rcRect l="5848" r="5848"/>
          <a:stretch>
            <a:fillRect/>
          </a:stretch>
        </p:blipFill>
        <p:spPr>
          <a:xfrm>
            <a:off x="609600" y="1657350"/>
            <a:ext cx="5391150" cy="3638550"/>
          </a:xfrm>
          <a:prstGeom prst="roundRect">
            <a:avLst>
              <a:gd name="adj" fmla="val 4712"/>
            </a:avLst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6572250" y="1762125"/>
            <a:ext cx="209550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6572250" y="1762125"/>
            <a:ext cx="76200" cy="1066800"/>
          </a:xfrm>
          <a:prstGeom prst="roundRect">
            <a:avLst>
              <a:gd name="adj" fmla="val 50000"/>
            </a:avLst>
          </a:prstGeom>
          <a:solidFill>
            <a:srgbClr val="168DFF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800850" y="1933575"/>
            <a:ext cx="167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Qt</a:t>
            </a:r>
            <a:endParaRPr sz="1875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00850" y="2314575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界面与交互</a:t>
            </a:r>
            <a:endParaRPr sz="1350" b="0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953500" y="1762125"/>
            <a:ext cx="209550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8953500" y="1762125"/>
            <a:ext cx="76200" cy="1066800"/>
          </a:xfrm>
          <a:prstGeom prst="roundRect">
            <a:avLst>
              <a:gd name="adj" fmla="val 50000"/>
            </a:avLst>
          </a:prstGeom>
          <a:solidFill>
            <a:srgbClr val="19C7D4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182100" y="1933575"/>
            <a:ext cx="167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ITK</a:t>
            </a:r>
            <a:endParaRPr sz="1875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82100" y="2314575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图像处理算法</a:t>
            </a:r>
            <a:endParaRPr sz="1350" b="0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572250" y="3190875"/>
            <a:ext cx="209550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6572250" y="3190875"/>
            <a:ext cx="76200" cy="1066800"/>
          </a:xfrm>
          <a:prstGeom prst="roundRect">
            <a:avLst>
              <a:gd name="adj" fmla="val 50000"/>
            </a:avLst>
          </a:prstGeom>
          <a:solidFill>
            <a:srgbClr val="786CFF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800850" y="3362325"/>
            <a:ext cx="167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VTK</a:t>
            </a:r>
            <a:endParaRPr sz="1875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800850" y="3743325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 / 三维可视化</a:t>
            </a:r>
            <a:endParaRPr sz="1350" b="0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953500" y="3190875"/>
            <a:ext cx="209550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8953500" y="3190875"/>
            <a:ext cx="76200" cy="1066800"/>
          </a:xfrm>
          <a:prstGeom prst="roundRect">
            <a:avLst>
              <a:gd name="adj" fmla="val 50000"/>
            </a:avLst>
          </a:prstGeom>
          <a:solidFill>
            <a:srgbClr val="1FBF8F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182100" y="3362325"/>
            <a:ext cx="167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BlueBerry</a:t>
            </a:r>
            <a:endParaRPr sz="1875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182100" y="3743325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825"/>
          </a:bodyPr>
          <a:lstStyle/>
          <a:p>
            <a:pPr algn="l">
              <a:defRPr sz="1350" b="0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插件生命周期与扩展点</a:t>
            </a:r>
            <a:endParaRPr sz="1350" b="0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572250" y="4791075"/>
            <a:ext cx="447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5831"/>
          </a:bodyPr>
          <a:lstStyle/>
          <a:p>
            <a:pPr algn="l">
              <a:defRPr sz="18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插件不修改MITK核心，通过扩展点接入工作台</a:t>
            </a:r>
            <a:endParaRPr sz="180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572250" y="5362575"/>
            <a:ext cx="4476750" cy="342900"/>
          </a:xfrm>
          <a:prstGeom prst="roundRect">
            <a:avLst>
              <a:gd name="adj" fmla="val 50000"/>
            </a:avLst>
          </a:prstGeom>
          <a:solidFill>
            <a:srgbClr val="071B33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648450" y="5362575"/>
            <a:ext cx="432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平台能力复用 → 研发聚焦AI业务逻辑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525000" y="6543675"/>
            <a:ext cx="205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0">
                <a:solidFill>
                  <a:srgbClr val="789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89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*** · ***</a:t>
            </a:r>
            <a:endParaRPr sz="825" b="0">
              <a:solidFill>
                <a:srgbClr val="7890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285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MITK · AI SEGMENTATION</a:t>
            </a:r>
            <a:endParaRPr sz="1050" b="1">
              <a:solidFill>
                <a:srgbClr val="16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5524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6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CMake串起源码、依赖与Workbench构建</a:t>
            </a:r>
            <a:endParaRPr sz="360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00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200" b="1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209675"/>
            <a:ext cx="10972800" cy="19050"/>
          </a:xfrm>
          <a:prstGeom prst="rect">
            <a:avLst/>
          </a:prstGeom>
          <a:solidFill>
            <a:srgbClr val="C9DCE6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52450" y="1495425"/>
            <a:ext cx="5781675" cy="3971925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rcRect l="11765" r="11765"/>
          <a:stretch>
            <a:fillRect/>
          </a:stretch>
        </p:blipFill>
        <p:spPr>
          <a:xfrm>
            <a:off x="609600" y="1552575"/>
            <a:ext cx="5667375" cy="3857625"/>
          </a:xfrm>
          <a:prstGeom prst="roundRect">
            <a:avLst>
              <a:gd name="adj" fmla="val 3951"/>
            </a:avLst>
          </a:prstGeom>
        </p:spPr>
      </p:pic>
      <p:sp>
        <p:nvSpPr>
          <p:cNvPr id="7" name="右箭头 6"/>
          <p:cNvSpPr>
            <a:spLocks noGrp="1"/>
          </p:cNvSpPr>
          <p:nvPr/>
        </p:nvSpPr>
        <p:spPr>
          <a:xfrm>
            <a:off x="6353175" y="2333625"/>
            <a:ext cx="285750" cy="209550"/>
          </a:xfrm>
          <a:prstGeom prst="rightArrow">
            <a:avLst/>
          </a:prstGeom>
          <a:solidFill>
            <a:srgbClr val="168DFF"/>
          </a:solidFill>
          <a:ln w="0">
            <a:solidFill>
              <a:srgbClr val="168DFF"/>
            </a:solidFill>
            <a:prstDash val="solid"/>
          </a:ln>
        </p:spPr>
      </p:sp>
      <p:sp>
        <p:nvSpPr>
          <p:cNvPr id="8" name="右箭头 7"/>
          <p:cNvSpPr>
            <a:spLocks noGrp="1"/>
          </p:cNvSpPr>
          <p:nvPr/>
        </p:nvSpPr>
        <p:spPr>
          <a:xfrm>
            <a:off x="7400925" y="2333625"/>
            <a:ext cx="285750" cy="209550"/>
          </a:xfrm>
          <a:prstGeom prst="rightArrow">
            <a:avLst/>
          </a:prstGeom>
          <a:solidFill>
            <a:srgbClr val="168DFF"/>
          </a:solidFill>
          <a:ln w="0">
            <a:solidFill>
              <a:srgbClr val="168DFF"/>
            </a:solidFill>
            <a:prstDash val="solid"/>
          </a:ln>
        </p:spPr>
      </p:sp>
      <p:sp>
        <p:nvSpPr>
          <p:cNvPr id="9" name="右箭头 8"/>
          <p:cNvSpPr>
            <a:spLocks noGrp="1"/>
          </p:cNvSpPr>
          <p:nvPr/>
        </p:nvSpPr>
        <p:spPr>
          <a:xfrm>
            <a:off x="8448675" y="2333625"/>
            <a:ext cx="285750" cy="209550"/>
          </a:xfrm>
          <a:prstGeom prst="rightArrow">
            <a:avLst/>
          </a:prstGeom>
          <a:solidFill>
            <a:srgbClr val="168DFF"/>
          </a:solidFill>
          <a:ln w="0">
            <a:solidFill>
              <a:srgbClr val="168DFF"/>
            </a:solidFill>
            <a:prstDash val="solid"/>
          </a:ln>
        </p:spPr>
      </p:sp>
      <p:sp>
        <p:nvSpPr>
          <p:cNvPr id="10" name="右箭头 9"/>
          <p:cNvSpPr>
            <a:spLocks noGrp="1"/>
          </p:cNvSpPr>
          <p:nvPr/>
        </p:nvSpPr>
        <p:spPr>
          <a:xfrm>
            <a:off x="9496425" y="2333625"/>
            <a:ext cx="285750" cy="209550"/>
          </a:xfrm>
          <a:prstGeom prst="rightArrow">
            <a:avLst/>
          </a:prstGeom>
          <a:solidFill>
            <a:srgbClr val="168DFF"/>
          </a:solidFill>
          <a:ln w="0">
            <a:solidFill>
              <a:srgbClr val="168DFF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6362700" y="2085975"/>
            <a:ext cx="1066800" cy="609600"/>
          </a:xfrm>
          <a:prstGeom prst="roundRect">
            <a:avLst>
              <a:gd name="adj" fmla="val 21875"/>
            </a:avLst>
          </a:prstGeom>
          <a:solidFill>
            <a:srgbClr val="EAF6FB"/>
          </a:solidFill>
          <a:ln w="9525">
            <a:solidFill>
              <a:srgbClr val="EAF6F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477000" y="2162175"/>
            <a:ext cx="838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源代码</a:t>
            </a:r>
            <a:endParaRPr sz="1575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410450" y="2085975"/>
            <a:ext cx="1066800" cy="609600"/>
          </a:xfrm>
          <a:prstGeom prst="roundRect">
            <a:avLst>
              <a:gd name="adj" fmla="val 21875"/>
            </a:avLst>
          </a:prstGeom>
          <a:solidFill>
            <a:srgbClr val="DFF4FA"/>
          </a:solidFill>
          <a:ln w="9525">
            <a:solidFill>
              <a:srgbClr val="DFF4F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524750" y="2162175"/>
            <a:ext cx="838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CMake</a:t>
            </a:r>
            <a:endParaRPr sz="1575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458200" y="2085975"/>
            <a:ext cx="1066800" cy="609600"/>
          </a:xfrm>
          <a:prstGeom prst="roundRect">
            <a:avLst>
              <a:gd name="adj" fmla="val 21875"/>
            </a:avLst>
          </a:prstGeom>
          <a:solidFill>
            <a:srgbClr val="CDECF7"/>
          </a:solidFill>
          <a:ln w="9525">
            <a:solidFill>
              <a:srgbClr val="CDECF7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572500" y="2162175"/>
            <a:ext cx="838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VS工程</a:t>
            </a:r>
            <a:endParaRPr sz="1575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9505950" y="2085975"/>
            <a:ext cx="1066800" cy="609600"/>
          </a:xfrm>
          <a:prstGeom prst="roundRect">
            <a:avLst>
              <a:gd name="adj" fmla="val 21875"/>
            </a:avLst>
          </a:prstGeom>
          <a:solidFill>
            <a:srgbClr val="BEE8F0"/>
          </a:solidFill>
          <a:ln w="9525">
            <a:solidFill>
              <a:srgbClr val="BEE8F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620250" y="2162175"/>
            <a:ext cx="838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MSBuild</a:t>
            </a:r>
            <a:endParaRPr sz="1575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10553700" y="2085975"/>
            <a:ext cx="1028700" cy="609600"/>
          </a:xfrm>
          <a:prstGeom prst="roundRect">
            <a:avLst>
              <a:gd name="adj" fmla="val 21875"/>
            </a:avLst>
          </a:prstGeom>
          <a:solidFill>
            <a:srgbClr val="071B33"/>
          </a:solidFill>
          <a:ln w="9525">
            <a:solidFill>
              <a:srgbClr val="071B33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668000" y="2162175"/>
            <a:ext cx="800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Workbench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572250" y="3295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SuperBuild统一管理</a:t>
            </a:r>
            <a:endParaRPr sz="1650" b="1">
              <a:solidFill>
                <a:srgbClr val="16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572250" y="3695700"/>
            <a:ext cx="4476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650">
                <a:solidFill>
                  <a:srgbClr val="1024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024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ITK  ·  VTK  ·  CTK  ·  DCMTK</a:t>
            </a:r>
            <a:endParaRPr sz="1650">
              <a:solidFill>
                <a:srgbClr val="1024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650">
                <a:solidFill>
                  <a:srgbClr val="1024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024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MITK Core  ·  插件依赖关系</a:t>
            </a:r>
            <a:endParaRPr sz="1650">
              <a:solidFill>
                <a:srgbClr val="1024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572250" y="4552315"/>
            <a:ext cx="4533900" cy="876935"/>
          </a:xfrm>
          <a:prstGeom prst="roundRect">
            <a:avLst>
              <a:gd name="adj" fmla="val 17073"/>
            </a:avLst>
          </a:prstGeom>
          <a:solidFill>
            <a:srgbClr val="071B33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816090" y="465328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76D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76D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构建目标</a:t>
            </a:r>
            <a:endParaRPr sz="1200" b="1">
              <a:solidFill>
                <a:srgbClr val="76DD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781800" y="50292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生成可加载插件并在MitkWorkbench中运行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525000" y="6543675"/>
            <a:ext cx="205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0">
                <a:solidFill>
                  <a:srgbClr val="789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89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*** · ***</a:t>
            </a:r>
            <a:endParaRPr sz="825" b="0">
              <a:solidFill>
                <a:srgbClr val="7890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285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7BDC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7BDC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MITK · AI SEGMENTATION</a:t>
            </a:r>
            <a:endParaRPr sz="1050" b="1">
              <a:solidFill>
                <a:srgbClr val="7BDCE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5524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原生插件结构让AI模块可维护、可替换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00" b="1">
                <a:solidFill>
                  <a:srgbClr val="7F9B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7F9B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200" b="1">
              <a:solidFill>
                <a:srgbClr val="7F9B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209675"/>
            <a:ext cx="10972800" cy="19050"/>
          </a:xfrm>
          <a:prstGeom prst="rect">
            <a:avLst/>
          </a:prstGeom>
          <a:solidFill>
            <a:srgbClr val="214362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52450" y="1524000"/>
            <a:ext cx="5162550" cy="36004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32350"/>
            <a:ext cx="5048250" cy="2783749"/>
          </a:xfrm>
          <a:prstGeom prst="roundRect">
            <a:avLst>
              <a:gd name="adj" fmla="val 3825"/>
            </a:avLst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609600" y="5286375"/>
            <a:ext cx="504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org.mitk.gui.qt.ai.segmentation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5648325"/>
            <a:ext cx="504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8DA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8DA9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参照MITK原生插件组织方式</a:t>
            </a:r>
            <a:endParaRPr sz="1275" b="0">
              <a:solidFill>
                <a:srgbClr val="8DA9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343650" y="158115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src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05800" y="15811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B7CB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B7CB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插件核心C++逻辑</a:t>
            </a:r>
            <a:endParaRPr sz="1425" b="0">
              <a:solidFill>
                <a:srgbClr val="B7CBD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343650" y="1990725"/>
            <a:ext cx="5010150" cy="9525"/>
          </a:xfrm>
          <a:prstGeom prst="rect">
            <a:avLst/>
          </a:prstGeom>
          <a:solidFill>
            <a:srgbClr val="254867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343650" y="2276475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05800" y="2276475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B7CB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B7CB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Qt Designer界面文件</a:t>
            </a:r>
            <a:endParaRPr sz="1425" b="0">
              <a:solidFill>
                <a:srgbClr val="B7CBD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343650" y="2686050"/>
            <a:ext cx="5010150" cy="9525"/>
          </a:xfrm>
          <a:prstGeom prst="rect">
            <a:avLst/>
          </a:prstGeom>
          <a:solidFill>
            <a:srgbClr val="254867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343650" y="297180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resources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05800" y="29718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B7CB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B7CB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图标与资源</a:t>
            </a:r>
            <a:endParaRPr sz="1425" b="0">
              <a:solidFill>
                <a:srgbClr val="B7CBD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343650" y="3381375"/>
            <a:ext cx="5010150" cy="9525"/>
          </a:xfrm>
          <a:prstGeom prst="rect">
            <a:avLst/>
          </a:prstGeom>
          <a:solidFill>
            <a:srgbClr val="254867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343650" y="3667125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7DE5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7DE5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PythonBridge</a:t>
            </a:r>
            <a:endParaRPr sz="1500" b="1">
              <a:solidFill>
                <a:srgbClr val="7DE5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05800" y="3667125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B7CB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B7CB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MITK与AI推理交互</a:t>
            </a:r>
            <a:endParaRPr sz="1425" b="0">
              <a:solidFill>
                <a:srgbClr val="B7CBD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43650" y="4076700"/>
            <a:ext cx="5010150" cy="9525"/>
          </a:xfrm>
          <a:prstGeom prst="rect">
            <a:avLst/>
          </a:prstGeom>
          <a:solidFill>
            <a:srgbClr val="254867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343650" y="436245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plugin.xml</a:t>
            </a:r>
            <a:endParaRPr sz="150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305800" y="43624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B7CB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B7CB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扩展点与插件信息</a:t>
            </a:r>
            <a:endParaRPr sz="1425" b="0">
              <a:solidFill>
                <a:srgbClr val="B7CBD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43650" y="4772025"/>
            <a:ext cx="5010150" cy="9525"/>
          </a:xfrm>
          <a:prstGeom prst="rect">
            <a:avLst/>
          </a:prstGeom>
          <a:solidFill>
            <a:srgbClr val="254867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343650" y="5057775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CMakeLists.txt</a:t>
            </a:r>
            <a:endParaRPr sz="150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305800" y="5057775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B7CB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B7CB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工程配置与编译</a:t>
            </a:r>
            <a:endParaRPr sz="1425" b="0">
              <a:solidFill>
                <a:srgbClr val="B7CBD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343650" y="5467350"/>
            <a:ext cx="5010150" cy="9525"/>
          </a:xfrm>
          <a:prstGeom prst="rect">
            <a:avLst/>
          </a:prstGeom>
          <a:solidFill>
            <a:srgbClr val="254867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525000" y="6543675"/>
            <a:ext cx="205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0">
                <a:solidFill>
                  <a:srgbClr val="7792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792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*** · ***</a:t>
            </a:r>
            <a:endParaRPr sz="825" b="0">
              <a:solidFill>
                <a:srgbClr val="7792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285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MITK · AI SEGMENTATION</a:t>
            </a:r>
            <a:endParaRPr sz="1050" b="1">
              <a:solidFill>
                <a:srgbClr val="16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5524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6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界面围绕一次完整推理任务组织操作</a:t>
            </a:r>
            <a:endParaRPr sz="360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00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200" b="1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209675"/>
            <a:ext cx="10972800" cy="19050"/>
          </a:xfrm>
          <a:prstGeom prst="rect">
            <a:avLst/>
          </a:prstGeom>
          <a:solidFill>
            <a:srgbClr val="C9DCE6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52450" y="1504950"/>
            <a:ext cx="7334250" cy="422910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338239"/>
            <a:ext cx="7219950" cy="2562521"/>
          </a:xfrm>
          <a:prstGeom prst="roundRect">
            <a:avLst>
              <a:gd name="adj" fmla="val 3704"/>
            </a:avLst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8401050" y="16192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6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01050" y="161925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05900" y="16002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选择影像</a:t>
            </a:r>
            <a:endParaRPr sz="165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05900" y="1914525"/>
            <a:ext cx="2190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读取当前CT或指定路径</a:t>
            </a:r>
            <a:endParaRPr sz="1275" b="0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401050" y="261937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6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01050" y="26193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105900" y="260032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启动推理</a:t>
            </a:r>
            <a:endParaRPr sz="165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05900" y="2914650"/>
            <a:ext cx="2190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调用Python与模型流程</a:t>
            </a:r>
            <a:endParaRPr sz="1275" b="0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401050" y="36195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68DFF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401050" y="361950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105900" y="36004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反馈进度</a:t>
            </a:r>
            <a:endParaRPr sz="165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105900" y="3914775"/>
            <a:ext cx="2190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状态、进度与异常提示</a:t>
            </a:r>
            <a:endParaRPr sz="1275" b="0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401050" y="461962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71B33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401050" y="461962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05900" y="460057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显示结果</a:t>
            </a:r>
            <a:endParaRPr sz="165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105900" y="4914900"/>
            <a:ext cx="2190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Mask重新载入MITK</a:t>
            </a:r>
            <a:endParaRPr sz="1275" b="0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525000" y="6543675"/>
            <a:ext cx="205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0">
                <a:solidFill>
                  <a:srgbClr val="789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89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*** · ***</a:t>
            </a:r>
            <a:endParaRPr sz="825" b="0">
              <a:solidFill>
                <a:srgbClr val="7890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285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MITK · AI SEGMENTATION</a:t>
            </a:r>
            <a:endParaRPr sz="1050" b="1">
              <a:solidFill>
                <a:srgbClr val="16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5524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6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TotalSegmentator统筹多器官分割流程</a:t>
            </a:r>
            <a:endParaRPr sz="360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00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200" b="1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209675"/>
            <a:ext cx="10972800" cy="19050"/>
          </a:xfrm>
          <a:prstGeom prst="rect">
            <a:avLst/>
          </a:prstGeom>
          <a:solidFill>
            <a:srgbClr val="C9DCE6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52450" y="1571625"/>
            <a:ext cx="5124450" cy="3390900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rcRect l="380"/>
          <a:stretch>
            <a:fillRect/>
          </a:stretch>
        </p:blipFill>
        <p:spPr>
          <a:xfrm>
            <a:off x="628650" y="2040255"/>
            <a:ext cx="4991100" cy="2453640"/>
          </a:xfrm>
          <a:prstGeom prst="roundRect">
            <a:avLst>
              <a:gd name="adj" fmla="val 4070"/>
            </a:avLst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609600" y="51625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框架职责</a:t>
            </a:r>
            <a:endParaRPr sz="1650" b="1">
              <a:solidFill>
                <a:srgbClr val="16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5505450"/>
            <a:ext cx="5010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输入管理 · 模型选择 · 推理调度 · 结果输出</a:t>
            </a:r>
            <a:endParaRPr sz="165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6724650" y="2914650"/>
            <a:ext cx="323850" cy="209550"/>
          </a:xfrm>
          <a:prstGeom prst="rightArrow">
            <a:avLst/>
          </a:prstGeom>
          <a:solidFill>
            <a:srgbClr val="19C7D4"/>
          </a:solidFill>
          <a:ln w="0">
            <a:solidFill>
              <a:srgbClr val="19C7D4"/>
            </a:solidFill>
            <a:prstDash val="solid"/>
          </a:ln>
        </p:spPr>
      </p:sp>
      <p:sp>
        <p:nvSpPr>
          <p:cNvPr id="10" name="右箭头 9"/>
          <p:cNvSpPr>
            <a:spLocks noGrp="1"/>
          </p:cNvSpPr>
          <p:nvPr/>
        </p:nvSpPr>
        <p:spPr>
          <a:xfrm>
            <a:off x="7820025" y="2914650"/>
            <a:ext cx="323850" cy="209550"/>
          </a:xfrm>
          <a:prstGeom prst="rightArrow">
            <a:avLst/>
          </a:prstGeom>
          <a:solidFill>
            <a:srgbClr val="19C7D4"/>
          </a:solidFill>
          <a:ln w="0">
            <a:solidFill>
              <a:srgbClr val="19C7D4"/>
            </a:solidFill>
            <a:prstDash val="solid"/>
          </a:ln>
        </p:spPr>
      </p:sp>
      <p:sp>
        <p:nvSpPr>
          <p:cNvPr id="11" name="右箭头 10"/>
          <p:cNvSpPr>
            <a:spLocks noGrp="1"/>
          </p:cNvSpPr>
          <p:nvPr/>
        </p:nvSpPr>
        <p:spPr>
          <a:xfrm>
            <a:off x="8915400" y="2914650"/>
            <a:ext cx="323850" cy="209550"/>
          </a:xfrm>
          <a:prstGeom prst="rightArrow">
            <a:avLst/>
          </a:prstGeom>
          <a:solidFill>
            <a:srgbClr val="19C7D4"/>
          </a:solidFill>
          <a:ln w="0">
            <a:solidFill>
              <a:srgbClr val="19C7D4"/>
            </a:solidFill>
            <a:prstDash val="solid"/>
          </a:ln>
        </p:spPr>
      </p:sp>
      <p:sp>
        <p:nvSpPr>
          <p:cNvPr id="12" name="右箭头 11"/>
          <p:cNvSpPr>
            <a:spLocks noGrp="1"/>
          </p:cNvSpPr>
          <p:nvPr/>
        </p:nvSpPr>
        <p:spPr>
          <a:xfrm>
            <a:off x="10010775" y="2914650"/>
            <a:ext cx="323850" cy="209550"/>
          </a:xfrm>
          <a:prstGeom prst="rightArrow">
            <a:avLst/>
          </a:prstGeom>
          <a:solidFill>
            <a:srgbClr val="19C7D4"/>
          </a:solidFill>
          <a:ln w="0">
            <a:solidFill>
              <a:srgbClr val="19C7D4"/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5943600" y="2609850"/>
            <a:ext cx="876300" cy="609600"/>
          </a:xfrm>
          <a:prstGeom prst="roundRect">
            <a:avLst>
              <a:gd name="adj" fmla="val 21875"/>
            </a:avLst>
          </a:prstGeom>
          <a:solidFill>
            <a:srgbClr val="EAF6FB"/>
          </a:solidFill>
          <a:ln w="9525">
            <a:solidFill>
              <a:srgbClr val="EAF6F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057900" y="2686050"/>
            <a:ext cx="647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</a:t>
            </a:r>
            <a:endParaRPr sz="1575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038975" y="2609850"/>
            <a:ext cx="876300" cy="609600"/>
          </a:xfrm>
          <a:prstGeom prst="roundRect">
            <a:avLst>
              <a:gd name="adj" fmla="val 21875"/>
            </a:avLst>
          </a:prstGeom>
          <a:solidFill>
            <a:srgbClr val="EAF6FB"/>
          </a:solidFill>
          <a:ln w="9525">
            <a:solidFill>
              <a:srgbClr val="EAF6F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153275" y="2686050"/>
            <a:ext cx="647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预处理</a:t>
            </a:r>
            <a:endParaRPr sz="1575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134350" y="2609850"/>
            <a:ext cx="876300" cy="609600"/>
          </a:xfrm>
          <a:prstGeom prst="roundRect">
            <a:avLst>
              <a:gd name="adj" fmla="val 21875"/>
            </a:avLst>
          </a:prstGeom>
          <a:solidFill>
            <a:srgbClr val="071B33"/>
          </a:solidFill>
          <a:ln w="9525">
            <a:solidFill>
              <a:srgbClr val="071B33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248650" y="2686050"/>
            <a:ext cx="647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nnUNet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9229725" y="2609850"/>
            <a:ext cx="876300" cy="609600"/>
          </a:xfrm>
          <a:prstGeom prst="roundRect">
            <a:avLst>
              <a:gd name="adj" fmla="val 21875"/>
            </a:avLst>
          </a:prstGeom>
          <a:solidFill>
            <a:srgbClr val="EAF6FB"/>
          </a:solidFill>
          <a:ln w="9525">
            <a:solidFill>
              <a:srgbClr val="EAF6FB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344025" y="2686050"/>
            <a:ext cx="647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后处理</a:t>
            </a:r>
            <a:endParaRPr sz="1575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10325100" y="2609850"/>
            <a:ext cx="876300" cy="609600"/>
          </a:xfrm>
          <a:prstGeom prst="roundRect">
            <a:avLst>
              <a:gd name="adj" fmla="val 21875"/>
            </a:avLst>
          </a:prstGeom>
          <a:solidFill>
            <a:srgbClr val="EAF6FB"/>
          </a:solidFill>
          <a:ln w="9525">
            <a:solidFill>
              <a:srgbClr val="EAF6FB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439400" y="2686050"/>
            <a:ext cx="647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Mask</a:t>
            </a:r>
            <a:endParaRPr sz="1575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5962650" y="3962400"/>
            <a:ext cx="5219700" cy="1219200"/>
          </a:xfrm>
          <a:prstGeom prst="roundRect">
            <a:avLst>
              <a:gd name="adj" fmla="val 12500"/>
            </a:avLst>
          </a:prstGeom>
          <a:solidFill>
            <a:srgbClr val="F5FAFC"/>
          </a:solidFill>
          <a:ln w="9525">
            <a:solidFill>
              <a:srgbClr val="C9DCE6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191250" y="4095750"/>
            <a:ext cx="1905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本项目工作边界</a:t>
            </a:r>
            <a:endParaRPr sz="1350" b="1">
              <a:solidFill>
                <a:srgbClr val="16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191250" y="4448175"/>
            <a:ext cx="476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1024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4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基于公开源码分析运行链路，完成环境搭建、训练流程复现与推理验证；不是黑盒式外部调用。</a:t>
            </a:r>
            <a:endParaRPr sz="1575" b="1">
              <a:solidFill>
                <a:srgbClr val="1024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525000" y="6543675"/>
            <a:ext cx="205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0">
                <a:solidFill>
                  <a:srgbClr val="789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89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*** · ***</a:t>
            </a:r>
            <a:endParaRPr sz="825" b="0">
              <a:solidFill>
                <a:srgbClr val="7890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285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7BDC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7BDC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MITK · AI SEGMENTATION</a:t>
            </a:r>
            <a:endParaRPr sz="1050" b="1">
              <a:solidFill>
                <a:srgbClr val="7BDCE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5524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nnUNet自动完成规划、训练与推理配置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00" b="1">
                <a:solidFill>
                  <a:srgbClr val="7F9B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7F9B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00" b="1">
              <a:solidFill>
                <a:srgbClr val="7F9B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209675"/>
            <a:ext cx="10972800" cy="19050"/>
          </a:xfrm>
          <a:prstGeom prst="rect">
            <a:avLst/>
          </a:prstGeom>
          <a:solidFill>
            <a:srgbClr val="214362"/>
          </a:solidFill>
          <a:ln w="0">
            <a:noFill/>
            <a:prstDash val="solid"/>
          </a:ln>
        </p:spPr>
      </p:sp>
      <p:sp>
        <p:nvSpPr>
          <p:cNvPr id="6" name="右箭头 5"/>
          <p:cNvSpPr>
            <a:spLocks noGrp="1"/>
          </p:cNvSpPr>
          <p:nvPr/>
        </p:nvSpPr>
        <p:spPr>
          <a:xfrm>
            <a:off x="2266950" y="3028950"/>
            <a:ext cx="361950" cy="209550"/>
          </a:xfrm>
          <a:prstGeom prst="rightArrow">
            <a:avLst/>
          </a:prstGeom>
          <a:solidFill>
            <a:srgbClr val="20CAD4"/>
          </a:solidFill>
          <a:ln w="0">
            <a:solidFill>
              <a:srgbClr val="20CAD4"/>
            </a:solidFill>
            <a:prstDash val="solid"/>
          </a:ln>
        </p:spPr>
      </p:sp>
      <p:sp>
        <p:nvSpPr>
          <p:cNvPr id="7" name="右箭头 6"/>
          <p:cNvSpPr>
            <a:spLocks noGrp="1"/>
          </p:cNvSpPr>
          <p:nvPr/>
        </p:nvSpPr>
        <p:spPr>
          <a:xfrm>
            <a:off x="4114800" y="3028950"/>
            <a:ext cx="361950" cy="209550"/>
          </a:xfrm>
          <a:prstGeom prst="rightArrow">
            <a:avLst/>
          </a:prstGeom>
          <a:solidFill>
            <a:srgbClr val="20CAD4"/>
          </a:solidFill>
          <a:ln w="0">
            <a:solidFill>
              <a:srgbClr val="20CAD4"/>
            </a:solidFill>
            <a:prstDash val="solid"/>
          </a:ln>
        </p:spPr>
      </p:sp>
      <p:sp>
        <p:nvSpPr>
          <p:cNvPr id="8" name="右箭头 7"/>
          <p:cNvSpPr>
            <a:spLocks noGrp="1"/>
          </p:cNvSpPr>
          <p:nvPr/>
        </p:nvSpPr>
        <p:spPr>
          <a:xfrm>
            <a:off x="5962650" y="3028950"/>
            <a:ext cx="361950" cy="209550"/>
          </a:xfrm>
          <a:prstGeom prst="rightArrow">
            <a:avLst/>
          </a:prstGeom>
          <a:solidFill>
            <a:srgbClr val="20CAD4"/>
          </a:solidFill>
          <a:ln w="0">
            <a:solidFill>
              <a:srgbClr val="20CAD4"/>
            </a:solidFill>
            <a:prstDash val="solid"/>
          </a:ln>
        </p:spPr>
      </p:sp>
      <p:sp>
        <p:nvSpPr>
          <p:cNvPr id="9" name="右箭头 8"/>
          <p:cNvSpPr>
            <a:spLocks noGrp="1"/>
          </p:cNvSpPr>
          <p:nvPr/>
        </p:nvSpPr>
        <p:spPr>
          <a:xfrm>
            <a:off x="7810500" y="3028950"/>
            <a:ext cx="361950" cy="209550"/>
          </a:xfrm>
          <a:prstGeom prst="rightArrow">
            <a:avLst/>
          </a:prstGeom>
          <a:solidFill>
            <a:srgbClr val="20CAD4"/>
          </a:solidFill>
          <a:ln w="0">
            <a:solidFill>
              <a:srgbClr val="20CAD4"/>
            </a:solidFill>
            <a:prstDash val="solid"/>
          </a:ln>
        </p:spPr>
      </p:sp>
      <p:sp>
        <p:nvSpPr>
          <p:cNvPr id="10" name="右箭头 9"/>
          <p:cNvSpPr>
            <a:spLocks noGrp="1"/>
          </p:cNvSpPr>
          <p:nvPr/>
        </p:nvSpPr>
        <p:spPr>
          <a:xfrm>
            <a:off x="9658350" y="3028950"/>
            <a:ext cx="361950" cy="209550"/>
          </a:xfrm>
          <a:prstGeom prst="rightArrow">
            <a:avLst/>
          </a:prstGeom>
          <a:solidFill>
            <a:srgbClr val="20CAD4"/>
          </a:solidFill>
          <a:ln w="0">
            <a:solidFill>
              <a:srgbClr val="20CAD4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609600" y="2343150"/>
            <a:ext cx="1657350" cy="1409700"/>
          </a:xfrm>
          <a:prstGeom prst="roundRect">
            <a:avLst>
              <a:gd name="adj" fmla="val 10811"/>
            </a:avLst>
          </a:prstGeom>
          <a:solidFill>
            <a:srgbClr val="0E3353"/>
          </a:solidFill>
          <a:ln w="9525">
            <a:solidFill>
              <a:srgbClr val="244C6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62000" y="24574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72DE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72DE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125" b="1">
              <a:solidFill>
                <a:srgbClr val="72DE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62000" y="2771775"/>
            <a:ext cx="1352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数据预处理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3209925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0">
                <a:solidFill>
                  <a:srgbClr val="AFC5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FC5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重采样与归一化</a:t>
            </a:r>
            <a:endParaRPr sz="1200" b="0">
              <a:solidFill>
                <a:srgbClr val="AFC5D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2457450" y="2343150"/>
            <a:ext cx="1657350" cy="1409700"/>
          </a:xfrm>
          <a:prstGeom prst="roundRect">
            <a:avLst>
              <a:gd name="adj" fmla="val 10811"/>
            </a:avLst>
          </a:prstGeom>
          <a:solidFill>
            <a:srgbClr val="0E3353"/>
          </a:solidFill>
          <a:ln w="9525">
            <a:solidFill>
              <a:srgbClr val="244C6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609850" y="24574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72DE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72DE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25" b="1">
              <a:solidFill>
                <a:srgbClr val="72DE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609850" y="2771775"/>
            <a:ext cx="1352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网络规划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609850" y="3209925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0">
                <a:solidFill>
                  <a:srgbClr val="AFC5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FC5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自动选择配置</a:t>
            </a:r>
            <a:endParaRPr sz="1200" b="0">
              <a:solidFill>
                <a:srgbClr val="AFC5D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4305300" y="2343150"/>
            <a:ext cx="1657350" cy="1409700"/>
          </a:xfrm>
          <a:prstGeom prst="roundRect">
            <a:avLst>
              <a:gd name="adj" fmla="val 10811"/>
            </a:avLst>
          </a:prstGeom>
          <a:solidFill>
            <a:srgbClr val="176C8A"/>
          </a:solidFill>
          <a:ln w="9525">
            <a:solidFill>
              <a:srgbClr val="32D6DD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457700" y="24574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72DE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72DE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25" b="1">
              <a:solidFill>
                <a:srgbClr val="72DE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457700" y="2771775"/>
            <a:ext cx="1352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3D U-Net训练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457700" y="3209925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0">
                <a:solidFill>
                  <a:srgbClr val="AFC5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FC5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迭代优化参数</a:t>
            </a:r>
            <a:endParaRPr sz="1200" b="0">
              <a:solidFill>
                <a:srgbClr val="AFC5D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153150" y="2343150"/>
            <a:ext cx="1657350" cy="1409700"/>
          </a:xfrm>
          <a:prstGeom prst="roundRect">
            <a:avLst>
              <a:gd name="adj" fmla="val 10811"/>
            </a:avLst>
          </a:prstGeom>
          <a:solidFill>
            <a:srgbClr val="0E3353"/>
          </a:solidFill>
          <a:ln w="9525">
            <a:solidFill>
              <a:srgbClr val="244C6B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305550" y="24574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72DE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72DE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125" b="1">
              <a:solidFill>
                <a:srgbClr val="72DE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305550" y="2771775"/>
            <a:ext cx="1352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模型保存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305550" y="3209925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0">
                <a:solidFill>
                  <a:srgbClr val="AFC5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FC5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checkpoint与plans</a:t>
            </a:r>
            <a:endParaRPr sz="1200" b="0">
              <a:solidFill>
                <a:srgbClr val="AFC5D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8001000" y="2343150"/>
            <a:ext cx="1657350" cy="1409700"/>
          </a:xfrm>
          <a:prstGeom prst="roundRect">
            <a:avLst>
              <a:gd name="adj" fmla="val 10811"/>
            </a:avLst>
          </a:prstGeom>
          <a:solidFill>
            <a:srgbClr val="0E3353"/>
          </a:solidFill>
          <a:ln w="9525">
            <a:solidFill>
              <a:srgbClr val="244C6B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153400" y="24574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72DE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72DE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125" b="1">
              <a:solidFill>
                <a:srgbClr val="72DE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153400" y="2771775"/>
            <a:ext cx="1352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推理预测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153400" y="3209925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0">
                <a:solidFill>
                  <a:srgbClr val="AFC5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FC5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生成分割标签</a:t>
            </a:r>
            <a:endParaRPr sz="1200" b="0">
              <a:solidFill>
                <a:srgbClr val="AFC5D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9848850" y="2343150"/>
            <a:ext cx="1657350" cy="1409700"/>
          </a:xfrm>
          <a:prstGeom prst="roundRect">
            <a:avLst>
              <a:gd name="adj" fmla="val 10811"/>
            </a:avLst>
          </a:prstGeom>
          <a:solidFill>
            <a:srgbClr val="0E3353"/>
          </a:solidFill>
          <a:ln w="9525">
            <a:solidFill>
              <a:srgbClr val="244C6B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0001250" y="24574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72DE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72DE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125" b="1">
              <a:solidFill>
                <a:srgbClr val="72DE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001250" y="2771775"/>
            <a:ext cx="1352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后处理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0001250" y="3209925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0">
                <a:solidFill>
                  <a:srgbClr val="AFC5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FC5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输出器官Mask</a:t>
            </a:r>
            <a:endParaRPr sz="1200" b="0">
              <a:solidFill>
                <a:srgbClr val="AFC5D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609600" y="4438650"/>
            <a:ext cx="10858500" cy="990600"/>
          </a:xfrm>
          <a:prstGeom prst="roundRect">
            <a:avLst>
              <a:gd name="adj" fmla="val 15385"/>
            </a:avLst>
          </a:prstGeom>
          <a:solidFill>
            <a:srgbClr val="0D2944"/>
          </a:solidFill>
          <a:ln w="9525">
            <a:solidFill>
              <a:srgbClr val="244C6B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57250" y="4591050"/>
            <a:ext cx="2000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76D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76DD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自动配置的价值</a:t>
            </a:r>
            <a:endParaRPr sz="1350" b="1">
              <a:solidFill>
                <a:srgbClr val="76DD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2857500" y="4552950"/>
            <a:ext cx="8267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根据数据集特征自适应规划预处理、网络与训练策略，降低不同医学任务之间的手工调参成本。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525000" y="6543675"/>
            <a:ext cx="205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0">
                <a:solidFill>
                  <a:srgbClr val="7792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792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*** · ***</a:t>
            </a:r>
            <a:endParaRPr sz="825" b="0">
              <a:solidFill>
                <a:srgbClr val="7792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285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MITK · AI SEGMENTATION</a:t>
            </a:r>
            <a:endParaRPr sz="1050" b="1">
              <a:solidFill>
                <a:srgbClr val="16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5524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6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源码复现验证了训练产物能够进入推理链路</a:t>
            </a:r>
            <a:endParaRPr sz="360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00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200" b="1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209675"/>
            <a:ext cx="10972800" cy="19050"/>
          </a:xfrm>
          <a:prstGeom prst="rect">
            <a:avLst/>
          </a:prstGeom>
          <a:solidFill>
            <a:srgbClr val="C9DCE6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52450" y="1524000"/>
            <a:ext cx="5067300" cy="31432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rcRect l="6346" r="6346"/>
          <a:stretch>
            <a:fillRect/>
          </a:stretch>
        </p:blipFill>
        <p:spPr>
          <a:xfrm>
            <a:off x="609600" y="1581150"/>
            <a:ext cx="4953000" cy="3028950"/>
          </a:xfrm>
          <a:prstGeom prst="roundRect">
            <a:avLst>
              <a:gd name="adj" fmla="val 4403"/>
            </a:avLst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5772150" y="1524000"/>
            <a:ext cx="5867400" cy="31432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rcRect t="5712" b="5712"/>
          <a:stretch>
            <a:fillRect/>
          </a:stretch>
        </p:blipFill>
        <p:spPr>
          <a:xfrm>
            <a:off x="5829300" y="1581150"/>
            <a:ext cx="5753100" cy="3028950"/>
          </a:xfrm>
          <a:prstGeom prst="roundRect">
            <a:avLst>
              <a:gd name="adj" fmla="val 4403"/>
            </a:avLst>
          </a:prstGeom>
        </p:spPr>
      </p:pic>
      <p:sp>
        <p:nvSpPr>
          <p:cNvPr id="9" name="右箭头 8"/>
          <p:cNvSpPr>
            <a:spLocks noGrp="1"/>
          </p:cNvSpPr>
          <p:nvPr/>
        </p:nvSpPr>
        <p:spPr>
          <a:xfrm>
            <a:off x="1943100" y="5314950"/>
            <a:ext cx="304800" cy="209550"/>
          </a:xfrm>
          <a:prstGeom prst="rightArrow">
            <a:avLst/>
          </a:prstGeom>
          <a:solidFill>
            <a:srgbClr val="168DFF"/>
          </a:solidFill>
          <a:ln w="0">
            <a:solidFill>
              <a:srgbClr val="168DFF"/>
            </a:solidFill>
            <a:prstDash val="solid"/>
          </a:ln>
        </p:spPr>
      </p:sp>
      <p:sp>
        <p:nvSpPr>
          <p:cNvPr id="10" name="右箭头 9"/>
          <p:cNvSpPr>
            <a:spLocks noGrp="1"/>
          </p:cNvSpPr>
          <p:nvPr/>
        </p:nvSpPr>
        <p:spPr>
          <a:xfrm>
            <a:off x="3762375" y="5314950"/>
            <a:ext cx="304800" cy="209550"/>
          </a:xfrm>
          <a:prstGeom prst="rightArrow">
            <a:avLst/>
          </a:prstGeom>
          <a:solidFill>
            <a:srgbClr val="168DFF"/>
          </a:solidFill>
          <a:ln w="0">
            <a:solidFill>
              <a:srgbClr val="168DFF"/>
            </a:solidFill>
            <a:prstDash val="solid"/>
          </a:ln>
        </p:spPr>
      </p:sp>
      <p:sp>
        <p:nvSpPr>
          <p:cNvPr id="11" name="右箭头 10"/>
          <p:cNvSpPr>
            <a:spLocks noGrp="1"/>
          </p:cNvSpPr>
          <p:nvPr/>
        </p:nvSpPr>
        <p:spPr>
          <a:xfrm>
            <a:off x="5581650" y="5314950"/>
            <a:ext cx="304800" cy="209550"/>
          </a:xfrm>
          <a:prstGeom prst="rightArrow">
            <a:avLst/>
          </a:prstGeom>
          <a:solidFill>
            <a:srgbClr val="168DFF"/>
          </a:solidFill>
          <a:ln w="0">
            <a:solidFill>
              <a:srgbClr val="168DFF"/>
            </a:solidFill>
            <a:prstDash val="solid"/>
          </a:ln>
        </p:spPr>
      </p:sp>
      <p:sp>
        <p:nvSpPr>
          <p:cNvPr id="12" name="右箭头 11"/>
          <p:cNvSpPr>
            <a:spLocks noGrp="1"/>
          </p:cNvSpPr>
          <p:nvPr/>
        </p:nvSpPr>
        <p:spPr>
          <a:xfrm>
            <a:off x="7400925" y="5314950"/>
            <a:ext cx="304800" cy="209550"/>
          </a:xfrm>
          <a:prstGeom prst="rightArrow">
            <a:avLst/>
          </a:prstGeom>
          <a:solidFill>
            <a:srgbClr val="168DFF"/>
          </a:solidFill>
          <a:ln w="0">
            <a:solidFill>
              <a:srgbClr val="168DFF"/>
            </a:solidFill>
            <a:prstDash val="solid"/>
          </a:ln>
        </p:spPr>
      </p:sp>
      <p:sp>
        <p:nvSpPr>
          <p:cNvPr id="13" name="右箭头 12"/>
          <p:cNvSpPr>
            <a:spLocks noGrp="1"/>
          </p:cNvSpPr>
          <p:nvPr/>
        </p:nvSpPr>
        <p:spPr>
          <a:xfrm>
            <a:off x="9220200" y="5314950"/>
            <a:ext cx="304800" cy="209550"/>
          </a:xfrm>
          <a:prstGeom prst="rightArrow">
            <a:avLst/>
          </a:prstGeom>
          <a:solidFill>
            <a:srgbClr val="168DFF"/>
          </a:solidFill>
          <a:ln w="0">
            <a:solidFill>
              <a:srgbClr val="168DFF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609600" y="5048250"/>
            <a:ext cx="1333500" cy="609600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23900" y="5124450"/>
            <a:ext cx="1104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Dataset</a:t>
            </a:r>
            <a:endParaRPr sz="1575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2428875" y="5048250"/>
            <a:ext cx="1333500" cy="609600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543175" y="5124450"/>
            <a:ext cx="1104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预处理</a:t>
            </a:r>
            <a:endParaRPr sz="1575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4248150" y="5048250"/>
            <a:ext cx="1333500" cy="609600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362450" y="5124450"/>
            <a:ext cx="1104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网络规划</a:t>
            </a:r>
            <a:endParaRPr sz="1575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067425" y="5048250"/>
            <a:ext cx="1333500" cy="609600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181725" y="5124450"/>
            <a:ext cx="1104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endParaRPr sz="1575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783195" y="5048250"/>
            <a:ext cx="1437005" cy="609600"/>
          </a:xfrm>
          <a:prstGeom prst="roundRect">
            <a:avLst>
              <a:gd name="adj" fmla="val 21875"/>
            </a:avLst>
          </a:prstGeom>
          <a:solidFill>
            <a:srgbClr val="071B33"/>
          </a:solidFill>
          <a:ln w="9525">
            <a:solidFill>
              <a:srgbClr val="071B33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824470" y="5124450"/>
            <a:ext cx="128143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checkpoint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9705975" y="5048250"/>
            <a:ext cx="1333500" cy="609600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820275" y="5124450"/>
            <a:ext cx="1104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</a:t>
            </a:r>
            <a:endParaRPr sz="1575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9600" y="5953125"/>
            <a:ext cx="10972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168D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75" b="1">
                <a:solidFill>
                  <a:srgbClr val="168D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关键产物：checkpoint_final.pth  ·  plans.json  ·  dataset.json</a:t>
            </a:r>
            <a:endParaRPr sz="1575" b="1">
              <a:solidFill>
                <a:srgbClr val="168D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525000" y="6543675"/>
            <a:ext cx="205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0">
                <a:solidFill>
                  <a:srgbClr val="789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89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*** · ***</a:t>
            </a:r>
            <a:endParaRPr sz="825" b="0">
              <a:solidFill>
                <a:srgbClr val="7890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285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MITK · AI SEGMENTATION</a:t>
            </a:r>
            <a:endParaRPr sz="1050" b="1">
              <a:solidFill>
                <a:srgbClr val="16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5524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6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predict.py把模型能力封装成稳定接口</a:t>
            </a:r>
            <a:endParaRPr sz="360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00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00" b="1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209675"/>
            <a:ext cx="10972800" cy="19050"/>
          </a:xfrm>
          <a:prstGeom prst="rect">
            <a:avLst/>
          </a:prstGeom>
          <a:solidFill>
            <a:srgbClr val="C9DCE6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52450" y="1504950"/>
            <a:ext cx="6305550" cy="415290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rcRect t="10419" b="10419"/>
          <a:stretch>
            <a:fillRect/>
          </a:stretch>
        </p:blipFill>
        <p:spPr>
          <a:xfrm>
            <a:off x="609600" y="1562100"/>
            <a:ext cx="6191250" cy="4038600"/>
          </a:xfrm>
          <a:prstGeom prst="roundRect">
            <a:avLst>
              <a:gd name="adj" fmla="val 3302"/>
            </a:avLst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7277100" y="15811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接口职责</a:t>
            </a:r>
            <a:endParaRPr sz="1650" b="1">
              <a:solidFill>
                <a:srgbClr val="16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77100" y="201930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125" b="1">
              <a:solidFill>
                <a:srgbClr val="19C7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753350" y="19812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设置运行环境</a:t>
            </a:r>
            <a:endParaRPr sz="165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77100" y="2381250"/>
            <a:ext cx="3714750" cy="9525"/>
          </a:xfrm>
          <a:prstGeom prst="rect">
            <a:avLst/>
          </a:prstGeom>
          <a:solidFill>
            <a:srgbClr val="C9DCE6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277100" y="260985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25" b="1">
              <a:solidFill>
                <a:srgbClr val="19C7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753350" y="25717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接收CT影像路径</a:t>
            </a:r>
            <a:endParaRPr sz="165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277100" y="2971800"/>
            <a:ext cx="3714750" cy="9525"/>
          </a:xfrm>
          <a:prstGeom prst="rect">
            <a:avLst/>
          </a:prstGeom>
          <a:solidFill>
            <a:srgbClr val="C9DCE6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277100" y="320040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25" b="1">
              <a:solidFill>
                <a:srgbClr val="19C7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753350" y="31623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调用TotalSegmentator</a:t>
            </a:r>
            <a:endParaRPr sz="165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277100" y="3562350"/>
            <a:ext cx="3714750" cy="9525"/>
          </a:xfrm>
          <a:prstGeom prst="rect">
            <a:avLst/>
          </a:prstGeom>
          <a:solidFill>
            <a:srgbClr val="C9DCE6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277100" y="379095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125" b="1">
              <a:solidFill>
                <a:srgbClr val="19C7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753350" y="37528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输出NIfTI结果</a:t>
            </a:r>
            <a:endParaRPr sz="165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277100" y="4152900"/>
            <a:ext cx="3714750" cy="9525"/>
          </a:xfrm>
          <a:prstGeom prst="rect">
            <a:avLst/>
          </a:prstGeom>
          <a:solidFill>
            <a:srgbClr val="C9DCE6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277100" y="438150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9C7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125" b="1">
              <a:solidFill>
                <a:srgbClr val="19C7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753350" y="43434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记录推理时间</a:t>
            </a:r>
            <a:endParaRPr sz="165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277100" y="4743450"/>
            <a:ext cx="3714750" cy="9525"/>
          </a:xfrm>
          <a:prstGeom prst="rect">
            <a:avLst/>
          </a:prstGeom>
          <a:solidFill>
            <a:srgbClr val="C9DCE6"/>
          </a:solidFill>
          <a:ln w="0">
            <a:noFill/>
            <a:prstDash val="solid"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7277100" y="5124450"/>
            <a:ext cx="3714750" cy="666750"/>
          </a:xfrm>
          <a:prstGeom prst="roundRect">
            <a:avLst>
              <a:gd name="adj" fmla="val 17143"/>
            </a:avLst>
          </a:prstGeom>
          <a:solidFill>
            <a:srgbClr val="071B33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448550" y="5219700"/>
            <a:ext cx="3371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CT → predict.py → TotalSegmentator → nnUNet → Mask</a:t>
            </a:r>
            <a:endParaRPr sz="1275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525000" y="6543675"/>
            <a:ext cx="205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0">
                <a:solidFill>
                  <a:srgbClr val="789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89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*** · ***</a:t>
            </a:r>
            <a:endParaRPr sz="825" b="0">
              <a:solidFill>
                <a:srgbClr val="7890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285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7BDC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7BDC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MITK · AI SEGMENTATION</a:t>
            </a:r>
            <a:endParaRPr sz="1050" b="1">
              <a:solidFill>
                <a:srgbClr val="7BDCE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5524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AI输出可在MITK中直接叠加核验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00" b="1">
                <a:solidFill>
                  <a:srgbClr val="7F9B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7F9B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200" b="1">
              <a:solidFill>
                <a:srgbClr val="7F9B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209675"/>
            <a:ext cx="10972800" cy="19050"/>
          </a:xfrm>
          <a:prstGeom prst="rect">
            <a:avLst/>
          </a:prstGeom>
          <a:solidFill>
            <a:srgbClr val="214362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52450" y="1524000"/>
            <a:ext cx="5334000" cy="40005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 l="870" r="870"/>
          <a:stretch>
            <a:fillRect/>
          </a:stretch>
        </p:blipFill>
        <p:spPr>
          <a:xfrm>
            <a:off x="609600" y="1581150"/>
            <a:ext cx="5219700" cy="3886200"/>
          </a:xfrm>
          <a:prstGeom prst="roundRect">
            <a:avLst>
              <a:gd name="adj" fmla="val 3922"/>
            </a:avLst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6305550" y="1524000"/>
            <a:ext cx="5334000" cy="40005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6362700" y="1581150"/>
            <a:ext cx="5219700" cy="3886200"/>
          </a:xfrm>
          <a:prstGeom prst="roundRect">
            <a:avLst>
              <a:gd name="adj" fmla="val 3922"/>
            </a:avLst>
          </a:prstGeom>
        </p:spPr>
      </p:pic>
      <p:sp>
        <p:nvSpPr>
          <p:cNvPr id="9" name="圆角矩形 8"/>
          <p:cNvSpPr>
            <a:spLocks noGrp="1"/>
          </p:cNvSpPr>
          <p:nvPr/>
        </p:nvSpPr>
        <p:spPr>
          <a:xfrm>
            <a:off x="1809750" y="5734050"/>
            <a:ext cx="2762250" cy="342900"/>
          </a:xfrm>
          <a:prstGeom prst="roundRect">
            <a:avLst>
              <a:gd name="adj" fmla="val 50000"/>
            </a:avLst>
          </a:prstGeom>
          <a:solidFill>
            <a:srgbClr val="123C61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885950" y="5734050"/>
            <a:ext cx="2609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原始NIfTI影像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562850" y="5734050"/>
            <a:ext cx="2762250" cy="342900"/>
          </a:xfrm>
          <a:prstGeom prst="roundRect">
            <a:avLst>
              <a:gd name="adj" fmla="val 50000"/>
            </a:avLst>
          </a:prstGeom>
          <a:solidFill>
            <a:srgbClr val="176D81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639050" y="5734050"/>
            <a:ext cx="2609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AI分割结果：肝脏Mask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525000" y="6543675"/>
            <a:ext cx="205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0">
                <a:solidFill>
                  <a:srgbClr val="7792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792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*** · ***</a:t>
            </a:r>
            <a:endParaRPr sz="825" b="0">
              <a:solidFill>
                <a:srgbClr val="7792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285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6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MITK · AI SEGMENTATION</a:t>
            </a:r>
            <a:endParaRPr sz="1050" b="1">
              <a:solidFill>
                <a:srgbClr val="16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5524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6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Mask进一步转化为面积与体积指标</a:t>
            </a:r>
            <a:endParaRPr sz="360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00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200" b="1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209675"/>
            <a:ext cx="10972800" cy="19050"/>
          </a:xfrm>
          <a:prstGeom prst="rect">
            <a:avLst/>
          </a:prstGeom>
          <a:solidFill>
            <a:srgbClr val="C9DCE6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52450" y="1524000"/>
            <a:ext cx="5334000" cy="3295650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861938"/>
            <a:ext cx="5219700" cy="2619773"/>
          </a:xfrm>
          <a:prstGeom prst="roundRect">
            <a:avLst>
              <a:gd name="adj" fmla="val 4790"/>
            </a:avLst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6305550" y="1524000"/>
            <a:ext cx="5334000" cy="3295650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C9DCE6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700" y="1865259"/>
            <a:ext cx="5219700" cy="2613133"/>
          </a:xfrm>
          <a:prstGeom prst="roundRect">
            <a:avLst>
              <a:gd name="adj" fmla="val 4790"/>
            </a:avLst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609600" y="5010150"/>
            <a:ext cx="5219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横截面积变化</a:t>
            </a:r>
            <a:endParaRPr sz="180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5391150"/>
            <a:ext cx="4724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425" b="0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反映肝脏在不同切片中的分布范围与最大截面位置</a:t>
            </a:r>
            <a:endParaRPr sz="1425" b="0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362700" y="5010150"/>
            <a:ext cx="5219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7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体积累积变化</a:t>
            </a:r>
            <a:endParaRPr sz="1800" b="1">
              <a:solidFill>
                <a:srgbClr val="07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10350" y="5391150"/>
            <a:ext cx="4724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425" b="0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F74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由Mask体素数与空间分辨率计算，曲线平台对应总体积</a:t>
            </a:r>
            <a:endParaRPr sz="1425" b="0">
              <a:solidFill>
                <a:srgbClr val="5F74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867400" y="1581150"/>
            <a:ext cx="19050" cy="4248150"/>
          </a:xfrm>
          <a:prstGeom prst="rect">
            <a:avLst/>
          </a:prstGeom>
          <a:solidFill>
            <a:srgbClr val="C9DCE6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525000" y="6543675"/>
            <a:ext cx="205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0">
                <a:solidFill>
                  <a:srgbClr val="789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89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*** · ***</a:t>
            </a:r>
            <a:endParaRPr sz="825" b="0">
              <a:solidFill>
                <a:srgbClr val="7890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285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7BDC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7BDC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MITK · AI SEGMENTATION</a:t>
            </a:r>
            <a:endParaRPr sz="1050" b="1">
              <a:solidFill>
                <a:srgbClr val="7BDCE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5524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系统已形成完整闭环，下一步走向三维与智能分析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00" b="1">
                <a:solidFill>
                  <a:srgbClr val="7F9B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7F9B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200" b="1">
              <a:solidFill>
                <a:srgbClr val="7F9B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209675"/>
            <a:ext cx="10972800" cy="19050"/>
          </a:xfrm>
          <a:prstGeom prst="rect">
            <a:avLst/>
          </a:prstGeom>
          <a:solidFill>
            <a:srgbClr val="214362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5621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79E0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79E0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1875" b="1">
              <a:solidFill>
                <a:srgbClr val="79E0E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2038350"/>
            <a:ext cx="4686300" cy="203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800">
                <a:solidFill>
                  <a:srgbClr val="B8CD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B8CD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MITK平台</a:t>
            </a:r>
            <a:r>
              <a:rPr sz="1800">
                <a:solidFill>
                  <a:srgbClr val="B8CD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与插件架构设计</a:t>
            </a:r>
            <a:endParaRPr sz="1800">
              <a:solidFill>
                <a:srgbClr val="B8CDD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>
                <a:solidFill>
                  <a:srgbClr val="B8CD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B8CD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TotalSegmentator</a:t>
            </a:r>
            <a:r>
              <a:rPr sz="1800">
                <a:solidFill>
                  <a:srgbClr val="B8CD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源码流程分析</a:t>
            </a:r>
            <a:endParaRPr sz="1800">
              <a:solidFill>
                <a:srgbClr val="B8CDD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>
                <a:solidFill>
                  <a:srgbClr val="B8CD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B8CD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nnUNet</a:t>
            </a:r>
            <a:r>
              <a:rPr sz="1800">
                <a:solidFill>
                  <a:srgbClr val="B8CD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训练与推理链路复现</a:t>
            </a:r>
            <a:endParaRPr sz="1800">
              <a:solidFill>
                <a:srgbClr val="B8CDD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>
                <a:solidFill>
                  <a:srgbClr val="B8CD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B8CD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NIfTI Mask</a:t>
            </a:r>
            <a:r>
              <a:rPr sz="1800">
                <a:solidFill>
                  <a:srgbClr val="B8CD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显示与定量分析</a:t>
            </a:r>
            <a:endParaRPr sz="1800">
              <a:solidFill>
                <a:srgbClr val="B8CDD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4410075"/>
            <a:ext cx="4686300" cy="19050"/>
          </a:xfrm>
          <a:prstGeom prst="rect">
            <a:avLst/>
          </a:prstGeom>
          <a:solidFill>
            <a:srgbClr val="31516D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4648200"/>
            <a:ext cx="468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输入影像 → AI分割 → 结果显示 → 定量分析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10300" y="15621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79E0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79E0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后续方向</a:t>
            </a:r>
            <a:endParaRPr sz="1875" b="1">
              <a:solidFill>
                <a:srgbClr val="79E0E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10300" y="20383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6DDD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6DDD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125" b="1">
              <a:solidFill>
                <a:srgbClr val="6DDD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0" y="2000250"/>
            <a:ext cx="2381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三维可视化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0" y="238125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EC5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EC5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器官重建、表面模型、多器官配色</a:t>
            </a:r>
            <a:endParaRPr sz="1350" b="0">
              <a:solidFill>
                <a:srgbClr val="AEC5D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210300" y="2876550"/>
            <a:ext cx="4876800" cy="9525"/>
          </a:xfrm>
          <a:prstGeom prst="rect">
            <a:avLst/>
          </a:prstGeom>
          <a:solidFill>
            <a:srgbClr val="284A68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210300" y="3143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6DDD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6DDD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25" b="1">
              <a:solidFill>
                <a:srgbClr val="6DDD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0" y="3105150"/>
            <a:ext cx="2381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模型优化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0" y="348615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EC5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EC5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微调、小样本迁移、特定疾病训练</a:t>
            </a:r>
            <a:endParaRPr sz="1350" b="0">
              <a:solidFill>
                <a:srgbClr val="AEC5D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10300" y="3981450"/>
            <a:ext cx="4876800" cy="9525"/>
          </a:xfrm>
          <a:prstGeom prst="rect">
            <a:avLst/>
          </a:prstGeom>
          <a:solidFill>
            <a:srgbClr val="284A68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210300" y="42481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6DDD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6DDD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25" b="1">
              <a:solidFill>
                <a:srgbClr val="6DDDE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858000" y="4210050"/>
            <a:ext cx="2381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智能分析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58000" y="459105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AEC5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EC5D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自动统计、病灶分析、报告生成</a:t>
            </a:r>
            <a:endParaRPr sz="1350" b="0">
              <a:solidFill>
                <a:srgbClr val="AEC5D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10300" y="5086350"/>
            <a:ext cx="4876800" cy="9525"/>
          </a:xfrm>
          <a:prstGeom prst="rect">
            <a:avLst/>
          </a:prstGeom>
          <a:solidFill>
            <a:srgbClr val="284A68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09600" y="5715000"/>
            <a:ext cx="10477500" cy="9525"/>
          </a:xfrm>
          <a:prstGeom prst="rect">
            <a:avLst/>
          </a:prstGeom>
          <a:solidFill>
            <a:srgbClr val="31516D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09600" y="59055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结论：插件化架构为医学影像AI能力持续迭代提供了可扩展基础。</a:t>
            </a:r>
            <a:endParaRPr sz="20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525000" y="6543675"/>
            <a:ext cx="205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0">
                <a:solidFill>
                  <a:srgbClr val="7792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792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*** · ***</a:t>
            </a:r>
            <a:endParaRPr sz="825" b="0">
              <a:solidFill>
                <a:srgbClr val="7792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2462</Words>
  <Application>WPS 演示</Application>
  <PresentationFormat>Converted Presentation</PresentationFormat>
  <Paragraphs>445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Consolas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***</cp:lastModifiedBy>
  <cp:revision>4</cp:revision>
  <dcterms:created xsi:type="dcterms:W3CDTF">2026-07-20T18:11:55Z</dcterms:created>
  <dcterms:modified xsi:type="dcterms:W3CDTF">2026-07-20T18:44:12Z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3A69B7F9FE11438BA7DBE41B54C491BF_12</vt:lpwstr>
  </property>
</Properties>
</file>